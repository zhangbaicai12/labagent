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3" r:id="rId5"/>
    <p:sldMasterId id="2147483665" r:id="rId6"/>
    <p:sldMasterId id="2147483678" r:id="rId7"/>
  </p:sldMasterIdLst>
  <p:notesMasterIdLst>
    <p:notesMasterId r:id="rId27"/>
  </p:notesMasterIdLst>
  <p:sldIdLst>
    <p:sldId id="307" r:id="rId8"/>
    <p:sldId id="369" r:id="rId9"/>
    <p:sldId id="366" r:id="rId10"/>
    <p:sldId id="367" r:id="rId11"/>
    <p:sldId id="357" r:id="rId12"/>
    <p:sldId id="353" r:id="rId13"/>
    <p:sldId id="376" r:id="rId14"/>
    <p:sldId id="371" r:id="rId15"/>
    <p:sldId id="377" r:id="rId16"/>
    <p:sldId id="378" r:id="rId17"/>
    <p:sldId id="379" r:id="rId18"/>
    <p:sldId id="372" r:id="rId19"/>
    <p:sldId id="373" r:id="rId20"/>
    <p:sldId id="374" r:id="rId21"/>
    <p:sldId id="375" r:id="rId22"/>
    <p:sldId id="382" r:id="rId23"/>
    <p:sldId id="323" r:id="rId24"/>
    <p:sldId id="256" r:id="rId25"/>
    <p:sldId id="309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1C2B6D2-8EC2-4B3E-9321-CE213AB7681F}">
          <p14:sldIdLst>
            <p14:sldId id="307"/>
          </p14:sldIdLst>
        </p14:section>
        <p14:section name="REL" id="{F5475B81-FC73-43D7-9212-61F79263B731}">
          <p14:sldIdLst>
            <p14:sldId id="369"/>
            <p14:sldId id="366"/>
            <p14:sldId id="367"/>
            <p14:sldId id="357"/>
          </p14:sldIdLst>
        </p14:section>
        <p14:section name="Report" id="{CF0BC74E-F22E-4A7F-9DBD-11696B9B18BD}">
          <p14:sldIdLst>
            <p14:sldId id="353"/>
            <p14:sldId id="376"/>
          </p14:sldIdLst>
        </p14:section>
        <p14:section name="Test Center" id="{967CDE2E-B1F9-47D1-8F37-2F1697E5F077}">
          <p14:sldIdLst>
            <p14:sldId id="371"/>
          </p14:sldIdLst>
        </p14:section>
        <p14:section name="Miniline" id="{DE5A76A2-A88F-4D9A-8404-A81DCD40852B}">
          <p14:sldIdLst>
            <p14:sldId id="377"/>
            <p14:sldId id="378"/>
            <p14:sldId id="379"/>
          </p14:sldIdLst>
        </p14:section>
        <p14:section name="Cosmetic" id="{68B7D18E-6753-48C4-86E0-23F83354C09D}">
          <p14:sldIdLst>
            <p14:sldId id="372"/>
            <p14:sldId id="373"/>
            <p14:sldId id="374"/>
            <p14:sldId id="375"/>
          </p14:sldIdLst>
        </p14:section>
        <p14:section name="FA" id="{3E651697-B28B-4E53-8770-DB9D0F3ED7FE}">
          <p14:sldIdLst>
            <p14:sldId id="382"/>
            <p14:sldId id="323"/>
          </p14:sldIdLst>
        </p14:section>
        <p14:section name="CT" id="{1279035C-DB29-42C8-B9D9-53ED268ADE80}">
          <p14:sldIdLst>
            <p14:sldId id="256"/>
          </p14:sldIdLst>
        </p14:section>
        <p14:section name="未命名的章節" id="{5D5CF99E-6975-4B0E-B379-091ECBA5DC70}">
          <p14:sldIdLst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3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5A2781"/>
    <a:srgbClr val="2E75B6"/>
    <a:srgbClr val="2F5597"/>
    <a:srgbClr val="5ACCF5"/>
    <a:srgbClr val="FFC001"/>
    <a:srgbClr val="0000FF"/>
    <a:srgbClr val="0054A6"/>
    <a:srgbClr val="BFCEC4"/>
    <a:srgbClr val="63C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 autoAdjust="0"/>
    <p:restoredTop sz="96318" autoAdjust="0"/>
  </p:normalViewPr>
  <p:slideViewPr>
    <p:cSldViewPr snapToGrid="0">
      <p:cViewPr varScale="1">
        <p:scale>
          <a:sx n="113" d="100"/>
          <a:sy n="113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3A79B-0A3D-428A-81CD-8869DF14F7B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23F9E-83FC-43B2-BC19-3BD02991C0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55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針對機台做過了所有的測試後的狀態去做紀錄</a:t>
            </a:r>
            <a:endParaRPr lang="en-US" altLang="zh-TW" dirty="0"/>
          </a:p>
          <a:p>
            <a:r>
              <a:rPr lang="zh-TW" altLang="en-US" dirty="0"/>
              <a:t>單一個</a:t>
            </a:r>
            <a:r>
              <a:rPr lang="en-US" altLang="zh-TW" dirty="0"/>
              <a:t>Test</a:t>
            </a:r>
            <a:r>
              <a:rPr lang="zh-TW" altLang="en-US" dirty="0"/>
              <a:t>都會有一個</a:t>
            </a:r>
            <a:r>
              <a:rPr lang="en-US" altLang="zh-TW" dirty="0"/>
              <a:t>TF</a:t>
            </a:r>
            <a:r>
              <a:rPr lang="zh-TW" altLang="en-US" dirty="0"/>
              <a:t> 但整個</a:t>
            </a:r>
            <a:r>
              <a:rPr lang="en-US" altLang="zh-TW" dirty="0"/>
              <a:t>WF</a:t>
            </a:r>
            <a:r>
              <a:rPr lang="zh-TW" altLang="en-US" dirty="0"/>
              <a:t>也會有一個</a:t>
            </a:r>
            <a:r>
              <a:rPr lang="en-US" altLang="zh-TW" dirty="0"/>
              <a:t>overall TF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825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測試前</a:t>
            </a:r>
            <a:r>
              <a:rPr lang="en-US" altLang="zh-TW" dirty="0"/>
              <a:t>:</a:t>
            </a:r>
            <a:r>
              <a:rPr lang="zh-TW" altLang="en-US" dirty="0"/>
              <a:t> 對機台</a:t>
            </a:r>
            <a:r>
              <a:rPr lang="en-US" altLang="zh-TW" dirty="0"/>
              <a:t>(</a:t>
            </a:r>
            <a:r>
              <a:rPr lang="zh-TW" altLang="en-US" dirty="0"/>
              <a:t>產品</a:t>
            </a:r>
            <a:r>
              <a:rPr lang="en-US" altLang="zh-TW" dirty="0"/>
              <a:t>)</a:t>
            </a:r>
            <a:r>
              <a:rPr lang="zh-TW" altLang="en-US" dirty="0"/>
              <a:t>做紀錄</a:t>
            </a:r>
            <a:endParaRPr lang="en-US" altLang="zh-TW" dirty="0"/>
          </a:p>
          <a:p>
            <a:r>
              <a:rPr lang="zh-TW" altLang="en-US" dirty="0"/>
              <a:t>幫機台做健檢</a:t>
            </a:r>
            <a:r>
              <a:rPr lang="en-US" altLang="zh-TW" dirty="0"/>
              <a:t>/</a:t>
            </a:r>
            <a:r>
              <a:rPr lang="zh-TW" altLang="en-US" dirty="0"/>
              <a:t>在測試前紀錄機台的狀態</a:t>
            </a:r>
            <a:endParaRPr lang="en-US" altLang="zh-TW" dirty="0"/>
          </a:p>
          <a:p>
            <a:r>
              <a:rPr lang="en-US" altLang="zh-TW" dirty="0"/>
              <a:t>Inspection + Photo=cosmetic</a:t>
            </a:r>
          </a:p>
          <a:p>
            <a:r>
              <a:rPr lang="en-US" altLang="zh-TW" dirty="0"/>
              <a:t>Waterfall (WF) allocation =T0&gt;&gt;&gt;Report team</a:t>
            </a:r>
            <a:r>
              <a:rPr lang="zh-TW" altLang="en-US" dirty="0"/>
              <a:t>分完後我們確認，再讓客戶做確認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321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測試中</a:t>
            </a:r>
            <a:r>
              <a:rPr lang="en-US" altLang="zh-TW" dirty="0"/>
              <a:t>: </a:t>
            </a:r>
            <a:r>
              <a:rPr lang="zh-TW" altLang="en-US" dirty="0"/>
              <a:t>對整機做紀錄</a:t>
            </a:r>
            <a:r>
              <a:rPr lang="en-US" altLang="zh-TW" dirty="0"/>
              <a:t>(</a:t>
            </a:r>
            <a:r>
              <a:rPr lang="zh-TW" altLang="en-US" dirty="0"/>
              <a:t>初始重量</a:t>
            </a:r>
            <a:r>
              <a:rPr lang="en-US" altLang="zh-TW" dirty="0"/>
              <a:t>/</a:t>
            </a:r>
            <a:r>
              <a:rPr lang="zh-TW" altLang="en-US" dirty="0"/>
              <a:t>外觀</a:t>
            </a:r>
            <a:r>
              <a:rPr lang="en-US" altLang="zh-TW" dirty="0"/>
              <a:t>/</a:t>
            </a:r>
            <a:r>
              <a:rPr lang="zh-TW" altLang="en-US" dirty="0"/>
              <a:t>按鈕功能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043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835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706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426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Test center </a:t>
            </a:r>
            <a:r>
              <a:rPr lang="zh-TW" altLang="en-US" dirty="0"/>
              <a:t>與</a:t>
            </a:r>
            <a:r>
              <a:rPr lang="en-US" altLang="zh-TW" dirty="0"/>
              <a:t>FA</a:t>
            </a:r>
            <a:r>
              <a:rPr lang="zh-TW" altLang="en-US" dirty="0"/>
              <a:t>的防漏機制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FA</a:t>
            </a:r>
            <a:r>
              <a:rPr lang="zh-TW" altLang="en-US" dirty="0"/>
              <a:t>在第二天早上會發出前一天</a:t>
            </a:r>
            <a:r>
              <a:rPr lang="en-US" altLang="zh-TW" dirty="0"/>
              <a:t>disposition</a:t>
            </a:r>
            <a:r>
              <a:rPr lang="zh-TW" altLang="en-US" dirty="0"/>
              <a:t>的機台</a:t>
            </a:r>
            <a:r>
              <a:rPr lang="en-US" altLang="zh-TW" dirty="0"/>
              <a:t>list</a:t>
            </a:r>
            <a:r>
              <a:rPr lang="zh-TW" altLang="en-US" dirty="0"/>
              <a:t>讓</a:t>
            </a:r>
            <a:r>
              <a:rPr lang="en-US" altLang="zh-TW" dirty="0"/>
              <a:t>test center</a:t>
            </a:r>
            <a:r>
              <a:rPr lang="zh-TW" altLang="en-US" dirty="0"/>
              <a:t>確認，確認後</a:t>
            </a:r>
            <a:r>
              <a:rPr lang="en-US" altLang="zh-TW" dirty="0"/>
              <a:t>test center</a:t>
            </a:r>
            <a:r>
              <a:rPr lang="zh-TW" altLang="en-US" dirty="0"/>
              <a:t>會回信確認有確實接收到機台信息並投產。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477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922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081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詢問是紀錄什麼重複項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25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012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599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155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確認一下總投產</a:t>
            </a:r>
            <a:r>
              <a:rPr lang="en-US" altLang="zh-TW" dirty="0"/>
              <a:t>list</a:t>
            </a:r>
            <a:r>
              <a:rPr lang="zh-TW" altLang="en-US" dirty="0"/>
              <a:t>會在一天當中的什麼時候發送給</a:t>
            </a:r>
            <a:r>
              <a:rPr lang="en-US" altLang="zh-TW" dirty="0"/>
              <a:t>test center : </a:t>
            </a:r>
            <a:r>
              <a:rPr lang="zh-TW" altLang="en-US" dirty="0"/>
              <a:t>早上發昨天有投產的機台</a:t>
            </a:r>
            <a:r>
              <a:rPr lang="en-US" altLang="zh-TW" dirty="0"/>
              <a:t>list</a:t>
            </a:r>
            <a:r>
              <a:rPr lang="zh-TW" altLang="en-US" dirty="0"/>
              <a:t>讓</a:t>
            </a:r>
            <a:r>
              <a:rPr lang="en-US" altLang="zh-TW" dirty="0"/>
              <a:t>test center </a:t>
            </a:r>
            <a:r>
              <a:rPr lang="zh-TW" altLang="en-US" dirty="0"/>
              <a:t>確認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423F9E-83FC-43B2-BC19-3BD02991C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3965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873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23F9E-83FC-43B2-BC19-3BD02991C08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07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EF09D-68CC-78E2-D0B8-9AA93E9F6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660B7E-67FA-7677-AF42-A3C5B5ADA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27779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>
            <a:extLst>
              <a:ext uri="{FF2B5EF4-FFF2-40B4-BE49-F238E27FC236}">
                <a16:creationId xmlns:a16="http://schemas.microsoft.com/office/drawing/2014/main" id="{DE98DA66-5EE3-2B36-A690-D48E7D0D7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9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角圆角矩形 6">
            <a:extLst>
              <a:ext uri="{FF2B5EF4-FFF2-40B4-BE49-F238E27FC236}">
                <a16:creationId xmlns:a16="http://schemas.microsoft.com/office/drawing/2014/main" id="{2B3C9C3F-22FF-0A97-FB81-783FECEED7C9}"/>
              </a:ext>
            </a:extLst>
          </p:cNvPr>
          <p:cNvSpPr/>
          <p:nvPr userDrawn="1"/>
        </p:nvSpPr>
        <p:spPr>
          <a:xfrm>
            <a:off x="1738376" y="2195631"/>
            <a:ext cx="1762559" cy="42129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CONTENTS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文本框 151">
            <a:extLst>
              <a:ext uri="{FF2B5EF4-FFF2-40B4-BE49-F238E27FC236}">
                <a16:creationId xmlns:a16="http://schemas.microsoft.com/office/drawing/2014/main" id="{970AA337-AA77-8E0E-322A-6EB6F2110F68}"/>
              </a:ext>
            </a:extLst>
          </p:cNvPr>
          <p:cNvSpPr txBox="1"/>
          <p:nvPr userDrawn="1"/>
        </p:nvSpPr>
        <p:spPr>
          <a:xfrm>
            <a:off x="1642464" y="1212040"/>
            <a:ext cx="195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</a:rPr>
              <a:t>目  录</a:t>
            </a:r>
          </a:p>
        </p:txBody>
      </p:sp>
    </p:spTree>
    <p:extLst>
      <p:ext uri="{BB962C8B-B14F-4D97-AF65-F5344CB8AC3E}">
        <p14:creationId xmlns:p14="http://schemas.microsoft.com/office/powerpoint/2010/main" val="237277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71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2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7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73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49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09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69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829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463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759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62B1-AD48-401F-91A2-BD5637474FB3}" type="datetimeFigureOut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85F256-6833-4D38-8F08-CE680E303142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2985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>
            <a:extLst>
              <a:ext uri="{FF2B5EF4-FFF2-40B4-BE49-F238E27FC236}">
                <a16:creationId xmlns:a16="http://schemas.microsoft.com/office/drawing/2014/main" id="{DE98DA66-5EE3-2B36-A690-D48E7D0D7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17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07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68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379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458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064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857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579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9766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395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6819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4DEC0E-85E2-4FE4-828D-A9E807194810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08256A-D7EF-4527-9BC0-F213E25C3E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866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>
            <a:extLst>
              <a:ext uri="{FF2B5EF4-FFF2-40B4-BE49-F238E27FC236}">
                <a16:creationId xmlns:a16="http://schemas.microsoft.com/office/drawing/2014/main" id="{DE98DA66-5EE3-2B36-A690-D48E7D0D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74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图片3">
            <a:extLst>
              <a:ext uri="{FF2B5EF4-FFF2-40B4-BE49-F238E27FC236}">
                <a16:creationId xmlns:a16="http://schemas.microsoft.com/office/drawing/2014/main" id="{5B8FCDE2-5D51-F80C-E49D-C678C9BA98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6FEE67-5F0E-FD88-820E-A87F4B40E5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848" r="50956" b="80865"/>
          <a:stretch/>
        </p:blipFill>
        <p:spPr>
          <a:xfrm>
            <a:off x="9919085" y="272949"/>
            <a:ext cx="2129623" cy="66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9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875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>
            <a:extLst>
              <a:ext uri="{FF2B5EF4-FFF2-40B4-BE49-F238E27FC236}">
                <a16:creationId xmlns:a16="http://schemas.microsoft.com/office/drawing/2014/main" id="{9A63F3BA-33FA-2F0C-6723-AB9AD55C80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1848" r="50956" b="80865"/>
          <a:stretch/>
        </p:blipFill>
        <p:spPr>
          <a:xfrm>
            <a:off x="10754997" y="175070"/>
            <a:ext cx="1387456" cy="430858"/>
          </a:xfrm>
          <a:prstGeom prst="rect">
            <a:avLst/>
          </a:prstGeom>
        </p:spPr>
      </p:pic>
      <p:cxnSp>
        <p:nvCxnSpPr>
          <p:cNvPr id="12" name="直线连接符 19">
            <a:extLst>
              <a:ext uri="{FF2B5EF4-FFF2-40B4-BE49-F238E27FC236}">
                <a16:creationId xmlns:a16="http://schemas.microsoft.com/office/drawing/2014/main" id="{400914D6-9219-9818-B60D-D462EC86E324}"/>
              </a:ext>
            </a:extLst>
          </p:cNvPr>
          <p:cNvCxnSpPr>
            <a:cxnSpLocks/>
          </p:cNvCxnSpPr>
          <p:nvPr userDrawn="1"/>
        </p:nvCxnSpPr>
        <p:spPr>
          <a:xfrm>
            <a:off x="0" y="599866"/>
            <a:ext cx="12192000" cy="0"/>
          </a:xfrm>
          <a:prstGeom prst="line">
            <a:avLst/>
          </a:prstGeom>
          <a:ln w="12700" cmpd="sng">
            <a:gradFill>
              <a:gsLst>
                <a:gs pos="100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4259600-3B48-EB04-9AD0-5807EC3744EA}"/>
              </a:ext>
            </a:extLst>
          </p:cNvPr>
          <p:cNvSpPr/>
          <p:nvPr userDrawn="1"/>
        </p:nvSpPr>
        <p:spPr>
          <a:xfrm>
            <a:off x="450311" y="235244"/>
            <a:ext cx="275773" cy="275773"/>
          </a:xfrm>
          <a:prstGeom prst="ellipse">
            <a:avLst/>
          </a:prstGeom>
          <a:gradFill>
            <a:gsLst>
              <a:gs pos="0">
                <a:srgbClr val="01B0F0">
                  <a:alpha val="0"/>
                </a:srgbClr>
              </a:gs>
              <a:gs pos="100000">
                <a:srgbClr val="01B0F0"/>
              </a:gs>
            </a:gsLst>
            <a:lin ang="0" scaled="0"/>
          </a:gra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4" name="椭圆 10">
            <a:extLst>
              <a:ext uri="{FF2B5EF4-FFF2-40B4-BE49-F238E27FC236}">
                <a16:creationId xmlns:a16="http://schemas.microsoft.com/office/drawing/2014/main" id="{9273DC72-021C-E3E4-9FB9-C8FB93367F6C}"/>
              </a:ext>
            </a:extLst>
          </p:cNvPr>
          <p:cNvSpPr/>
          <p:nvPr userDrawn="1"/>
        </p:nvSpPr>
        <p:spPr>
          <a:xfrm>
            <a:off x="292488" y="235244"/>
            <a:ext cx="275773" cy="275773"/>
          </a:xfrm>
          <a:prstGeom prst="ellipse">
            <a:avLst/>
          </a:prstGeom>
          <a:solidFill>
            <a:srgbClr val="FFC001"/>
          </a:soli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40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>
            <a:extLst>
              <a:ext uri="{FF2B5EF4-FFF2-40B4-BE49-F238E27FC236}">
                <a16:creationId xmlns:a16="http://schemas.microsoft.com/office/drawing/2014/main" id="{9A63F3BA-33FA-2F0C-6723-AB9AD55C805C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1848" r="50956" b="80865"/>
          <a:stretch/>
        </p:blipFill>
        <p:spPr>
          <a:xfrm>
            <a:off x="10754997" y="175070"/>
            <a:ext cx="1387456" cy="430858"/>
          </a:xfrm>
          <a:prstGeom prst="rect">
            <a:avLst/>
          </a:prstGeom>
        </p:spPr>
      </p:pic>
      <p:cxnSp>
        <p:nvCxnSpPr>
          <p:cNvPr id="12" name="直线连接符 19">
            <a:extLst>
              <a:ext uri="{FF2B5EF4-FFF2-40B4-BE49-F238E27FC236}">
                <a16:creationId xmlns:a16="http://schemas.microsoft.com/office/drawing/2014/main" id="{400914D6-9219-9818-B60D-D462EC86E324}"/>
              </a:ext>
            </a:extLst>
          </p:cNvPr>
          <p:cNvCxnSpPr>
            <a:cxnSpLocks/>
          </p:cNvCxnSpPr>
          <p:nvPr/>
        </p:nvCxnSpPr>
        <p:spPr>
          <a:xfrm>
            <a:off x="0" y="599866"/>
            <a:ext cx="12192000" cy="0"/>
          </a:xfrm>
          <a:prstGeom prst="line">
            <a:avLst/>
          </a:prstGeom>
          <a:ln w="12700" cmpd="sng">
            <a:gradFill>
              <a:gsLst>
                <a:gs pos="100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4259600-3B48-EB04-9AD0-5807EC3744EA}"/>
              </a:ext>
            </a:extLst>
          </p:cNvPr>
          <p:cNvSpPr/>
          <p:nvPr/>
        </p:nvSpPr>
        <p:spPr>
          <a:xfrm>
            <a:off x="450311" y="235244"/>
            <a:ext cx="275773" cy="275773"/>
          </a:xfrm>
          <a:prstGeom prst="ellipse">
            <a:avLst/>
          </a:prstGeom>
          <a:gradFill>
            <a:gsLst>
              <a:gs pos="0">
                <a:srgbClr val="01B0F0">
                  <a:alpha val="0"/>
                </a:srgbClr>
              </a:gs>
              <a:gs pos="100000">
                <a:srgbClr val="01B0F0"/>
              </a:gs>
            </a:gsLst>
            <a:lin ang="0" scaled="0"/>
          </a:gra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4" name="椭圆 10">
            <a:extLst>
              <a:ext uri="{FF2B5EF4-FFF2-40B4-BE49-F238E27FC236}">
                <a16:creationId xmlns:a16="http://schemas.microsoft.com/office/drawing/2014/main" id="{9273DC72-021C-E3E4-9FB9-C8FB93367F6C}"/>
              </a:ext>
            </a:extLst>
          </p:cNvPr>
          <p:cNvSpPr/>
          <p:nvPr/>
        </p:nvSpPr>
        <p:spPr>
          <a:xfrm>
            <a:off x="292488" y="235244"/>
            <a:ext cx="275773" cy="275773"/>
          </a:xfrm>
          <a:prstGeom prst="ellipse">
            <a:avLst/>
          </a:prstGeom>
          <a:solidFill>
            <a:srgbClr val="FFC001"/>
          </a:soli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703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Rel%20Cosmetic%20Inspection%20T0%20Work%20Flow_20250415.pptx" TargetMode="External"/><Relationship Id="rId3" Type="http://schemas.openxmlformats.org/officeDocument/2006/relationships/hyperlink" Target="REL%20Test%20TX%20Workflow_20250415.pptx" TargetMode="External"/><Relationship Id="rId7" Type="http://schemas.microsoft.com/office/2007/relationships/hdphoto" Target="../media/hdphoto3.wdp"/><Relationship Id="rId12" Type="http://schemas.openxmlformats.org/officeDocument/2006/relationships/hyperlink" Target="REL%20Recon%20Workflow_20250415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11" Type="http://schemas.openxmlformats.org/officeDocument/2006/relationships/hyperlink" Target="REL%20Report%20T0%20Workflow_20250415.pptx" TargetMode="External"/><Relationship Id="rId5" Type="http://schemas.microsoft.com/office/2007/relationships/hdphoto" Target="../media/hdphoto2.wdp"/><Relationship Id="rId10" Type="http://schemas.openxmlformats.org/officeDocument/2006/relationships/hyperlink" Target="Rel%20Mini%20Line%20Workflow_20250415.pptx" TargetMode="External"/><Relationship Id="rId4" Type="http://schemas.openxmlformats.org/officeDocument/2006/relationships/image" Target="../media/image5.png"/><Relationship Id="rId9" Type="http://schemas.openxmlformats.org/officeDocument/2006/relationships/hyperlink" Target="Rel%20Photo%20Station%20Work%20Flow_20250415.ppt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REL%20Test%20TX%20Workflow_20250415.pptx" TargetMode="External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PowerPoint_Presentation2.pptx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PowerPoint_Presentation.pptx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6" Type="http://schemas.openxmlformats.org/officeDocument/2006/relationships/package" Target="../embeddings/Microsoft_PowerPoint_Presentation3.pptx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PowerPoint_Presentation5.pptx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Microsoft_PowerPoint_Presentation4.pptx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notesSlide" Target="../notesSlides/notesSlide12.xml"/><Relationship Id="rId7" Type="http://schemas.openxmlformats.org/officeDocument/2006/relationships/package" Target="../embeddings/Microsoft_PowerPoint_Presentation6.pptx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6" Type="http://schemas.openxmlformats.org/officeDocument/2006/relationships/package" Target="../embeddings/Microsoft_PowerPoint_Presentation7.pptx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hyperlink" Target="FA%20tracker%20dashboard.pptx" TargetMode="Externa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G"/><Relationship Id="rId5" Type="http://schemas.openxmlformats.org/officeDocument/2006/relationships/hyperlink" Target="../CTMS&#29992;&#25142;&#26041;SOP/CTMS&#38656;&#27714;&#26041;SOP%20V1.0_1108.pptx" TargetMode="Externa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>
            <a:extLst>
              <a:ext uri="{FF2B5EF4-FFF2-40B4-BE49-F238E27FC236}">
                <a16:creationId xmlns:a16="http://schemas.microsoft.com/office/drawing/2014/main" id="{F1E50FF4-F791-5056-E497-FFDA41B5B33E}"/>
              </a:ext>
            </a:extLst>
          </p:cNvPr>
          <p:cNvSpPr/>
          <p:nvPr/>
        </p:nvSpPr>
        <p:spPr>
          <a:xfrm>
            <a:off x="9229725" y="4452470"/>
            <a:ext cx="1941483" cy="29810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时间：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2026/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6/5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对角圆角矩形 5">
            <a:extLst>
              <a:ext uri="{FF2B5EF4-FFF2-40B4-BE49-F238E27FC236}">
                <a16:creationId xmlns:a16="http://schemas.microsoft.com/office/drawing/2014/main" id="{A8653F83-E4CB-0821-92C0-CC6D035E4C8A}"/>
              </a:ext>
            </a:extLst>
          </p:cNvPr>
          <p:cNvSpPr/>
          <p:nvPr/>
        </p:nvSpPr>
        <p:spPr>
          <a:xfrm>
            <a:off x="9163224" y="3931919"/>
            <a:ext cx="1797244" cy="276797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報告人：</a:t>
            </a:r>
            <a:r>
              <a:rPr kumimoji="1" lang="en-US" altLang="zh-CN" sz="16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DQE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51CDECDD-78EE-6885-7047-12FC1AF3D419}"/>
              </a:ext>
            </a:extLst>
          </p:cNvPr>
          <p:cNvSpPr txBox="1"/>
          <p:nvPr/>
        </p:nvSpPr>
        <p:spPr>
          <a:xfrm>
            <a:off x="3278065" y="2608480"/>
            <a:ext cx="5635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A+ DQE </a:t>
            </a:r>
            <a:r>
              <a:rPr lang="en-US" altLang="zh-CN" sz="4000" b="1" dirty="0">
                <a:latin typeface="Calibri" panose="020F0502020204030204" pitchFamily="34" charset="0"/>
                <a:cs typeface="Calibri" panose="020F0502020204030204" pitchFamily="34" charset="0"/>
              </a:rPr>
              <a:t>| DQE Work Flow</a:t>
            </a:r>
          </a:p>
          <a:p>
            <a:pPr algn="ctr"/>
            <a:r>
              <a:rPr kumimoji="1" lang="en-US" altLang="zh-CN" sz="4000" b="1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 EVT v.01</a:t>
            </a:r>
            <a:endParaRPr kumimoji="1" lang="zh-CN" altLang="en-US" sz="4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058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21881F-0A6B-4B21-8E03-E62726E6C925}"/>
              </a:ext>
            </a:extLst>
          </p:cNvPr>
          <p:cNvSpPr/>
          <p:nvPr/>
        </p:nvSpPr>
        <p:spPr>
          <a:xfrm>
            <a:off x="897467" y="745067"/>
            <a:ext cx="10333566" cy="5842000"/>
          </a:xfrm>
          <a:prstGeom prst="roundRect">
            <a:avLst>
              <a:gd name="adj" fmla="val 8841"/>
            </a:avLst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50127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Rel Test 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2E183BD-6A84-42D7-800B-2F86A773ADD3}"/>
              </a:ext>
            </a:extLst>
          </p:cNvPr>
          <p:cNvSpPr/>
          <p:nvPr/>
        </p:nvSpPr>
        <p:spPr>
          <a:xfrm>
            <a:off x="1873255" y="1825060"/>
            <a:ext cx="3960000" cy="122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TW" sz="1600" b="1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Cosmetic: 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EFI </a:t>
            </a:r>
            <a:r>
              <a:rPr lang="en-US" altLang="zh-TW" sz="1600" dirty="0" err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Diag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(Only for </a:t>
            </a:r>
            <a:r>
              <a:rPr lang="en-US" altLang="zh-TW" sz="1600" dirty="0" err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Ctl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Drop)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Auto-Photo Station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照片自動同步腳本 </a:t>
            </a:r>
            <a:endParaRPr lang="en-US" altLang="zh-TW" sz="1600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1" name="矩形: 圓角 170">
            <a:extLst>
              <a:ext uri="{FF2B5EF4-FFF2-40B4-BE49-F238E27FC236}">
                <a16:creationId xmlns:a16="http://schemas.microsoft.com/office/drawing/2014/main" id="{E3CFA2E5-F8B9-48D1-A5F9-3685FC528D87}"/>
              </a:ext>
            </a:extLst>
          </p:cNvPr>
          <p:cNvSpPr/>
          <p:nvPr/>
        </p:nvSpPr>
        <p:spPr>
          <a:xfrm>
            <a:off x="1873255" y="3344333"/>
            <a:ext cx="3960000" cy="122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TW" sz="1600" b="1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Mini line :</a:t>
            </a: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1.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自動匯總報告腳本</a:t>
            </a:r>
            <a:endParaRPr lang="en-US" altLang="zh-TW" sz="1600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2.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數據核對腳本</a:t>
            </a:r>
            <a:endParaRPr lang="en-US" altLang="zh-TW" sz="1600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02" name="矩形: 圓角 201">
            <a:extLst>
              <a:ext uri="{FF2B5EF4-FFF2-40B4-BE49-F238E27FC236}">
                <a16:creationId xmlns:a16="http://schemas.microsoft.com/office/drawing/2014/main" id="{ACEEA91D-B60B-4EB5-B9E3-0659DD8B141E}"/>
              </a:ext>
            </a:extLst>
          </p:cNvPr>
          <p:cNvSpPr/>
          <p:nvPr/>
        </p:nvSpPr>
        <p:spPr>
          <a:xfrm>
            <a:off x="1873255" y="4851765"/>
            <a:ext cx="8421928" cy="12528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TW" sz="1600" b="1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FA :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dirty="0" err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SummaryInOut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解決遺漏投產的問題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(Disposition)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/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使機台狀態更加清晰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(FA Status)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Disposition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確認機制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確認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Test Center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有實際接收機台，投產。</a:t>
            </a:r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57BA7753-B7FB-4F79-A66B-BB25BB9779BB}"/>
              </a:ext>
            </a:extLst>
          </p:cNvPr>
          <p:cNvSpPr txBox="1"/>
          <p:nvPr/>
        </p:nvSpPr>
        <p:spPr>
          <a:xfrm>
            <a:off x="3135366" y="1033211"/>
            <a:ext cx="6100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Change Log</a:t>
            </a:r>
            <a:endParaRPr lang="zh-TW" altLang="en-US" sz="3200" dirty="0">
              <a:solidFill>
                <a:schemeClr val="bg1"/>
              </a:solidFill>
            </a:endParaRPr>
          </a:p>
        </p:txBody>
      </p:sp>
      <p:sp>
        <p:nvSpPr>
          <p:cNvPr id="222" name="矩形: 圓角 221">
            <a:extLst>
              <a:ext uri="{FF2B5EF4-FFF2-40B4-BE49-F238E27FC236}">
                <a16:creationId xmlns:a16="http://schemas.microsoft.com/office/drawing/2014/main" id="{3F28F1A3-65EF-4311-812A-BA1CC28CE9F7}"/>
              </a:ext>
            </a:extLst>
          </p:cNvPr>
          <p:cNvSpPr/>
          <p:nvPr/>
        </p:nvSpPr>
        <p:spPr>
          <a:xfrm>
            <a:off x="6335184" y="1825060"/>
            <a:ext cx="3960000" cy="122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TW" sz="1600" b="1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Report :</a:t>
            </a: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1.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報告紙管理機制 </a:t>
            </a:r>
            <a:endParaRPr lang="en-US" altLang="zh-TW" sz="1600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2. Recon / REL Report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比對腳本 </a:t>
            </a:r>
            <a:endParaRPr lang="en-US" altLang="zh-TW" sz="1600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23" name="矩形: 圓角 222">
            <a:extLst>
              <a:ext uri="{FF2B5EF4-FFF2-40B4-BE49-F238E27FC236}">
                <a16:creationId xmlns:a16="http://schemas.microsoft.com/office/drawing/2014/main" id="{4B8A9A88-3B72-497E-B52A-7A1E72494941}"/>
              </a:ext>
            </a:extLst>
          </p:cNvPr>
          <p:cNvSpPr/>
          <p:nvPr/>
        </p:nvSpPr>
        <p:spPr>
          <a:xfrm>
            <a:off x="6335184" y="3340594"/>
            <a:ext cx="3960000" cy="122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TW" sz="1600" b="1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Test Center :</a:t>
            </a: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1.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充電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/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導入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Root loader</a:t>
            </a: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2. Hinge torque &amp; Button Tactility Station</a:t>
            </a:r>
          </a:p>
          <a:p>
            <a:pPr>
              <a:lnSpc>
                <a:spcPct val="120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3. Disposition 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接收確認</a:t>
            </a:r>
          </a:p>
        </p:txBody>
      </p:sp>
    </p:spTree>
    <p:extLst>
      <p:ext uri="{BB962C8B-B14F-4D97-AF65-F5344CB8AC3E}">
        <p14:creationId xmlns:p14="http://schemas.microsoft.com/office/powerpoint/2010/main" val="268347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矩形: 圓角 261">
            <a:extLst>
              <a:ext uri="{FF2B5EF4-FFF2-40B4-BE49-F238E27FC236}">
                <a16:creationId xmlns:a16="http://schemas.microsoft.com/office/drawing/2014/main" id="{3435002C-4C2B-4F0F-8B10-1801E7D090EF}"/>
              </a:ext>
            </a:extLst>
          </p:cNvPr>
          <p:cNvSpPr/>
          <p:nvPr/>
        </p:nvSpPr>
        <p:spPr>
          <a:xfrm>
            <a:off x="188933" y="4270850"/>
            <a:ext cx="5139796" cy="2508220"/>
          </a:xfrm>
          <a:prstGeom prst="roundRect">
            <a:avLst>
              <a:gd name="adj" fmla="val 6197"/>
            </a:avLst>
          </a:prstGeom>
          <a:solidFill>
            <a:schemeClr val="accent4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1" name="矩形: 圓角 260">
            <a:extLst>
              <a:ext uri="{FF2B5EF4-FFF2-40B4-BE49-F238E27FC236}">
                <a16:creationId xmlns:a16="http://schemas.microsoft.com/office/drawing/2014/main" id="{4447E782-E946-4327-8B60-D6CABB9CD9D4}"/>
              </a:ext>
            </a:extLst>
          </p:cNvPr>
          <p:cNvSpPr/>
          <p:nvPr/>
        </p:nvSpPr>
        <p:spPr>
          <a:xfrm>
            <a:off x="181415" y="3595924"/>
            <a:ext cx="5142395" cy="632193"/>
          </a:xfrm>
          <a:prstGeom prst="roundRect">
            <a:avLst>
              <a:gd name="adj" fmla="val 6197"/>
            </a:avLst>
          </a:prstGeom>
          <a:solidFill>
            <a:srgbClr val="5A2781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4" name="矩形: 圓角 263">
            <a:extLst>
              <a:ext uri="{FF2B5EF4-FFF2-40B4-BE49-F238E27FC236}">
                <a16:creationId xmlns:a16="http://schemas.microsoft.com/office/drawing/2014/main" id="{8A988BCF-E9D5-4473-BBE5-360CFF44EB39}"/>
              </a:ext>
            </a:extLst>
          </p:cNvPr>
          <p:cNvSpPr/>
          <p:nvPr/>
        </p:nvSpPr>
        <p:spPr>
          <a:xfrm>
            <a:off x="186313" y="754459"/>
            <a:ext cx="7482756" cy="1184400"/>
          </a:xfrm>
          <a:prstGeom prst="roundRect">
            <a:avLst>
              <a:gd name="adj" fmla="val 6197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9" name="矩形: 圓角 248">
            <a:extLst>
              <a:ext uri="{FF2B5EF4-FFF2-40B4-BE49-F238E27FC236}">
                <a16:creationId xmlns:a16="http://schemas.microsoft.com/office/drawing/2014/main" id="{AAF9CC6B-57F3-4ACA-B496-7791E688B5CE}"/>
              </a:ext>
            </a:extLst>
          </p:cNvPr>
          <p:cNvSpPr/>
          <p:nvPr/>
        </p:nvSpPr>
        <p:spPr>
          <a:xfrm>
            <a:off x="5385939" y="4269585"/>
            <a:ext cx="6562816" cy="2509485"/>
          </a:xfrm>
          <a:prstGeom prst="roundRect">
            <a:avLst>
              <a:gd name="adj" fmla="val 6197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D21C3241-DD95-406F-B621-BE8C47296D3C}"/>
              </a:ext>
            </a:extLst>
          </p:cNvPr>
          <p:cNvSpPr/>
          <p:nvPr/>
        </p:nvSpPr>
        <p:spPr>
          <a:xfrm>
            <a:off x="7705533" y="747321"/>
            <a:ext cx="4232467" cy="1191537"/>
          </a:xfrm>
          <a:prstGeom prst="roundRect">
            <a:avLst>
              <a:gd name="adj" fmla="val 6197"/>
            </a:avLst>
          </a:prstGeom>
          <a:solidFill>
            <a:srgbClr val="5A2781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1" name="矩形: 圓角 250">
            <a:extLst>
              <a:ext uri="{FF2B5EF4-FFF2-40B4-BE49-F238E27FC236}">
                <a16:creationId xmlns:a16="http://schemas.microsoft.com/office/drawing/2014/main" id="{C19F97F6-1FEA-473A-B58C-FFFCBC1E8D3D}"/>
              </a:ext>
            </a:extLst>
          </p:cNvPr>
          <p:cNvSpPr/>
          <p:nvPr/>
        </p:nvSpPr>
        <p:spPr>
          <a:xfrm>
            <a:off x="188933" y="1975148"/>
            <a:ext cx="5134877" cy="1592828"/>
          </a:xfrm>
          <a:prstGeom prst="roundRect">
            <a:avLst>
              <a:gd name="adj" fmla="val 6197"/>
            </a:avLst>
          </a:prstGeom>
          <a:solidFill>
            <a:srgbClr val="00B050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矩形: 圓角 254">
            <a:extLst>
              <a:ext uri="{FF2B5EF4-FFF2-40B4-BE49-F238E27FC236}">
                <a16:creationId xmlns:a16="http://schemas.microsoft.com/office/drawing/2014/main" id="{EC3A6F99-D2E3-48C5-84F6-C995E0E70FA6}"/>
              </a:ext>
            </a:extLst>
          </p:cNvPr>
          <p:cNvSpPr/>
          <p:nvPr/>
        </p:nvSpPr>
        <p:spPr>
          <a:xfrm>
            <a:off x="5381132" y="1968628"/>
            <a:ext cx="6568242" cy="2264744"/>
          </a:xfrm>
          <a:prstGeom prst="roundRect">
            <a:avLst>
              <a:gd name="adj" fmla="val 6197"/>
            </a:avLst>
          </a:prstGeom>
          <a:solidFill>
            <a:srgbClr val="5A2781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0" name="橢圓 209">
            <a:hlinkClick r:id="rId3" action="ppaction://hlinkpres?slideindex=1&amp;slidetitle="/>
          </p:cNvPr>
          <p:cNvSpPr/>
          <p:nvPr/>
        </p:nvSpPr>
        <p:spPr>
          <a:xfrm>
            <a:off x="6054481" y="619997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橢圓 126"/>
          <p:cNvSpPr/>
          <p:nvPr/>
        </p:nvSpPr>
        <p:spPr>
          <a:xfrm>
            <a:off x="1997251" y="137582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8" name="橢圓 127"/>
          <p:cNvSpPr/>
          <p:nvPr/>
        </p:nvSpPr>
        <p:spPr>
          <a:xfrm>
            <a:off x="3282378" y="137582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9" name="橢圓 128"/>
          <p:cNvSpPr/>
          <p:nvPr/>
        </p:nvSpPr>
        <p:spPr>
          <a:xfrm>
            <a:off x="5834996" y="137582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1" name="向右箭號 130"/>
          <p:cNvSpPr/>
          <p:nvPr/>
        </p:nvSpPr>
        <p:spPr>
          <a:xfrm>
            <a:off x="2365319" y="13985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2" name="向右箭號 131"/>
          <p:cNvSpPr/>
          <p:nvPr/>
        </p:nvSpPr>
        <p:spPr>
          <a:xfrm>
            <a:off x="4935572" y="13985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5" name="向右箭號 134"/>
          <p:cNvSpPr/>
          <p:nvPr/>
        </p:nvSpPr>
        <p:spPr>
          <a:xfrm>
            <a:off x="6220697" y="13985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114990" y="840706"/>
            <a:ext cx="198985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跑轉播單</a:t>
            </a:r>
            <a:endParaRPr lang="en-US" altLang="zh-TW" sz="1000" b="1" noProof="0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&amp;</a:t>
            </a:r>
            <a:r>
              <a:rPr lang="zh-TW" altLang="en-US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領機台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43" name="矩形 142"/>
          <p:cNvSpPr/>
          <p:nvPr/>
        </p:nvSpPr>
        <p:spPr>
          <a:xfrm>
            <a:off x="2523886" y="819457"/>
            <a:ext cx="166592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進倉庫 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檢查機台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掃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TT</a:t>
            </a:r>
          </a:p>
        </p:txBody>
      </p:sp>
      <p:sp>
        <p:nvSpPr>
          <p:cNvPr id="146" name="矩形 145"/>
          <p:cNvSpPr/>
          <p:nvPr/>
        </p:nvSpPr>
        <p:spPr>
          <a:xfrm>
            <a:off x="5194497" y="855097"/>
            <a:ext cx="152904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至倉庫領機掃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TT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領機人須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打印報告紙</a:t>
            </a:r>
          </a:p>
        </p:txBody>
      </p:sp>
      <p:pic>
        <p:nvPicPr>
          <p:cNvPr id="149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23" y="1329051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文字方塊 164"/>
          <p:cNvSpPr txBox="1"/>
          <p:nvPr/>
        </p:nvSpPr>
        <p:spPr>
          <a:xfrm>
            <a:off x="181416" y="844628"/>
            <a:ext cx="1240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EPM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DQE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領取機台</a:t>
            </a:r>
          </a:p>
        </p:txBody>
      </p:sp>
      <p:sp>
        <p:nvSpPr>
          <p:cNvPr id="166" name="文字方塊 165"/>
          <p:cNvSpPr txBox="1"/>
          <p:nvPr/>
        </p:nvSpPr>
        <p:spPr>
          <a:xfrm>
            <a:off x="424516" y="1629230"/>
            <a:ext cx="587020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FX 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</a:rPr>
              <a:t>EPM</a:t>
            </a:r>
          </a:p>
        </p:txBody>
      </p:sp>
      <p:sp>
        <p:nvSpPr>
          <p:cNvPr id="167" name="向右箭號 166"/>
          <p:cNvSpPr/>
          <p:nvPr/>
        </p:nvSpPr>
        <p:spPr>
          <a:xfrm>
            <a:off x="1080193" y="13985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0" name="文字方塊 169"/>
          <p:cNvSpPr txBox="1"/>
          <p:nvPr/>
        </p:nvSpPr>
        <p:spPr>
          <a:xfrm>
            <a:off x="1848475" y="1620238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Lucy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2" name="文字方塊 171"/>
          <p:cNvSpPr txBox="1"/>
          <p:nvPr/>
        </p:nvSpPr>
        <p:spPr>
          <a:xfrm>
            <a:off x="3133773" y="1629230"/>
            <a:ext cx="441146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倉庫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4" name="向右箭號 193"/>
          <p:cNvSpPr/>
          <p:nvPr/>
        </p:nvSpPr>
        <p:spPr>
          <a:xfrm>
            <a:off x="3650446" y="13985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95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794" y="1340180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7" name="文字方塊 196"/>
          <p:cNvSpPr txBox="1"/>
          <p:nvPr/>
        </p:nvSpPr>
        <p:spPr>
          <a:xfrm>
            <a:off x="3832156" y="748546"/>
            <a:ext cx="1637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通知</a:t>
            </a:r>
          </a:p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外觀領取機台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執行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T0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9" name="文字方塊 198"/>
          <p:cNvSpPr txBox="1"/>
          <p:nvPr/>
        </p:nvSpPr>
        <p:spPr>
          <a:xfrm>
            <a:off x="4433100" y="1629230"/>
            <a:ext cx="445956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Yoke</a:t>
            </a:r>
          </a:p>
        </p:txBody>
      </p:sp>
      <p:sp>
        <p:nvSpPr>
          <p:cNvPr id="200" name="文字方塊 199"/>
          <p:cNvSpPr txBox="1"/>
          <p:nvPr/>
        </p:nvSpPr>
        <p:spPr>
          <a:xfrm>
            <a:off x="5694549" y="1629230"/>
            <a:ext cx="580608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Tammy</a:t>
            </a:r>
          </a:p>
        </p:txBody>
      </p:sp>
      <p:sp>
        <p:nvSpPr>
          <p:cNvPr id="205" name="向右箭號 204"/>
          <p:cNvSpPr/>
          <p:nvPr/>
        </p:nvSpPr>
        <p:spPr>
          <a:xfrm>
            <a:off x="8837352" y="1392893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6" name="矩形 205"/>
          <p:cNvSpPr/>
          <p:nvPr/>
        </p:nvSpPr>
        <p:spPr>
          <a:xfrm>
            <a:off x="7892502" y="836690"/>
            <a:ext cx="1183927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</a:t>
            </a:r>
            <a:endParaRPr lang="en-US" altLang="zh-TW" sz="1000" b="1" dirty="0">
              <a:solidFill>
                <a:srgbClr val="00B0F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IN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(IMES)</a:t>
            </a:r>
          </a:p>
        </p:txBody>
      </p:sp>
      <p:pic>
        <p:nvPicPr>
          <p:cNvPr id="20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8342744" y="1235223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" name="文字方塊 207"/>
          <p:cNvSpPr txBox="1"/>
          <p:nvPr/>
        </p:nvSpPr>
        <p:spPr>
          <a:xfrm>
            <a:off x="8198146" y="1629230"/>
            <a:ext cx="580608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Tammy</a:t>
            </a:r>
          </a:p>
        </p:txBody>
      </p:sp>
      <p:sp>
        <p:nvSpPr>
          <p:cNvPr id="209" name="橢圓 208">
            <a:hlinkClick r:id="rId8" action="ppaction://hlinkpres?slideindex=1&amp;slidetitle="/>
          </p:cNvPr>
          <p:cNvSpPr/>
          <p:nvPr/>
        </p:nvSpPr>
        <p:spPr>
          <a:xfrm>
            <a:off x="11304616" y="134460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1" name="矩形 210"/>
          <p:cNvSpPr/>
          <p:nvPr/>
        </p:nvSpPr>
        <p:spPr>
          <a:xfrm>
            <a:off x="10633168" y="938009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目檢</a:t>
            </a:r>
          </a:p>
        </p:txBody>
      </p:sp>
      <p:sp>
        <p:nvSpPr>
          <p:cNvPr id="212" name="文字方塊 211"/>
          <p:cNvSpPr txBox="1"/>
          <p:nvPr/>
        </p:nvSpPr>
        <p:spPr>
          <a:xfrm>
            <a:off x="11137379" y="1629229"/>
            <a:ext cx="580608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Tammy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8" name="向右箭號 217"/>
          <p:cNvSpPr/>
          <p:nvPr/>
        </p:nvSpPr>
        <p:spPr>
          <a:xfrm rot="5400000">
            <a:off x="11124395" y="2103446"/>
            <a:ext cx="519312" cy="158871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9" name="五角星形 218"/>
          <p:cNvSpPr/>
          <p:nvPr/>
        </p:nvSpPr>
        <p:spPr>
          <a:xfrm>
            <a:off x="11232916" y="2980206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10605885" y="2557719"/>
            <a:ext cx="1529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待測區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55257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Test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T0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9" name="橢圓 118"/>
          <p:cNvSpPr/>
          <p:nvPr/>
        </p:nvSpPr>
        <p:spPr>
          <a:xfrm>
            <a:off x="9829606" y="1375820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143714" y="749675"/>
            <a:ext cx="15290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目檢組測試前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1.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清潔機台</a:t>
            </a:r>
            <a:endParaRPr lang="en-US" altLang="zh-TW" sz="1000" b="1" noProof="0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2.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秤重</a:t>
            </a:r>
            <a:endParaRPr lang="en-US" altLang="zh-TW" sz="1000" b="1" noProof="0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9577285" y="1629230"/>
            <a:ext cx="580608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Tammy</a:t>
            </a:r>
          </a:p>
        </p:txBody>
      </p:sp>
      <p:sp>
        <p:nvSpPr>
          <p:cNvPr id="126" name="向右箭號 125"/>
          <p:cNvSpPr/>
          <p:nvPr/>
        </p:nvSpPr>
        <p:spPr>
          <a:xfrm>
            <a:off x="10325912" y="1393404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3" name="橢圓 152">
            <a:hlinkClick r:id="rId9" action="ppaction://hlinkpres?slideindex=1&amp;slidetitle="/>
          </p:cNvPr>
          <p:cNvSpPr/>
          <p:nvPr/>
        </p:nvSpPr>
        <p:spPr>
          <a:xfrm>
            <a:off x="9830949" y="2976599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7930000" y="2420810"/>
            <a:ext cx="1311534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</a:t>
            </a:r>
            <a:endParaRPr lang="en-US" altLang="zh-TW" sz="1000" b="1" dirty="0">
              <a:solidFill>
                <a:srgbClr val="00B0F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OUT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(IMES)</a:t>
            </a:r>
          </a:p>
        </p:txBody>
      </p:sp>
      <p:pic>
        <p:nvPicPr>
          <p:cNvPr id="15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8336684" y="2781964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文字方塊 157"/>
          <p:cNvSpPr txBox="1"/>
          <p:nvPr/>
        </p:nvSpPr>
        <p:spPr>
          <a:xfrm>
            <a:off x="8333356" y="3292622"/>
            <a:ext cx="42672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9" name="橢圓 158">
            <a:hlinkClick r:id="rId10" action="ppaction://hlinkpres?slideindex=1&amp;slidetitle="/>
          </p:cNvPr>
          <p:cNvSpPr/>
          <p:nvPr/>
        </p:nvSpPr>
        <p:spPr>
          <a:xfrm>
            <a:off x="3288460" y="299924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2610930" y="2568258"/>
            <a:ext cx="15290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line</a:t>
            </a:r>
          </a:p>
        </p:txBody>
      </p:sp>
      <p:sp>
        <p:nvSpPr>
          <p:cNvPr id="161" name="文字方塊 160"/>
          <p:cNvSpPr txBox="1"/>
          <p:nvPr/>
        </p:nvSpPr>
        <p:spPr>
          <a:xfrm>
            <a:off x="3034190" y="3300792"/>
            <a:ext cx="59182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62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886965" y="2815599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文字方塊 163"/>
          <p:cNvSpPr txBox="1"/>
          <p:nvPr/>
        </p:nvSpPr>
        <p:spPr>
          <a:xfrm>
            <a:off x="1770581" y="3300792"/>
            <a:ext cx="59182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68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85" y="2950079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文字方塊 168"/>
          <p:cNvSpPr txBox="1"/>
          <p:nvPr/>
        </p:nvSpPr>
        <p:spPr>
          <a:xfrm>
            <a:off x="6415543" y="2394374"/>
            <a:ext cx="1637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外觀郵件通知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en-US" altLang="zh-TW" sz="1000" b="1" dirty="0" err="1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Miniline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拍照完成</a:t>
            </a:r>
          </a:p>
        </p:txBody>
      </p:sp>
      <p:sp>
        <p:nvSpPr>
          <p:cNvPr id="171" name="文字方塊 170"/>
          <p:cNvSpPr txBox="1"/>
          <p:nvPr/>
        </p:nvSpPr>
        <p:spPr>
          <a:xfrm>
            <a:off x="7016189" y="3300792"/>
            <a:ext cx="426720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sp>
        <p:nvSpPr>
          <p:cNvPr id="173" name="五角星形 172"/>
          <p:cNvSpPr/>
          <p:nvPr/>
        </p:nvSpPr>
        <p:spPr>
          <a:xfrm>
            <a:off x="5777465" y="2941882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5435646" y="2471318"/>
            <a:ext cx="10354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待測區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3992276" y="2459944"/>
            <a:ext cx="1301312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</a:p>
          <a:p>
            <a:pPr lvl="0" algn="ctr"/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掃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IN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(IMES)</a:t>
            </a:r>
          </a:p>
        </p:txBody>
      </p:sp>
      <p:pic>
        <p:nvPicPr>
          <p:cNvPr id="176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4442344" y="2831556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" name="文字方塊 176"/>
          <p:cNvSpPr txBox="1"/>
          <p:nvPr/>
        </p:nvSpPr>
        <p:spPr>
          <a:xfrm>
            <a:off x="4309917" y="3298413"/>
            <a:ext cx="59182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78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21" y="2943073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2" name="文字方塊 181"/>
          <p:cNvSpPr txBox="1"/>
          <p:nvPr/>
        </p:nvSpPr>
        <p:spPr>
          <a:xfrm>
            <a:off x="-65548" y="2420810"/>
            <a:ext cx="1637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通知報告組工站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測試完成</a:t>
            </a:r>
          </a:p>
        </p:txBody>
      </p:sp>
      <p:sp>
        <p:nvSpPr>
          <p:cNvPr id="183" name="文字方塊 182"/>
          <p:cNvSpPr txBox="1"/>
          <p:nvPr/>
        </p:nvSpPr>
        <p:spPr>
          <a:xfrm>
            <a:off x="429193" y="3300792"/>
            <a:ext cx="591829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</a:p>
        </p:txBody>
      </p:sp>
      <p:sp>
        <p:nvSpPr>
          <p:cNvPr id="184" name="矩形 183"/>
          <p:cNvSpPr/>
          <p:nvPr/>
        </p:nvSpPr>
        <p:spPr>
          <a:xfrm>
            <a:off x="1464081" y="2157849"/>
            <a:ext cx="1310301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</a:t>
            </a:r>
          </a:p>
          <a:p>
            <a:pPr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OUT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(IMES)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 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IN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(IMES)</a:t>
            </a:r>
          </a:p>
        </p:txBody>
      </p:sp>
      <p:sp>
        <p:nvSpPr>
          <p:cNvPr id="201" name="橢圓 200">
            <a:hlinkClick r:id="rId11" action="ppaction://hlinkpres?slideindex=1&amp;slidetitle="/>
          </p:cNvPr>
          <p:cNvSpPr/>
          <p:nvPr/>
        </p:nvSpPr>
        <p:spPr>
          <a:xfrm>
            <a:off x="4592101" y="50130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3930637" y="4639068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出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T0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</a:t>
            </a:r>
          </a:p>
        </p:txBody>
      </p:sp>
      <p:sp>
        <p:nvSpPr>
          <p:cNvPr id="203" name="文字方塊 202"/>
          <p:cNvSpPr txBox="1"/>
          <p:nvPr/>
        </p:nvSpPr>
        <p:spPr>
          <a:xfrm>
            <a:off x="4456584" y="5334595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214" name="矩形 213"/>
          <p:cNvSpPr/>
          <p:nvPr/>
        </p:nvSpPr>
        <p:spPr>
          <a:xfrm>
            <a:off x="2902563" y="4460987"/>
            <a:ext cx="966977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 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OUT</a:t>
            </a:r>
          </a:p>
        </p:txBody>
      </p:sp>
      <p:pic>
        <p:nvPicPr>
          <p:cNvPr id="220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3159355" y="4871594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1" name="文字方塊 220"/>
          <p:cNvSpPr txBox="1"/>
          <p:nvPr/>
        </p:nvSpPr>
        <p:spPr>
          <a:xfrm>
            <a:off x="3154327" y="5367253"/>
            <a:ext cx="42191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2" name="橢圓 241"/>
          <p:cNvSpPr/>
          <p:nvPr/>
        </p:nvSpPr>
        <p:spPr>
          <a:xfrm>
            <a:off x="7234109" y="500025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6998250" y="4605271"/>
            <a:ext cx="6550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TW" sz="1000" b="1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分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WF</a:t>
            </a:r>
          </a:p>
        </p:txBody>
      </p:sp>
      <p:sp>
        <p:nvSpPr>
          <p:cNvPr id="244" name="文字方塊 243"/>
          <p:cNvSpPr txBox="1"/>
          <p:nvPr/>
        </p:nvSpPr>
        <p:spPr>
          <a:xfrm>
            <a:off x="7117418" y="5301182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pic>
        <p:nvPicPr>
          <p:cNvPr id="248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186" y="4956914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0" name="文字方塊 249"/>
          <p:cNvSpPr txBox="1"/>
          <p:nvPr/>
        </p:nvSpPr>
        <p:spPr>
          <a:xfrm>
            <a:off x="7839873" y="4527255"/>
            <a:ext cx="1637773" cy="398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郵件告知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等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同意</a:t>
            </a:r>
          </a:p>
        </p:txBody>
      </p:sp>
      <p:sp>
        <p:nvSpPr>
          <p:cNvPr id="252" name="文字方塊 251"/>
          <p:cNvSpPr txBox="1"/>
          <p:nvPr/>
        </p:nvSpPr>
        <p:spPr>
          <a:xfrm>
            <a:off x="8447804" y="5297552"/>
            <a:ext cx="421910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265" name="橢圓 264">
            <a:hlinkClick r:id="rId12" action="ppaction://hlinkpres?slideindex=1&amp;slidetitle="/>
          </p:cNvPr>
          <p:cNvSpPr/>
          <p:nvPr/>
        </p:nvSpPr>
        <p:spPr>
          <a:xfrm>
            <a:off x="2009038" y="499829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6" name="矩形 265"/>
          <p:cNvSpPr/>
          <p:nvPr/>
        </p:nvSpPr>
        <p:spPr>
          <a:xfrm>
            <a:off x="1333327" y="4579425"/>
            <a:ext cx="15290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入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7" name="文字方塊 266"/>
          <p:cNvSpPr txBox="1"/>
          <p:nvPr/>
        </p:nvSpPr>
        <p:spPr>
          <a:xfrm>
            <a:off x="1901230" y="5320419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pic>
        <p:nvPicPr>
          <p:cNvPr id="272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281" y="4967629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3" name="文字方塊 272"/>
          <p:cNvSpPr txBox="1"/>
          <p:nvPr/>
        </p:nvSpPr>
        <p:spPr>
          <a:xfrm>
            <a:off x="9608887" y="4529435"/>
            <a:ext cx="8103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投測試</a:t>
            </a:r>
          </a:p>
        </p:txBody>
      </p:sp>
      <p:sp>
        <p:nvSpPr>
          <p:cNvPr id="274" name="文字方塊 273"/>
          <p:cNvSpPr txBox="1"/>
          <p:nvPr/>
        </p:nvSpPr>
        <p:spPr>
          <a:xfrm>
            <a:off x="9803115" y="5305608"/>
            <a:ext cx="421910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224" name="文字方塊 223"/>
          <p:cNvSpPr txBox="1"/>
          <p:nvPr/>
        </p:nvSpPr>
        <p:spPr>
          <a:xfrm>
            <a:off x="8906919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5" name="文字方塊 224"/>
          <p:cNvSpPr txBox="1"/>
          <p:nvPr/>
        </p:nvSpPr>
        <p:spPr>
          <a:xfrm>
            <a:off x="6307293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6" name="文字方塊 225"/>
          <p:cNvSpPr txBox="1"/>
          <p:nvPr/>
        </p:nvSpPr>
        <p:spPr>
          <a:xfrm>
            <a:off x="4979241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7" name="文字方塊 226"/>
          <p:cNvSpPr txBox="1"/>
          <p:nvPr/>
        </p:nvSpPr>
        <p:spPr>
          <a:xfrm>
            <a:off x="3728237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8" name="文字方塊 227"/>
          <p:cNvSpPr txBox="1"/>
          <p:nvPr/>
        </p:nvSpPr>
        <p:spPr>
          <a:xfrm>
            <a:off x="2406661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9" name="文字方塊 228"/>
          <p:cNvSpPr txBox="1"/>
          <p:nvPr/>
        </p:nvSpPr>
        <p:spPr>
          <a:xfrm>
            <a:off x="1159880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1" name="文字方塊 230"/>
          <p:cNvSpPr txBox="1"/>
          <p:nvPr/>
        </p:nvSpPr>
        <p:spPr>
          <a:xfrm>
            <a:off x="10401002" y="119114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2" name="文字方塊 231"/>
          <p:cNvSpPr txBox="1"/>
          <p:nvPr/>
        </p:nvSpPr>
        <p:spPr>
          <a:xfrm>
            <a:off x="11392030" y="2034524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3" name="文字方塊 232"/>
          <p:cNvSpPr txBox="1"/>
          <p:nvPr/>
        </p:nvSpPr>
        <p:spPr>
          <a:xfrm>
            <a:off x="11078450" y="3261843"/>
            <a:ext cx="661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5" name="文字方塊 244"/>
          <p:cNvSpPr txBox="1"/>
          <p:nvPr/>
        </p:nvSpPr>
        <p:spPr>
          <a:xfrm>
            <a:off x="5655938" y="3208712"/>
            <a:ext cx="59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314369" y="5856238"/>
            <a:ext cx="163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TX Start</a:t>
            </a:r>
          </a:p>
        </p:txBody>
      </p:sp>
      <p:sp>
        <p:nvSpPr>
          <p:cNvPr id="186" name="文字方塊 185"/>
          <p:cNvSpPr txBox="1"/>
          <p:nvPr/>
        </p:nvSpPr>
        <p:spPr>
          <a:xfrm>
            <a:off x="5636965" y="6444512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7" name="橢圓 146"/>
          <p:cNvSpPr/>
          <p:nvPr/>
        </p:nvSpPr>
        <p:spPr>
          <a:xfrm>
            <a:off x="7189229" y="1377982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6390885" y="854992"/>
            <a:ext cx="1665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Lab REL T0 </a:t>
            </a:r>
          </a:p>
          <a:p>
            <a:pPr lvl="0"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 Tagging</a:t>
            </a:r>
          </a:p>
        </p:txBody>
      </p:sp>
      <p:sp>
        <p:nvSpPr>
          <p:cNvPr id="213" name="文字方塊 212"/>
          <p:cNvSpPr txBox="1"/>
          <p:nvPr/>
        </p:nvSpPr>
        <p:spPr>
          <a:xfrm>
            <a:off x="7030568" y="1637388"/>
            <a:ext cx="445956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Yoke</a:t>
            </a:r>
          </a:p>
        </p:txBody>
      </p:sp>
      <p:sp>
        <p:nvSpPr>
          <p:cNvPr id="215" name="橢圓 214"/>
          <p:cNvSpPr/>
          <p:nvPr/>
        </p:nvSpPr>
        <p:spPr>
          <a:xfrm>
            <a:off x="9890523" y="621657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9306749" y="5684354"/>
            <a:ext cx="132641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各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Function DRI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至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報告組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領機 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打印報告紙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6" name="文字方塊 245"/>
          <p:cNvSpPr txBox="1"/>
          <p:nvPr/>
        </p:nvSpPr>
        <p:spPr>
          <a:xfrm>
            <a:off x="9509324" y="6459556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53" name="橢圓 252"/>
          <p:cNvSpPr/>
          <p:nvPr/>
        </p:nvSpPr>
        <p:spPr>
          <a:xfrm>
            <a:off x="7902816" y="622677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7149081" y="5784475"/>
            <a:ext cx="166592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T0 failure mode </a:t>
            </a:r>
          </a:p>
          <a:p>
            <a:pPr lvl="0"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 Tagging</a:t>
            </a:r>
          </a:p>
        </p:txBody>
      </p:sp>
      <p:sp>
        <p:nvSpPr>
          <p:cNvPr id="256" name="文字方塊 255"/>
          <p:cNvSpPr txBox="1"/>
          <p:nvPr/>
        </p:nvSpPr>
        <p:spPr>
          <a:xfrm>
            <a:off x="7491619" y="6458494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34" name="向右箭號 233"/>
          <p:cNvSpPr/>
          <p:nvPr/>
        </p:nvSpPr>
        <p:spPr>
          <a:xfrm>
            <a:off x="7558486" y="138969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7" name="文字方塊 256"/>
          <p:cNvSpPr txBox="1"/>
          <p:nvPr/>
        </p:nvSpPr>
        <p:spPr>
          <a:xfrm>
            <a:off x="7630495" y="117132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5" name="矩形 274"/>
          <p:cNvSpPr/>
          <p:nvPr/>
        </p:nvSpPr>
        <p:spPr>
          <a:xfrm>
            <a:off x="9156806" y="2649941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*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</a:t>
            </a:r>
          </a:p>
        </p:txBody>
      </p:sp>
      <p:sp>
        <p:nvSpPr>
          <p:cNvPr id="276" name="文字方塊 275"/>
          <p:cNvSpPr txBox="1"/>
          <p:nvPr/>
        </p:nvSpPr>
        <p:spPr>
          <a:xfrm>
            <a:off x="9701616" y="3300792"/>
            <a:ext cx="482824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Lucky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84" name="向右箭號 283"/>
          <p:cNvSpPr/>
          <p:nvPr/>
        </p:nvSpPr>
        <p:spPr>
          <a:xfrm flipH="1">
            <a:off x="2365319" y="301657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5" name="向右箭號 284"/>
          <p:cNvSpPr/>
          <p:nvPr/>
        </p:nvSpPr>
        <p:spPr>
          <a:xfrm flipH="1">
            <a:off x="4935572" y="301657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6" name="向右箭號 285"/>
          <p:cNvSpPr/>
          <p:nvPr/>
        </p:nvSpPr>
        <p:spPr>
          <a:xfrm flipH="1">
            <a:off x="6220697" y="301657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7" name="向右箭號 286"/>
          <p:cNvSpPr/>
          <p:nvPr/>
        </p:nvSpPr>
        <p:spPr>
          <a:xfrm flipH="1">
            <a:off x="1080193" y="301657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8" name="向右箭號 287"/>
          <p:cNvSpPr/>
          <p:nvPr/>
        </p:nvSpPr>
        <p:spPr>
          <a:xfrm flipH="1">
            <a:off x="3650446" y="301657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9" name="向右箭號 288"/>
          <p:cNvSpPr/>
          <p:nvPr/>
        </p:nvSpPr>
        <p:spPr>
          <a:xfrm flipH="1">
            <a:off x="8837352" y="3010963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1" name="向右箭號 290"/>
          <p:cNvSpPr/>
          <p:nvPr/>
        </p:nvSpPr>
        <p:spPr>
          <a:xfrm flipH="1">
            <a:off x="10325912" y="3004944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2" name="向右箭號 291"/>
          <p:cNvSpPr/>
          <p:nvPr/>
        </p:nvSpPr>
        <p:spPr>
          <a:xfrm flipH="1">
            <a:off x="7558486" y="300776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5" name="向右箭號 294"/>
          <p:cNvSpPr/>
          <p:nvPr/>
        </p:nvSpPr>
        <p:spPr>
          <a:xfrm rot="5400000">
            <a:off x="348250" y="3928720"/>
            <a:ext cx="874460" cy="187554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8" name="五角星形 297"/>
          <p:cNvSpPr/>
          <p:nvPr/>
        </p:nvSpPr>
        <p:spPr>
          <a:xfrm>
            <a:off x="633999" y="4960725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291153" y="4510171"/>
            <a:ext cx="9765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已完成</a:t>
            </a:r>
            <a:endParaRPr lang="en-US" altLang="zh-TW" sz="10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測試區</a:t>
            </a:r>
          </a:p>
        </p:txBody>
      </p:sp>
      <p:sp>
        <p:nvSpPr>
          <p:cNvPr id="300" name="文字方塊 299"/>
          <p:cNvSpPr txBox="1"/>
          <p:nvPr/>
        </p:nvSpPr>
        <p:spPr>
          <a:xfrm>
            <a:off x="399322" y="5199427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1" name="向右箭號 300"/>
          <p:cNvSpPr/>
          <p:nvPr/>
        </p:nvSpPr>
        <p:spPr>
          <a:xfrm>
            <a:off x="2372160" y="502425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2" name="向右箭號 301"/>
          <p:cNvSpPr/>
          <p:nvPr/>
        </p:nvSpPr>
        <p:spPr>
          <a:xfrm>
            <a:off x="4942413" y="502425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4" name="向右箭號 303"/>
          <p:cNvSpPr/>
          <p:nvPr/>
        </p:nvSpPr>
        <p:spPr>
          <a:xfrm>
            <a:off x="1087034" y="502425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5" name="向右箭號 304"/>
          <p:cNvSpPr/>
          <p:nvPr/>
        </p:nvSpPr>
        <p:spPr>
          <a:xfrm>
            <a:off x="3657287" y="502425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6" name="向右箭號 305"/>
          <p:cNvSpPr/>
          <p:nvPr/>
        </p:nvSpPr>
        <p:spPr>
          <a:xfrm>
            <a:off x="7613622" y="5023888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7" name="向右箭號 306"/>
          <p:cNvSpPr/>
          <p:nvPr/>
        </p:nvSpPr>
        <p:spPr>
          <a:xfrm>
            <a:off x="8950468" y="5012066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2" name="橢圓 311"/>
          <p:cNvSpPr/>
          <p:nvPr/>
        </p:nvSpPr>
        <p:spPr>
          <a:xfrm>
            <a:off x="3927131" y="3803829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3573085" y="3566536"/>
            <a:ext cx="9333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照片複核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4" name="文字方塊 313"/>
          <p:cNvSpPr txBox="1"/>
          <p:nvPr/>
        </p:nvSpPr>
        <p:spPr>
          <a:xfrm>
            <a:off x="3797855" y="3975774"/>
            <a:ext cx="458386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sp>
        <p:nvSpPr>
          <p:cNvPr id="325" name="文字方塊 324"/>
          <p:cNvSpPr txBox="1"/>
          <p:nvPr/>
        </p:nvSpPr>
        <p:spPr>
          <a:xfrm>
            <a:off x="8935749" y="280998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1.5hr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8" name="文字方塊 327"/>
          <p:cNvSpPr txBox="1"/>
          <p:nvPr/>
        </p:nvSpPr>
        <p:spPr>
          <a:xfrm>
            <a:off x="3757067" y="280998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0" name="文字方塊 329"/>
          <p:cNvSpPr txBox="1"/>
          <p:nvPr/>
        </p:nvSpPr>
        <p:spPr>
          <a:xfrm>
            <a:off x="1188710" y="280998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2" name="文字方塊 331"/>
          <p:cNvSpPr txBox="1"/>
          <p:nvPr/>
        </p:nvSpPr>
        <p:spPr>
          <a:xfrm>
            <a:off x="7659325" y="279016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3" name="文字方塊 332"/>
          <p:cNvSpPr txBox="1"/>
          <p:nvPr/>
        </p:nvSpPr>
        <p:spPr>
          <a:xfrm>
            <a:off x="7596302" y="4814385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12hr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5" name="文字方塊 334"/>
          <p:cNvSpPr txBox="1"/>
          <p:nvPr/>
        </p:nvSpPr>
        <p:spPr>
          <a:xfrm>
            <a:off x="4923099" y="481469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6" name="文字方塊 335"/>
          <p:cNvSpPr txBox="1"/>
          <p:nvPr/>
        </p:nvSpPr>
        <p:spPr>
          <a:xfrm>
            <a:off x="3708776" y="4831318"/>
            <a:ext cx="6444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7" name="文字方塊 336"/>
          <p:cNvSpPr txBox="1"/>
          <p:nvPr/>
        </p:nvSpPr>
        <p:spPr>
          <a:xfrm>
            <a:off x="2387200" y="4831318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8" name="文字方塊 337"/>
          <p:cNvSpPr txBox="1"/>
          <p:nvPr/>
        </p:nvSpPr>
        <p:spPr>
          <a:xfrm>
            <a:off x="1140419" y="4831318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9" name="文字方塊 338"/>
          <p:cNvSpPr txBox="1"/>
          <p:nvPr/>
        </p:nvSpPr>
        <p:spPr>
          <a:xfrm>
            <a:off x="8999256" y="482422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1" name="文字方塊 340"/>
          <p:cNvSpPr txBox="1"/>
          <p:nvPr/>
        </p:nvSpPr>
        <p:spPr>
          <a:xfrm>
            <a:off x="10558064" y="5816405"/>
            <a:ext cx="4368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1" name="肘形接點 10"/>
          <p:cNvCxnSpPr>
            <a:cxnSpLocks/>
          </p:cNvCxnSpPr>
          <p:nvPr/>
        </p:nvCxnSpPr>
        <p:spPr>
          <a:xfrm rot="5400000">
            <a:off x="5584856" y="2262536"/>
            <a:ext cx="335363" cy="2954025"/>
          </a:xfrm>
          <a:prstGeom prst="bentConnector2">
            <a:avLst/>
          </a:prstGeom>
          <a:ln w="381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肘形接點 344"/>
          <p:cNvCxnSpPr>
            <a:cxnSpLocks/>
            <a:endCxn id="266" idx="0"/>
          </p:cNvCxnSpPr>
          <p:nvPr/>
        </p:nvCxnSpPr>
        <p:spPr>
          <a:xfrm rot="10800000" flipV="1">
            <a:off x="2097852" y="3896221"/>
            <a:ext cx="1734305" cy="683203"/>
          </a:xfrm>
          <a:prstGeom prst="bentConnector2">
            <a:avLst/>
          </a:prstGeom>
          <a:ln w="381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矩形 345"/>
          <p:cNvSpPr/>
          <p:nvPr/>
        </p:nvSpPr>
        <p:spPr>
          <a:xfrm>
            <a:off x="2697146" y="3947960"/>
            <a:ext cx="7700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報告紙</a:t>
            </a:r>
          </a:p>
        </p:txBody>
      </p:sp>
      <p:sp>
        <p:nvSpPr>
          <p:cNvPr id="347" name="文字方塊 346"/>
          <p:cNvSpPr txBox="1"/>
          <p:nvPr/>
        </p:nvSpPr>
        <p:spPr>
          <a:xfrm>
            <a:off x="2724458" y="3659006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0" name="向右箭號 349"/>
          <p:cNvSpPr/>
          <p:nvPr/>
        </p:nvSpPr>
        <p:spPr>
          <a:xfrm rot="10800000">
            <a:off x="6696589" y="6023939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1" name="文字方塊 350"/>
          <p:cNvSpPr txBox="1"/>
          <p:nvPr/>
        </p:nvSpPr>
        <p:spPr>
          <a:xfrm>
            <a:off x="6819807" y="574384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2" name="向右箭號 351"/>
          <p:cNvSpPr/>
          <p:nvPr/>
        </p:nvSpPr>
        <p:spPr>
          <a:xfrm rot="10800000">
            <a:off x="8683977" y="602741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3" name="文字方塊 352"/>
          <p:cNvSpPr txBox="1"/>
          <p:nvPr/>
        </p:nvSpPr>
        <p:spPr>
          <a:xfrm>
            <a:off x="8782469" y="5744686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4" name="向右箭號 353"/>
          <p:cNvSpPr/>
          <p:nvPr/>
        </p:nvSpPr>
        <p:spPr>
          <a:xfrm rot="10800000">
            <a:off x="10547345" y="6012838"/>
            <a:ext cx="395572" cy="149783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1065436" y="2543228"/>
            <a:ext cx="652552" cy="405542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5581639" y="2483972"/>
            <a:ext cx="723376" cy="337505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0" name="向右箭號 204">
            <a:extLst>
              <a:ext uri="{FF2B5EF4-FFF2-40B4-BE49-F238E27FC236}">
                <a16:creationId xmlns:a16="http://schemas.microsoft.com/office/drawing/2014/main" id="{0FE76D59-6F1A-4F99-9908-BF2C9083A3D0}"/>
              </a:ext>
            </a:extLst>
          </p:cNvPr>
          <p:cNvSpPr/>
          <p:nvPr/>
        </p:nvSpPr>
        <p:spPr>
          <a:xfrm>
            <a:off x="10307014" y="5028577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B7F56EA0-575B-4A73-A568-862A8B95CF4E}"/>
              </a:ext>
            </a:extLst>
          </p:cNvPr>
          <p:cNvSpPr/>
          <p:nvPr/>
        </p:nvSpPr>
        <p:spPr>
          <a:xfrm>
            <a:off x="10994045" y="4494437"/>
            <a:ext cx="80864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依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Plan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需求送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BCDC</a:t>
            </a:r>
            <a:endParaRPr lang="en-US" altLang="zh-TW" sz="1000" b="1" noProof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30A91DFF-68CF-41C8-940C-26CDBD939270}"/>
              </a:ext>
            </a:extLst>
          </p:cNvPr>
          <p:cNvSpPr txBox="1"/>
          <p:nvPr/>
        </p:nvSpPr>
        <p:spPr>
          <a:xfrm>
            <a:off x="10410297" y="4828437"/>
            <a:ext cx="524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9263ED5D-05CF-4029-9F9F-C250CFD08FD8}"/>
              </a:ext>
            </a:extLst>
          </p:cNvPr>
          <p:cNvSpPr/>
          <p:nvPr/>
        </p:nvSpPr>
        <p:spPr>
          <a:xfrm>
            <a:off x="11289621" y="499174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7" name="文字方塊 186">
            <a:extLst>
              <a:ext uri="{FF2B5EF4-FFF2-40B4-BE49-F238E27FC236}">
                <a16:creationId xmlns:a16="http://schemas.microsoft.com/office/drawing/2014/main" id="{7CFD2A7A-AD97-4C19-A252-CEC1C3DBA087}"/>
              </a:ext>
            </a:extLst>
          </p:cNvPr>
          <p:cNvSpPr txBox="1"/>
          <p:nvPr/>
        </p:nvSpPr>
        <p:spPr>
          <a:xfrm>
            <a:off x="11174663" y="5189007"/>
            <a:ext cx="434734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Wen</a:t>
            </a:r>
            <a:endParaRPr lang="en-US" altLang="zh-TW" sz="1000" b="1" noProof="0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8" name="向右箭號 204">
            <a:extLst>
              <a:ext uri="{FF2B5EF4-FFF2-40B4-BE49-F238E27FC236}">
                <a16:creationId xmlns:a16="http://schemas.microsoft.com/office/drawing/2014/main" id="{38B3D6B4-ED7F-44C7-BB36-7FAB8B7D453F}"/>
              </a:ext>
            </a:extLst>
          </p:cNvPr>
          <p:cNvSpPr/>
          <p:nvPr/>
        </p:nvSpPr>
        <p:spPr>
          <a:xfrm rot="5400000">
            <a:off x="11255855" y="5502296"/>
            <a:ext cx="264207" cy="15091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FF22CE8F-91B2-49DB-8A09-E4389DF9D673}"/>
              </a:ext>
            </a:extLst>
          </p:cNvPr>
          <p:cNvSpPr/>
          <p:nvPr/>
        </p:nvSpPr>
        <p:spPr>
          <a:xfrm>
            <a:off x="11364492" y="6282884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0D743E59-4AF2-46EB-B311-CB637C80EF98}"/>
              </a:ext>
            </a:extLst>
          </p:cNvPr>
          <p:cNvSpPr/>
          <p:nvPr/>
        </p:nvSpPr>
        <p:spPr>
          <a:xfrm>
            <a:off x="10655331" y="5684354"/>
            <a:ext cx="15290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目檢組 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</a:t>
            </a: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補拍照 </a:t>
            </a:r>
            <a:r>
              <a:rPr lang="en-US" altLang="zh-TW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(drop)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測色差 </a:t>
            </a: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(UV)</a:t>
            </a:r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5708F909-65E1-4D16-86F4-F58DF775538E}"/>
              </a:ext>
            </a:extLst>
          </p:cNvPr>
          <p:cNvSpPr txBox="1"/>
          <p:nvPr/>
        </p:nvSpPr>
        <p:spPr>
          <a:xfrm>
            <a:off x="11159050" y="6458663"/>
            <a:ext cx="580608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Tammy</a:t>
            </a:r>
          </a:p>
        </p:txBody>
      </p:sp>
      <p:sp>
        <p:nvSpPr>
          <p:cNvPr id="192" name="文字方塊 191">
            <a:extLst>
              <a:ext uri="{FF2B5EF4-FFF2-40B4-BE49-F238E27FC236}">
                <a16:creationId xmlns:a16="http://schemas.microsoft.com/office/drawing/2014/main" id="{993043C0-5456-45CB-B0DB-9A024F8B7215}"/>
              </a:ext>
            </a:extLst>
          </p:cNvPr>
          <p:cNvSpPr txBox="1"/>
          <p:nvPr/>
        </p:nvSpPr>
        <p:spPr>
          <a:xfrm>
            <a:off x="11410850" y="5409437"/>
            <a:ext cx="6699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 day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橢圓 203">
            <a:extLst>
              <a:ext uri="{FF2B5EF4-FFF2-40B4-BE49-F238E27FC236}">
                <a16:creationId xmlns:a16="http://schemas.microsoft.com/office/drawing/2014/main" id="{9D7233FF-6505-4824-8C85-7303AF82972D}"/>
              </a:ext>
            </a:extLst>
          </p:cNvPr>
          <p:cNvSpPr/>
          <p:nvPr/>
        </p:nvSpPr>
        <p:spPr>
          <a:xfrm rot="19223336">
            <a:off x="2662260" y="5027683"/>
            <a:ext cx="133183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F950FE24-8C33-4B2B-91D6-E2DE30F91A59}"/>
              </a:ext>
            </a:extLst>
          </p:cNvPr>
          <p:cNvSpPr txBox="1"/>
          <p:nvPr/>
        </p:nvSpPr>
        <p:spPr>
          <a:xfrm>
            <a:off x="1997251" y="5662531"/>
            <a:ext cx="18198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1.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報告紙管理機制</a:t>
            </a:r>
          </a:p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2. Recon / Rel Report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比對腳本</a:t>
            </a:r>
          </a:p>
        </p:txBody>
      </p:sp>
      <p:cxnSp>
        <p:nvCxnSpPr>
          <p:cNvPr id="223" name="接點: 弧形 222">
            <a:extLst>
              <a:ext uri="{FF2B5EF4-FFF2-40B4-BE49-F238E27FC236}">
                <a16:creationId xmlns:a16="http://schemas.microsoft.com/office/drawing/2014/main" id="{50114167-B683-4999-8232-842AA9348569}"/>
              </a:ext>
            </a:extLst>
          </p:cNvPr>
          <p:cNvCxnSpPr>
            <a:cxnSpLocks/>
            <a:stCxn id="204" idx="3"/>
            <a:endCxn id="217" idx="0"/>
          </p:cNvCxnSpPr>
          <p:nvPr/>
        </p:nvCxnSpPr>
        <p:spPr>
          <a:xfrm rot="16200000" flipH="1">
            <a:off x="2569314" y="5324649"/>
            <a:ext cx="493604" cy="182160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橢圓 179">
            <a:extLst>
              <a:ext uri="{FF2B5EF4-FFF2-40B4-BE49-F238E27FC236}">
                <a16:creationId xmlns:a16="http://schemas.microsoft.com/office/drawing/2014/main" id="{758F0767-35FE-48CF-A447-7E68339FA934}"/>
              </a:ext>
            </a:extLst>
          </p:cNvPr>
          <p:cNvSpPr/>
          <p:nvPr/>
        </p:nvSpPr>
        <p:spPr>
          <a:xfrm rot="15205868">
            <a:off x="9854520" y="3032042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0" name="文字方塊 229">
            <a:extLst>
              <a:ext uri="{FF2B5EF4-FFF2-40B4-BE49-F238E27FC236}">
                <a16:creationId xmlns:a16="http://schemas.microsoft.com/office/drawing/2014/main" id="{914A7A06-DB36-4FC3-969B-F8F5AA95978A}"/>
              </a:ext>
            </a:extLst>
          </p:cNvPr>
          <p:cNvSpPr txBox="1"/>
          <p:nvPr/>
        </p:nvSpPr>
        <p:spPr>
          <a:xfrm>
            <a:off x="10223330" y="3522555"/>
            <a:ext cx="1307634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*Auto-Photo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Station</a:t>
            </a:r>
            <a:endParaRPr lang="zh-TW" altLang="en-US" sz="10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235" name="接點: 弧形 234">
            <a:extLst>
              <a:ext uri="{FF2B5EF4-FFF2-40B4-BE49-F238E27FC236}">
                <a16:creationId xmlns:a16="http://schemas.microsoft.com/office/drawing/2014/main" id="{A091ACAB-9395-4BE5-8EA9-E7DDF4336E23}"/>
              </a:ext>
            </a:extLst>
          </p:cNvPr>
          <p:cNvCxnSpPr>
            <a:cxnSpLocks/>
            <a:stCxn id="180" idx="3"/>
            <a:endCxn id="230" idx="0"/>
          </p:cNvCxnSpPr>
          <p:nvPr/>
        </p:nvCxnSpPr>
        <p:spPr>
          <a:xfrm>
            <a:off x="9956007" y="3111752"/>
            <a:ext cx="921140" cy="41080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橢圓 235">
            <a:extLst>
              <a:ext uri="{FF2B5EF4-FFF2-40B4-BE49-F238E27FC236}">
                <a16:creationId xmlns:a16="http://schemas.microsoft.com/office/drawing/2014/main" id="{F19D1CBE-3680-4B81-8C50-C30453DDEA86}"/>
              </a:ext>
            </a:extLst>
          </p:cNvPr>
          <p:cNvSpPr/>
          <p:nvPr/>
        </p:nvSpPr>
        <p:spPr>
          <a:xfrm rot="5400000">
            <a:off x="4987989" y="382821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7" name="文字方塊 236">
            <a:extLst>
              <a:ext uri="{FF2B5EF4-FFF2-40B4-BE49-F238E27FC236}">
                <a16:creationId xmlns:a16="http://schemas.microsoft.com/office/drawing/2014/main" id="{3D7E23DE-B1A6-498B-9385-02EF244F326A}"/>
              </a:ext>
            </a:extLst>
          </p:cNvPr>
          <p:cNvSpPr txBox="1"/>
          <p:nvPr/>
        </p:nvSpPr>
        <p:spPr>
          <a:xfrm>
            <a:off x="5558704" y="3604041"/>
            <a:ext cx="1307634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照片自動同步腳本</a:t>
            </a:r>
          </a:p>
        </p:txBody>
      </p:sp>
      <p:cxnSp>
        <p:nvCxnSpPr>
          <p:cNvPr id="238" name="接點: 弧形 237">
            <a:extLst>
              <a:ext uri="{FF2B5EF4-FFF2-40B4-BE49-F238E27FC236}">
                <a16:creationId xmlns:a16="http://schemas.microsoft.com/office/drawing/2014/main" id="{EC1D7D3A-881C-4B4F-A54A-D65906AB79CB}"/>
              </a:ext>
            </a:extLst>
          </p:cNvPr>
          <p:cNvCxnSpPr>
            <a:cxnSpLocks/>
            <a:stCxn id="236" idx="2"/>
            <a:endCxn id="237" idx="0"/>
          </p:cNvCxnSpPr>
          <p:nvPr/>
        </p:nvCxnSpPr>
        <p:spPr>
          <a:xfrm rot="5400000" flipH="1" flipV="1">
            <a:off x="5524168" y="3139862"/>
            <a:ext cx="224174" cy="1152532"/>
          </a:xfrm>
          <a:prstGeom prst="curvedConnector3">
            <a:avLst>
              <a:gd name="adj1" fmla="val 20197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字方塊 238">
            <a:extLst>
              <a:ext uri="{FF2B5EF4-FFF2-40B4-BE49-F238E27FC236}">
                <a16:creationId xmlns:a16="http://schemas.microsoft.com/office/drawing/2014/main" id="{65D2B40F-3D20-4DC7-8B0B-BA46F6873463}"/>
              </a:ext>
            </a:extLst>
          </p:cNvPr>
          <p:cNvSpPr txBox="1"/>
          <p:nvPr/>
        </p:nvSpPr>
        <p:spPr>
          <a:xfrm>
            <a:off x="3283008" y="2035777"/>
            <a:ext cx="13621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1.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自動匯總報告腳本</a:t>
            </a:r>
          </a:p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2.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數據核對腳本</a:t>
            </a:r>
          </a:p>
        </p:txBody>
      </p:sp>
      <p:sp>
        <p:nvSpPr>
          <p:cNvPr id="240" name="橢圓 239">
            <a:extLst>
              <a:ext uri="{FF2B5EF4-FFF2-40B4-BE49-F238E27FC236}">
                <a16:creationId xmlns:a16="http://schemas.microsoft.com/office/drawing/2014/main" id="{042BAF98-D439-4CA7-862E-2CECFCE1645F}"/>
              </a:ext>
            </a:extLst>
          </p:cNvPr>
          <p:cNvSpPr/>
          <p:nvPr/>
        </p:nvSpPr>
        <p:spPr>
          <a:xfrm rot="12729876">
            <a:off x="2891399" y="300387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1" name="接點: 弧形 240">
            <a:extLst>
              <a:ext uri="{FF2B5EF4-FFF2-40B4-BE49-F238E27FC236}">
                <a16:creationId xmlns:a16="http://schemas.microsoft.com/office/drawing/2014/main" id="{01C83B10-DF24-4FF8-BCC0-3F75B74226E4}"/>
              </a:ext>
            </a:extLst>
          </p:cNvPr>
          <p:cNvCxnSpPr>
            <a:cxnSpLocks/>
            <a:stCxn id="240" idx="5"/>
            <a:endCxn id="239" idx="1"/>
          </p:cNvCxnSpPr>
          <p:nvPr/>
        </p:nvCxnSpPr>
        <p:spPr>
          <a:xfrm rot="5400000" flipH="1" flipV="1">
            <a:off x="2730284" y="2452952"/>
            <a:ext cx="769844" cy="335604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字方塊 328"/>
          <p:cNvSpPr txBox="1"/>
          <p:nvPr/>
        </p:nvSpPr>
        <p:spPr>
          <a:xfrm>
            <a:off x="2549449" y="2801233"/>
            <a:ext cx="490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3" name="文字方塊 262">
            <a:extLst>
              <a:ext uri="{FF2B5EF4-FFF2-40B4-BE49-F238E27FC236}">
                <a16:creationId xmlns:a16="http://schemas.microsoft.com/office/drawing/2014/main" id="{9C972486-B37B-4401-BF08-1C4D3B74ADC5}"/>
              </a:ext>
            </a:extLst>
          </p:cNvPr>
          <p:cNvSpPr txBox="1"/>
          <p:nvPr/>
        </p:nvSpPr>
        <p:spPr>
          <a:xfrm>
            <a:off x="5504494" y="4304248"/>
            <a:ext cx="1471590" cy="25391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Pre Tx TT: 1.7</a:t>
            </a:r>
            <a:r>
              <a: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Days</a:t>
            </a:r>
          </a:p>
        </p:txBody>
      </p:sp>
      <p:sp>
        <p:nvSpPr>
          <p:cNvPr id="268" name="文字方塊 267">
            <a:extLst>
              <a:ext uri="{FF2B5EF4-FFF2-40B4-BE49-F238E27FC236}">
                <a16:creationId xmlns:a16="http://schemas.microsoft.com/office/drawing/2014/main" id="{777A7FA5-A54F-4E46-9664-70251E1DE077}"/>
              </a:ext>
            </a:extLst>
          </p:cNvPr>
          <p:cNvSpPr txBox="1"/>
          <p:nvPr/>
        </p:nvSpPr>
        <p:spPr>
          <a:xfrm>
            <a:off x="230157" y="2016450"/>
            <a:ext cx="1021193" cy="41549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TT: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2.2 Days</a:t>
            </a:r>
          </a:p>
        </p:txBody>
      </p: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E33C1FCC-CBEF-4BC0-8862-E63FE8D117DD}"/>
              </a:ext>
            </a:extLst>
          </p:cNvPr>
          <p:cNvSpPr txBox="1"/>
          <p:nvPr/>
        </p:nvSpPr>
        <p:spPr>
          <a:xfrm>
            <a:off x="5539658" y="1985972"/>
            <a:ext cx="896400" cy="41549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TT: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 </a:t>
            </a:r>
            <a:r>
              <a:rPr lang="en-US" altLang="zh-TW" sz="1050" b="1" dirty="0" err="1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Hrs</a:t>
            </a:r>
            <a:endParaRPr lang="en-US" altLang="zh-TW" sz="105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5AA8175-7398-4B2F-8AF0-A07B5FFA94BF}"/>
              </a:ext>
            </a:extLst>
          </p:cNvPr>
          <p:cNvSpPr/>
          <p:nvPr/>
        </p:nvSpPr>
        <p:spPr>
          <a:xfrm>
            <a:off x="5585775" y="4613267"/>
            <a:ext cx="9052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整合</a:t>
            </a:r>
            <a:r>
              <a:rPr lang="en-US" altLang="zh-TW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EPM</a:t>
            </a:r>
            <a:r>
              <a:rPr lang="zh-TW" altLang="en-US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提供組裝訊息</a:t>
            </a:r>
            <a:endParaRPr lang="en-US" altLang="zh-TW" sz="1000" b="1" noProof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1" name="橢圓 280">
            <a:extLst>
              <a:ext uri="{FF2B5EF4-FFF2-40B4-BE49-F238E27FC236}">
                <a16:creationId xmlns:a16="http://schemas.microsoft.com/office/drawing/2014/main" id="{288E2A1D-8501-47DF-B725-0A1A6416EB0B}"/>
              </a:ext>
            </a:extLst>
          </p:cNvPr>
          <p:cNvSpPr/>
          <p:nvPr/>
        </p:nvSpPr>
        <p:spPr>
          <a:xfrm>
            <a:off x="5936031" y="50130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2" name="文字方塊 281">
            <a:extLst>
              <a:ext uri="{FF2B5EF4-FFF2-40B4-BE49-F238E27FC236}">
                <a16:creationId xmlns:a16="http://schemas.microsoft.com/office/drawing/2014/main" id="{D5A09C07-F061-447A-90FF-9B58D8B34EC4}"/>
              </a:ext>
            </a:extLst>
          </p:cNvPr>
          <p:cNvSpPr txBox="1"/>
          <p:nvPr/>
        </p:nvSpPr>
        <p:spPr>
          <a:xfrm>
            <a:off x="5834284" y="5322396"/>
            <a:ext cx="365806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PM</a:t>
            </a:r>
            <a:endParaRPr lang="en-US" altLang="zh-TW" sz="1000" b="1" noProof="0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83" name="向右箭號 301">
            <a:extLst>
              <a:ext uri="{FF2B5EF4-FFF2-40B4-BE49-F238E27FC236}">
                <a16:creationId xmlns:a16="http://schemas.microsoft.com/office/drawing/2014/main" id="{4EDFA080-704F-4473-92F0-CD0607C67190}"/>
              </a:ext>
            </a:extLst>
          </p:cNvPr>
          <p:cNvSpPr/>
          <p:nvPr/>
        </p:nvSpPr>
        <p:spPr>
          <a:xfrm>
            <a:off x="6331777" y="501873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0" name="文字方塊 289">
            <a:extLst>
              <a:ext uri="{FF2B5EF4-FFF2-40B4-BE49-F238E27FC236}">
                <a16:creationId xmlns:a16="http://schemas.microsoft.com/office/drawing/2014/main" id="{F5F41026-77C4-4FA0-A139-D063FDA61405}"/>
              </a:ext>
            </a:extLst>
          </p:cNvPr>
          <p:cNvSpPr txBox="1"/>
          <p:nvPr/>
        </p:nvSpPr>
        <p:spPr>
          <a:xfrm>
            <a:off x="6312463" y="4809180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94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: 圓角 160">
            <a:extLst>
              <a:ext uri="{FF2B5EF4-FFF2-40B4-BE49-F238E27FC236}">
                <a16:creationId xmlns:a16="http://schemas.microsoft.com/office/drawing/2014/main" id="{BD6E870F-1A4C-42A8-B2EA-C98DBFD6FDFA}"/>
              </a:ext>
            </a:extLst>
          </p:cNvPr>
          <p:cNvSpPr/>
          <p:nvPr/>
        </p:nvSpPr>
        <p:spPr>
          <a:xfrm>
            <a:off x="88246" y="2526903"/>
            <a:ext cx="4195775" cy="4243394"/>
          </a:xfrm>
          <a:prstGeom prst="roundRect">
            <a:avLst>
              <a:gd name="adj" fmla="val 6197"/>
            </a:avLst>
          </a:prstGeom>
          <a:solidFill>
            <a:srgbClr val="00B050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9" name="矩形: 圓角 188">
            <a:extLst>
              <a:ext uri="{FF2B5EF4-FFF2-40B4-BE49-F238E27FC236}">
                <a16:creationId xmlns:a16="http://schemas.microsoft.com/office/drawing/2014/main" id="{4863A603-3E5E-49FE-899D-5B1F21D32CB3}"/>
              </a:ext>
            </a:extLst>
          </p:cNvPr>
          <p:cNvSpPr/>
          <p:nvPr/>
        </p:nvSpPr>
        <p:spPr>
          <a:xfrm>
            <a:off x="111500" y="715224"/>
            <a:ext cx="11967169" cy="1749301"/>
          </a:xfrm>
          <a:prstGeom prst="roundRect">
            <a:avLst>
              <a:gd name="adj" fmla="val 6197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8" name="矩形: 圓角 187">
            <a:extLst>
              <a:ext uri="{FF2B5EF4-FFF2-40B4-BE49-F238E27FC236}">
                <a16:creationId xmlns:a16="http://schemas.microsoft.com/office/drawing/2014/main" id="{EB31E4A0-CF40-4544-8979-00DB5120EEBB}"/>
              </a:ext>
            </a:extLst>
          </p:cNvPr>
          <p:cNvSpPr/>
          <p:nvPr/>
        </p:nvSpPr>
        <p:spPr>
          <a:xfrm>
            <a:off x="9922532" y="4905697"/>
            <a:ext cx="2156137" cy="1864600"/>
          </a:xfrm>
          <a:prstGeom prst="roundRect">
            <a:avLst>
              <a:gd name="adj" fmla="val 6197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7" name="矩形: 圓角 186">
            <a:extLst>
              <a:ext uri="{FF2B5EF4-FFF2-40B4-BE49-F238E27FC236}">
                <a16:creationId xmlns:a16="http://schemas.microsoft.com/office/drawing/2014/main" id="{08DAAC96-44F1-4646-A407-03392A473AAB}"/>
              </a:ext>
            </a:extLst>
          </p:cNvPr>
          <p:cNvSpPr/>
          <p:nvPr/>
        </p:nvSpPr>
        <p:spPr>
          <a:xfrm>
            <a:off x="4339742" y="4902212"/>
            <a:ext cx="5527069" cy="1868085"/>
          </a:xfrm>
          <a:prstGeom prst="roundRect">
            <a:avLst>
              <a:gd name="adj" fmla="val 6197"/>
            </a:avLst>
          </a:prstGeom>
          <a:solidFill>
            <a:schemeClr val="accent4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0" name="矩形: 圓角 169">
            <a:extLst>
              <a:ext uri="{FF2B5EF4-FFF2-40B4-BE49-F238E27FC236}">
                <a16:creationId xmlns:a16="http://schemas.microsoft.com/office/drawing/2014/main" id="{4C6732C9-52B5-4045-949F-60B88F6240D3}"/>
              </a:ext>
            </a:extLst>
          </p:cNvPr>
          <p:cNvSpPr/>
          <p:nvPr/>
        </p:nvSpPr>
        <p:spPr>
          <a:xfrm>
            <a:off x="4349248" y="2528506"/>
            <a:ext cx="7742523" cy="2320551"/>
          </a:xfrm>
          <a:prstGeom prst="roundRect">
            <a:avLst>
              <a:gd name="adj" fmla="val 6197"/>
            </a:avLst>
          </a:prstGeom>
          <a:solidFill>
            <a:srgbClr val="5A2781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0" name="向右箭號 129"/>
          <p:cNvSpPr/>
          <p:nvPr/>
        </p:nvSpPr>
        <p:spPr>
          <a:xfrm>
            <a:off x="1030174" y="17208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橢圓 132">
            <a:hlinkClick r:id="rId3" action="ppaction://hlinkpres?slideindex=1&amp;slidetitle="/>
          </p:cNvPr>
          <p:cNvSpPr/>
          <p:nvPr/>
        </p:nvSpPr>
        <p:spPr>
          <a:xfrm>
            <a:off x="555941" y="168452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76213" y="1274354"/>
            <a:ext cx="12239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TX Start</a:t>
            </a:r>
          </a:p>
        </p:txBody>
      </p:sp>
      <p:sp>
        <p:nvSpPr>
          <p:cNvPr id="167" name="向右箭號 166"/>
          <p:cNvSpPr/>
          <p:nvPr/>
        </p:nvSpPr>
        <p:spPr>
          <a:xfrm>
            <a:off x="2444238" y="17208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文字方塊 167"/>
          <p:cNvSpPr txBox="1"/>
          <p:nvPr/>
        </p:nvSpPr>
        <p:spPr>
          <a:xfrm>
            <a:off x="204429" y="1998188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594775" y="968621"/>
            <a:ext cx="1132826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Center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IN</a:t>
            </a:r>
          </a:p>
        </p:txBody>
      </p:sp>
      <p:pic>
        <p:nvPicPr>
          <p:cNvPr id="120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874760" y="1543927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文字方塊 120"/>
          <p:cNvSpPr txBox="1"/>
          <p:nvPr/>
        </p:nvSpPr>
        <p:spPr>
          <a:xfrm>
            <a:off x="1608232" y="1995745"/>
            <a:ext cx="99257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151" name="橢圓 150"/>
          <p:cNvSpPr/>
          <p:nvPr/>
        </p:nvSpPr>
        <p:spPr>
          <a:xfrm>
            <a:off x="3502698" y="172708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2762814" y="1187705"/>
            <a:ext cx="1665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Recon</a:t>
            </a:r>
          </a:p>
          <a:p>
            <a:pPr lvl="0"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Tagging</a:t>
            </a:r>
          </a:p>
        </p:txBody>
      </p:sp>
      <p:sp>
        <p:nvSpPr>
          <p:cNvPr id="153" name="文字方塊 152"/>
          <p:cNvSpPr txBox="1"/>
          <p:nvPr/>
        </p:nvSpPr>
        <p:spPr>
          <a:xfrm>
            <a:off x="3099484" y="1990703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7" name="橢圓 136"/>
          <p:cNvSpPr/>
          <p:nvPr/>
        </p:nvSpPr>
        <p:spPr>
          <a:xfrm>
            <a:off x="4745693" y="1696237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4295900" y="1209556"/>
            <a:ext cx="10946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測試組測試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前</a:t>
            </a:r>
            <a:endParaRPr lang="en-US" altLang="zh-TW" sz="1000" b="1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SYS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Ｗ</a:t>
            </a: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eight</a:t>
            </a:r>
          </a:p>
        </p:txBody>
      </p:sp>
      <p:sp>
        <p:nvSpPr>
          <p:cNvPr id="139" name="文字方塊 138"/>
          <p:cNvSpPr txBox="1"/>
          <p:nvPr/>
        </p:nvSpPr>
        <p:spPr>
          <a:xfrm>
            <a:off x="4364127" y="1996317"/>
            <a:ext cx="992579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142" name="向右箭號 141"/>
          <p:cNvSpPr/>
          <p:nvPr/>
        </p:nvSpPr>
        <p:spPr>
          <a:xfrm>
            <a:off x="6429440" y="172679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0" name="橢圓 149"/>
          <p:cNvSpPr/>
          <p:nvPr/>
        </p:nvSpPr>
        <p:spPr>
          <a:xfrm>
            <a:off x="6018994" y="1694282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5358341" y="1144419"/>
            <a:ext cx="1529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TX CP1 </a:t>
            </a:r>
          </a:p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Finish</a:t>
            </a:r>
          </a:p>
        </p:txBody>
      </p:sp>
      <p:sp>
        <p:nvSpPr>
          <p:cNvPr id="200" name="文字方塊 199"/>
          <p:cNvSpPr txBox="1"/>
          <p:nvPr/>
        </p:nvSpPr>
        <p:spPr>
          <a:xfrm>
            <a:off x="5654807" y="1998187"/>
            <a:ext cx="992579" cy="24622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224" name="向右箭號 223"/>
          <p:cNvSpPr/>
          <p:nvPr/>
        </p:nvSpPr>
        <p:spPr>
          <a:xfrm>
            <a:off x="5125737" y="172147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6" name="橢圓 225"/>
          <p:cNvSpPr/>
          <p:nvPr/>
        </p:nvSpPr>
        <p:spPr>
          <a:xfrm>
            <a:off x="7311402" y="1694702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6497158" y="874085"/>
            <a:ext cx="18424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測試組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</a:t>
            </a: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後，按</a:t>
            </a:r>
            <a:r>
              <a:rPr lang="en-US" altLang="zh-TW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CP</a:t>
            </a: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需求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1.SYS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Ｗ</a:t>
            </a: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2.Hinge Torque</a:t>
            </a:r>
          </a:p>
          <a:p>
            <a:pPr lvl="0" algn="ctr">
              <a:defRPr/>
            </a:pPr>
            <a:r>
              <a:rPr lang="en-US" altLang="zh-TW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3. Button Tactility</a:t>
            </a:r>
            <a:r>
              <a:rPr lang="en-US" altLang="zh-TW" sz="1000" b="1" noProof="0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28" name="文字方塊 227"/>
          <p:cNvSpPr txBox="1"/>
          <p:nvPr/>
        </p:nvSpPr>
        <p:spPr>
          <a:xfrm>
            <a:off x="6918190" y="1995744"/>
            <a:ext cx="992579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229" name="向右箭號 228"/>
          <p:cNvSpPr/>
          <p:nvPr/>
        </p:nvSpPr>
        <p:spPr>
          <a:xfrm>
            <a:off x="9214508" y="17208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0" name="向右箭號 229"/>
          <p:cNvSpPr/>
          <p:nvPr/>
        </p:nvSpPr>
        <p:spPr>
          <a:xfrm>
            <a:off x="10593802" y="17208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8307239" y="1002714"/>
            <a:ext cx="1255480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Center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 OUT</a:t>
            </a:r>
          </a:p>
        </p:txBody>
      </p:sp>
      <p:pic>
        <p:nvPicPr>
          <p:cNvPr id="23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8706515" y="1514995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文字方塊 237"/>
          <p:cNvSpPr txBox="1"/>
          <p:nvPr/>
        </p:nvSpPr>
        <p:spPr>
          <a:xfrm>
            <a:off x="8438690" y="1988418"/>
            <a:ext cx="99257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pic>
        <p:nvPicPr>
          <p:cNvPr id="239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520" y="1590013"/>
            <a:ext cx="292793" cy="2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0" name="文字方塊 239"/>
          <p:cNvSpPr txBox="1"/>
          <p:nvPr/>
        </p:nvSpPr>
        <p:spPr>
          <a:xfrm>
            <a:off x="9404624" y="969413"/>
            <a:ext cx="17365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測試組郵件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通知目檢機台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測試完成</a:t>
            </a:r>
          </a:p>
        </p:txBody>
      </p:sp>
      <p:sp>
        <p:nvSpPr>
          <p:cNvPr id="241" name="文字方塊 240"/>
          <p:cNvSpPr txBox="1"/>
          <p:nvPr/>
        </p:nvSpPr>
        <p:spPr>
          <a:xfrm>
            <a:off x="9739949" y="1968239"/>
            <a:ext cx="1116368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242" name="五角星形 241"/>
          <p:cNvSpPr/>
          <p:nvPr/>
        </p:nvSpPr>
        <p:spPr>
          <a:xfrm>
            <a:off x="11433767" y="1630974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4" name="向右箭號 243"/>
          <p:cNvSpPr/>
          <p:nvPr/>
        </p:nvSpPr>
        <p:spPr>
          <a:xfrm>
            <a:off x="7728018" y="172919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11037439" y="2692518"/>
            <a:ext cx="1015642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 IN</a:t>
            </a:r>
          </a:p>
        </p:txBody>
      </p:sp>
      <p:pic>
        <p:nvPicPr>
          <p:cNvPr id="24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1374754" y="3217670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8" name="文字方塊 247"/>
          <p:cNvSpPr txBox="1"/>
          <p:nvPr/>
        </p:nvSpPr>
        <p:spPr>
          <a:xfrm>
            <a:off x="11260449" y="3627671"/>
            <a:ext cx="580608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Tammy</a:t>
            </a:r>
          </a:p>
        </p:txBody>
      </p:sp>
      <p:sp>
        <p:nvSpPr>
          <p:cNvPr id="257" name="橢圓 256"/>
          <p:cNvSpPr/>
          <p:nvPr/>
        </p:nvSpPr>
        <p:spPr>
          <a:xfrm>
            <a:off x="10177961" y="334186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9506513" y="2894396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目檢</a:t>
            </a:r>
          </a:p>
        </p:txBody>
      </p:sp>
      <p:sp>
        <p:nvSpPr>
          <p:cNvPr id="259" name="文字方塊 258"/>
          <p:cNvSpPr txBox="1"/>
          <p:nvPr/>
        </p:nvSpPr>
        <p:spPr>
          <a:xfrm>
            <a:off x="9990329" y="3622892"/>
            <a:ext cx="580608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Tammy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79" name="五角星形 278"/>
          <p:cNvSpPr/>
          <p:nvPr/>
        </p:nvSpPr>
        <p:spPr>
          <a:xfrm>
            <a:off x="8736319" y="3307468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1" name="橢圓 280"/>
          <p:cNvSpPr/>
          <p:nvPr/>
        </p:nvSpPr>
        <p:spPr>
          <a:xfrm>
            <a:off x="7404422" y="334186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6734749" y="2935663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</a:t>
            </a:r>
          </a:p>
        </p:txBody>
      </p:sp>
      <p:sp>
        <p:nvSpPr>
          <p:cNvPr id="283" name="文字方塊 282"/>
          <p:cNvSpPr txBox="1"/>
          <p:nvPr/>
        </p:nvSpPr>
        <p:spPr>
          <a:xfrm>
            <a:off x="7263144" y="3622892"/>
            <a:ext cx="42672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5510591" y="2659764"/>
            <a:ext cx="1214726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OUT</a:t>
            </a:r>
          </a:p>
        </p:txBody>
      </p:sp>
      <p:pic>
        <p:nvPicPr>
          <p:cNvPr id="286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5838420" y="3175526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" name="文字方塊 286"/>
          <p:cNvSpPr txBox="1"/>
          <p:nvPr/>
        </p:nvSpPr>
        <p:spPr>
          <a:xfrm>
            <a:off x="5797526" y="3612236"/>
            <a:ext cx="42672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pic>
        <p:nvPicPr>
          <p:cNvPr id="289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839" y="3306117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0" name="文字方塊 289"/>
          <p:cNvSpPr txBox="1"/>
          <p:nvPr/>
        </p:nvSpPr>
        <p:spPr>
          <a:xfrm>
            <a:off x="4347370" y="2759488"/>
            <a:ext cx="10203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目檢郵件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通知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機台拍照完成</a:t>
            </a:r>
          </a:p>
        </p:txBody>
      </p:sp>
      <p:sp>
        <p:nvSpPr>
          <p:cNvPr id="291" name="文字方塊 290"/>
          <p:cNvSpPr txBox="1"/>
          <p:nvPr/>
        </p:nvSpPr>
        <p:spPr>
          <a:xfrm>
            <a:off x="4537429" y="3622892"/>
            <a:ext cx="426720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sp>
        <p:nvSpPr>
          <p:cNvPr id="293" name="五角星形 292"/>
          <p:cNvSpPr/>
          <p:nvPr/>
        </p:nvSpPr>
        <p:spPr>
          <a:xfrm>
            <a:off x="3397384" y="3308353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6" name="矩形 295"/>
          <p:cNvSpPr/>
          <p:nvPr/>
        </p:nvSpPr>
        <p:spPr>
          <a:xfrm>
            <a:off x="1505170" y="2787501"/>
            <a:ext cx="122743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IN</a:t>
            </a:r>
          </a:p>
        </p:txBody>
      </p:sp>
      <p:pic>
        <p:nvPicPr>
          <p:cNvPr id="29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877191" y="3201160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8" name="文字方塊 297"/>
          <p:cNvSpPr txBox="1"/>
          <p:nvPr/>
        </p:nvSpPr>
        <p:spPr>
          <a:xfrm>
            <a:off x="1752062" y="3612236"/>
            <a:ext cx="59182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</a:p>
        </p:txBody>
      </p:sp>
      <p:sp>
        <p:nvSpPr>
          <p:cNvPr id="306" name="橢圓 305"/>
          <p:cNvSpPr/>
          <p:nvPr/>
        </p:nvSpPr>
        <p:spPr>
          <a:xfrm>
            <a:off x="565397" y="332573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75805" y="3039871"/>
            <a:ext cx="122391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line</a:t>
            </a:r>
          </a:p>
        </p:txBody>
      </p:sp>
      <p:sp>
        <p:nvSpPr>
          <p:cNvPr id="308" name="文字方塊 307"/>
          <p:cNvSpPr txBox="1"/>
          <p:nvPr/>
        </p:nvSpPr>
        <p:spPr>
          <a:xfrm>
            <a:off x="363684" y="3620207"/>
            <a:ext cx="59182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309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464385" y="5591345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文字方塊 309"/>
          <p:cNvSpPr txBox="1"/>
          <p:nvPr/>
        </p:nvSpPr>
        <p:spPr>
          <a:xfrm>
            <a:off x="367228" y="6017698"/>
            <a:ext cx="59182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121664" y="4835967"/>
            <a:ext cx="1299189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 Summary OUT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IN</a:t>
            </a:r>
          </a:p>
        </p:txBody>
      </p:sp>
      <p:pic>
        <p:nvPicPr>
          <p:cNvPr id="314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228" y="5735512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5" name="文字方塊 314"/>
          <p:cNvSpPr txBox="1"/>
          <p:nvPr/>
        </p:nvSpPr>
        <p:spPr>
          <a:xfrm>
            <a:off x="1732947" y="6028497"/>
            <a:ext cx="637973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</a:p>
        </p:txBody>
      </p:sp>
      <p:sp>
        <p:nvSpPr>
          <p:cNvPr id="316" name="文字方塊 315"/>
          <p:cNvSpPr txBox="1"/>
          <p:nvPr/>
        </p:nvSpPr>
        <p:spPr>
          <a:xfrm>
            <a:off x="1257730" y="5100934"/>
            <a:ext cx="1637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通知報告組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已完成機台</a:t>
            </a:r>
          </a:p>
        </p:txBody>
      </p:sp>
      <p:sp>
        <p:nvSpPr>
          <p:cNvPr id="323" name="橢圓 322"/>
          <p:cNvSpPr/>
          <p:nvPr/>
        </p:nvSpPr>
        <p:spPr>
          <a:xfrm>
            <a:off x="7432966" y="576023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4" name="矩形 323"/>
          <p:cNvSpPr/>
          <p:nvPr/>
        </p:nvSpPr>
        <p:spPr>
          <a:xfrm>
            <a:off x="6743186" y="5352205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出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TX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</a:t>
            </a:r>
          </a:p>
        </p:txBody>
      </p:sp>
      <p:sp>
        <p:nvSpPr>
          <p:cNvPr id="325" name="文字方塊 324"/>
          <p:cNvSpPr txBox="1"/>
          <p:nvPr/>
        </p:nvSpPr>
        <p:spPr>
          <a:xfrm>
            <a:off x="7333206" y="5982697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326" name="五角星形 325"/>
          <p:cNvSpPr/>
          <p:nvPr/>
        </p:nvSpPr>
        <p:spPr>
          <a:xfrm>
            <a:off x="8752281" y="5671795"/>
            <a:ext cx="316618" cy="282403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7" name="矩形 326"/>
          <p:cNvSpPr/>
          <p:nvPr/>
        </p:nvSpPr>
        <p:spPr>
          <a:xfrm>
            <a:off x="8199555" y="5187955"/>
            <a:ext cx="14220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F1 </a:t>
            </a:r>
          </a:p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Disposition</a:t>
            </a:r>
          </a:p>
        </p:txBody>
      </p:sp>
      <p:sp>
        <p:nvSpPr>
          <p:cNvPr id="328" name="矩形 327"/>
          <p:cNvSpPr/>
          <p:nvPr/>
        </p:nvSpPr>
        <p:spPr>
          <a:xfrm>
            <a:off x="5620358" y="5203210"/>
            <a:ext cx="99519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OUT</a:t>
            </a:r>
          </a:p>
        </p:txBody>
      </p:sp>
      <p:pic>
        <p:nvPicPr>
          <p:cNvPr id="329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5897834" y="5572527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0" name="文字方塊 329"/>
          <p:cNvSpPr txBox="1"/>
          <p:nvPr/>
        </p:nvSpPr>
        <p:spPr>
          <a:xfrm>
            <a:off x="5885045" y="5982697"/>
            <a:ext cx="42191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31" name="橢圓 330"/>
          <p:cNvSpPr/>
          <p:nvPr/>
        </p:nvSpPr>
        <p:spPr>
          <a:xfrm>
            <a:off x="10210651" y="575017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2" name="文字方塊 331"/>
          <p:cNvSpPr txBox="1"/>
          <p:nvPr/>
        </p:nvSpPr>
        <p:spPr>
          <a:xfrm>
            <a:off x="9861015" y="5128718"/>
            <a:ext cx="9188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Fail Item: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在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回覆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COF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或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</a:t>
            </a:r>
          </a:p>
        </p:txBody>
      </p:sp>
      <p:sp>
        <p:nvSpPr>
          <p:cNvPr id="333" name="文字方塊 332"/>
          <p:cNvSpPr txBox="1"/>
          <p:nvPr/>
        </p:nvSpPr>
        <p:spPr>
          <a:xfrm>
            <a:off x="10137805" y="6009469"/>
            <a:ext cx="30970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F1</a:t>
            </a:r>
          </a:p>
        </p:txBody>
      </p:sp>
      <p:sp>
        <p:nvSpPr>
          <p:cNvPr id="337" name="橢圓 336"/>
          <p:cNvSpPr/>
          <p:nvPr/>
        </p:nvSpPr>
        <p:spPr>
          <a:xfrm>
            <a:off x="4689736" y="574496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4025183" y="5352205"/>
            <a:ext cx="15290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入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9" name="文字方塊 338"/>
          <p:cNvSpPr txBox="1"/>
          <p:nvPr/>
        </p:nvSpPr>
        <p:spPr>
          <a:xfrm>
            <a:off x="4576229" y="5982697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340" name="五角星形 339"/>
          <p:cNvSpPr/>
          <p:nvPr/>
        </p:nvSpPr>
        <p:spPr>
          <a:xfrm>
            <a:off x="3325356" y="5707929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43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7731" y="5707929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4" name="文字方塊 343"/>
          <p:cNvSpPr txBox="1"/>
          <p:nvPr/>
        </p:nvSpPr>
        <p:spPr>
          <a:xfrm>
            <a:off x="10847745" y="5115554"/>
            <a:ext cx="13388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測試組機台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是否繼續投測試</a:t>
            </a:r>
          </a:p>
        </p:txBody>
      </p:sp>
      <p:sp>
        <p:nvSpPr>
          <p:cNvPr id="345" name="文字方塊 344"/>
          <p:cNvSpPr txBox="1"/>
          <p:nvPr/>
        </p:nvSpPr>
        <p:spPr>
          <a:xfrm>
            <a:off x="11344808" y="6028497"/>
            <a:ext cx="481222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Kevin</a:t>
            </a:r>
          </a:p>
        </p:txBody>
      </p:sp>
      <p:sp>
        <p:nvSpPr>
          <p:cNvPr id="402" name="橢圓 401"/>
          <p:cNvSpPr/>
          <p:nvPr/>
        </p:nvSpPr>
        <p:spPr>
          <a:xfrm>
            <a:off x="4691585" y="4458839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404" name="直線單箭頭接點 403"/>
          <p:cNvCxnSpPr>
            <a:cxnSpLocks/>
            <a:endCxn id="402" idx="0"/>
          </p:cNvCxnSpPr>
          <p:nvPr/>
        </p:nvCxnSpPr>
        <p:spPr>
          <a:xfrm>
            <a:off x="4784661" y="3927487"/>
            <a:ext cx="0" cy="531352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字方塊 177"/>
          <p:cNvSpPr txBox="1"/>
          <p:nvPr/>
        </p:nvSpPr>
        <p:spPr>
          <a:xfrm>
            <a:off x="11260449" y="190801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8609207" y="3579445"/>
            <a:ext cx="580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0" name="文字方塊 179"/>
          <p:cNvSpPr txBox="1"/>
          <p:nvPr/>
        </p:nvSpPr>
        <p:spPr>
          <a:xfrm>
            <a:off x="3113493" y="357024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11" name="直線單箭頭接點 210"/>
          <p:cNvCxnSpPr>
            <a:cxnSpLocks/>
            <a:stCxn id="402" idx="4"/>
            <a:endCxn id="338" idx="0"/>
          </p:cNvCxnSpPr>
          <p:nvPr/>
        </p:nvCxnSpPr>
        <p:spPr>
          <a:xfrm>
            <a:off x="4784661" y="4624662"/>
            <a:ext cx="5046" cy="727543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文字方塊 215"/>
          <p:cNvSpPr txBox="1"/>
          <p:nvPr/>
        </p:nvSpPr>
        <p:spPr>
          <a:xfrm>
            <a:off x="3091065" y="6005392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9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555395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Test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TX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10" name="向右箭號 209"/>
          <p:cNvSpPr/>
          <p:nvPr/>
        </p:nvSpPr>
        <p:spPr>
          <a:xfrm>
            <a:off x="3882742" y="173048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5" name="向右箭號 214"/>
          <p:cNvSpPr/>
          <p:nvPr/>
        </p:nvSpPr>
        <p:spPr>
          <a:xfrm rot="5400000">
            <a:off x="11356278" y="2291438"/>
            <a:ext cx="453025" cy="188112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0" name="向右箭號 249"/>
          <p:cNvSpPr/>
          <p:nvPr/>
        </p:nvSpPr>
        <p:spPr>
          <a:xfrm flipH="1">
            <a:off x="1030174" y="338766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1" name="向右箭號 250"/>
          <p:cNvSpPr/>
          <p:nvPr/>
        </p:nvSpPr>
        <p:spPr>
          <a:xfrm flipH="1">
            <a:off x="2444238" y="338766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2" name="向右箭號 251"/>
          <p:cNvSpPr/>
          <p:nvPr/>
        </p:nvSpPr>
        <p:spPr>
          <a:xfrm flipH="1">
            <a:off x="5117220" y="338526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3" name="向右箭號 252"/>
          <p:cNvSpPr/>
          <p:nvPr/>
        </p:nvSpPr>
        <p:spPr>
          <a:xfrm flipH="1">
            <a:off x="3813517" y="337993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4" name="向右箭號 253"/>
          <p:cNvSpPr/>
          <p:nvPr/>
        </p:nvSpPr>
        <p:spPr>
          <a:xfrm flipH="1">
            <a:off x="9214508" y="338766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5" name="向右箭號 254"/>
          <p:cNvSpPr/>
          <p:nvPr/>
        </p:nvSpPr>
        <p:spPr>
          <a:xfrm flipH="1">
            <a:off x="10498003" y="338766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6" name="向右箭號 255"/>
          <p:cNvSpPr/>
          <p:nvPr/>
        </p:nvSpPr>
        <p:spPr>
          <a:xfrm flipH="1">
            <a:off x="6415798" y="338766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0" name="向右箭號 259"/>
          <p:cNvSpPr/>
          <p:nvPr/>
        </p:nvSpPr>
        <p:spPr>
          <a:xfrm flipH="1">
            <a:off x="7846769" y="337857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2" name="向右箭號 261"/>
          <p:cNvSpPr/>
          <p:nvPr/>
        </p:nvSpPr>
        <p:spPr>
          <a:xfrm rot="5400000">
            <a:off x="233840" y="4272456"/>
            <a:ext cx="857713" cy="177704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3" name="向右箭號 262"/>
          <p:cNvSpPr/>
          <p:nvPr/>
        </p:nvSpPr>
        <p:spPr>
          <a:xfrm>
            <a:off x="1030174" y="576932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4" name="向右箭號 263"/>
          <p:cNvSpPr/>
          <p:nvPr/>
        </p:nvSpPr>
        <p:spPr>
          <a:xfrm>
            <a:off x="2444238" y="576932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5" name="向右箭號 264"/>
          <p:cNvSpPr/>
          <p:nvPr/>
        </p:nvSpPr>
        <p:spPr>
          <a:xfrm>
            <a:off x="5117220" y="576692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6" name="向右箭號 265"/>
          <p:cNvSpPr/>
          <p:nvPr/>
        </p:nvSpPr>
        <p:spPr>
          <a:xfrm>
            <a:off x="3813517" y="57616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7" name="向右箭號 266"/>
          <p:cNvSpPr/>
          <p:nvPr/>
        </p:nvSpPr>
        <p:spPr>
          <a:xfrm>
            <a:off x="9179672" y="5769323"/>
            <a:ext cx="648000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8" name="向右箭號 267"/>
          <p:cNvSpPr/>
          <p:nvPr/>
        </p:nvSpPr>
        <p:spPr>
          <a:xfrm>
            <a:off x="10593802" y="576932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9" name="向右箭號 268"/>
          <p:cNvSpPr/>
          <p:nvPr/>
        </p:nvSpPr>
        <p:spPr>
          <a:xfrm>
            <a:off x="6415798" y="576932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0" name="向右箭號 269"/>
          <p:cNvSpPr/>
          <p:nvPr/>
        </p:nvSpPr>
        <p:spPr>
          <a:xfrm>
            <a:off x="7846769" y="576023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7" name="文字方塊 316"/>
          <p:cNvSpPr txBox="1"/>
          <p:nvPr/>
        </p:nvSpPr>
        <p:spPr>
          <a:xfrm>
            <a:off x="1105455" y="154499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9" name="文字方塊 318"/>
          <p:cNvSpPr txBox="1"/>
          <p:nvPr/>
        </p:nvSpPr>
        <p:spPr>
          <a:xfrm>
            <a:off x="5197933" y="1542644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0" name="文字方塊 319"/>
          <p:cNvSpPr txBox="1"/>
          <p:nvPr/>
        </p:nvSpPr>
        <p:spPr>
          <a:xfrm>
            <a:off x="6524013" y="1542460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1" name="文字方塊 320"/>
          <p:cNvSpPr txBox="1"/>
          <p:nvPr/>
        </p:nvSpPr>
        <p:spPr>
          <a:xfrm>
            <a:off x="7809214" y="1542460"/>
            <a:ext cx="6010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2" name="文字方塊 321"/>
          <p:cNvSpPr txBox="1"/>
          <p:nvPr/>
        </p:nvSpPr>
        <p:spPr>
          <a:xfrm>
            <a:off x="3986640" y="1501660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4" name="文字方塊 333"/>
          <p:cNvSpPr txBox="1"/>
          <p:nvPr/>
        </p:nvSpPr>
        <p:spPr>
          <a:xfrm>
            <a:off x="9316784" y="1524645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6" name="文字方塊 335"/>
          <p:cNvSpPr txBox="1"/>
          <p:nvPr/>
        </p:nvSpPr>
        <p:spPr>
          <a:xfrm>
            <a:off x="1131190" y="321202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7" name="文字方塊 346"/>
          <p:cNvSpPr txBox="1"/>
          <p:nvPr/>
        </p:nvSpPr>
        <p:spPr>
          <a:xfrm>
            <a:off x="5174510" y="3138305"/>
            <a:ext cx="556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9" name="文字方塊 348"/>
          <p:cNvSpPr txBox="1"/>
          <p:nvPr/>
        </p:nvSpPr>
        <p:spPr>
          <a:xfrm>
            <a:off x="6522729" y="3201156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1.5hr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0" name="文字方塊 359"/>
          <p:cNvSpPr txBox="1"/>
          <p:nvPr/>
        </p:nvSpPr>
        <p:spPr>
          <a:xfrm>
            <a:off x="10597477" y="3201079"/>
            <a:ext cx="543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1" name="文字方塊 360"/>
          <p:cNvSpPr txBox="1"/>
          <p:nvPr/>
        </p:nvSpPr>
        <p:spPr>
          <a:xfrm>
            <a:off x="1114028" y="5573935"/>
            <a:ext cx="546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4" name="文字方塊 363"/>
          <p:cNvSpPr txBox="1"/>
          <p:nvPr/>
        </p:nvSpPr>
        <p:spPr>
          <a:xfrm>
            <a:off x="5220366" y="5563062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5" name="文字方塊 364"/>
          <p:cNvSpPr txBox="1"/>
          <p:nvPr/>
        </p:nvSpPr>
        <p:spPr>
          <a:xfrm>
            <a:off x="6505567" y="5563062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6" name="文字方塊 365"/>
          <p:cNvSpPr txBox="1"/>
          <p:nvPr/>
        </p:nvSpPr>
        <p:spPr>
          <a:xfrm>
            <a:off x="7935020" y="554489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7" name="文字方塊 366"/>
          <p:cNvSpPr txBox="1"/>
          <p:nvPr/>
        </p:nvSpPr>
        <p:spPr>
          <a:xfrm>
            <a:off x="9253451" y="5573934"/>
            <a:ext cx="430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8" name="文字方塊 367"/>
          <p:cNvSpPr txBox="1"/>
          <p:nvPr/>
        </p:nvSpPr>
        <p:spPr>
          <a:xfrm>
            <a:off x="10733279" y="556306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9" name="文字方塊 368"/>
          <p:cNvSpPr txBox="1"/>
          <p:nvPr/>
        </p:nvSpPr>
        <p:spPr>
          <a:xfrm>
            <a:off x="197405" y="4307370"/>
            <a:ext cx="394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1" name="矩形 370"/>
          <p:cNvSpPr/>
          <p:nvPr/>
        </p:nvSpPr>
        <p:spPr>
          <a:xfrm>
            <a:off x="4800906" y="4315888"/>
            <a:ext cx="7700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照片複核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2" name="文字方塊 371"/>
          <p:cNvSpPr txBox="1"/>
          <p:nvPr/>
        </p:nvSpPr>
        <p:spPr>
          <a:xfrm>
            <a:off x="4944182" y="4525215"/>
            <a:ext cx="426720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sp>
        <p:nvSpPr>
          <p:cNvPr id="373" name="矩形 372"/>
          <p:cNvSpPr/>
          <p:nvPr/>
        </p:nvSpPr>
        <p:spPr>
          <a:xfrm>
            <a:off x="4228356" y="4361308"/>
            <a:ext cx="58038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報告紙</a:t>
            </a:r>
          </a:p>
        </p:txBody>
      </p:sp>
      <p:sp>
        <p:nvSpPr>
          <p:cNvPr id="377" name="文字方塊 376"/>
          <p:cNvSpPr txBox="1"/>
          <p:nvPr/>
        </p:nvSpPr>
        <p:spPr>
          <a:xfrm>
            <a:off x="4254790" y="4558609"/>
            <a:ext cx="5260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9" name="文字方塊 378"/>
          <p:cNvSpPr txBox="1"/>
          <p:nvPr/>
        </p:nvSpPr>
        <p:spPr>
          <a:xfrm>
            <a:off x="2572869" y="153506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11029597" y="1074299"/>
            <a:ext cx="9648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已完成</a:t>
            </a:r>
            <a:endParaRPr lang="en-US" altLang="zh-TW" sz="10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測試區</a:t>
            </a:r>
            <a:endParaRPr lang="en-US" altLang="zh-TW" sz="10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11029597" y="1036854"/>
            <a:ext cx="964827" cy="51473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/>
          </a:p>
        </p:txBody>
      </p:sp>
      <p:sp>
        <p:nvSpPr>
          <p:cNvPr id="147" name="矩形 146"/>
          <p:cNvSpPr/>
          <p:nvPr/>
        </p:nvSpPr>
        <p:spPr>
          <a:xfrm>
            <a:off x="2748481" y="5205662"/>
            <a:ext cx="1529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已完成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3231979" y="5187955"/>
            <a:ext cx="568690" cy="417818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3115049" y="2774990"/>
            <a:ext cx="8803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待測區</a:t>
            </a:r>
          </a:p>
        </p:txBody>
      </p:sp>
      <p:sp>
        <p:nvSpPr>
          <p:cNvPr id="154" name="矩形 153"/>
          <p:cNvSpPr/>
          <p:nvPr/>
        </p:nvSpPr>
        <p:spPr>
          <a:xfrm>
            <a:off x="3249541" y="2768215"/>
            <a:ext cx="668284" cy="384123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8120819" y="2763479"/>
            <a:ext cx="1529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待測區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8586292" y="2773821"/>
            <a:ext cx="648412" cy="373640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A35F0DCB-1DD6-41A0-AB45-70FED775715E}"/>
              </a:ext>
            </a:extLst>
          </p:cNvPr>
          <p:cNvSpPr/>
          <p:nvPr/>
        </p:nvSpPr>
        <p:spPr>
          <a:xfrm rot="15805371">
            <a:off x="7432710" y="3377737"/>
            <a:ext cx="124983" cy="1249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375D1E42-E3C6-452C-9B23-3CBD5211FE0F}"/>
              </a:ext>
            </a:extLst>
          </p:cNvPr>
          <p:cNvSpPr txBox="1"/>
          <p:nvPr/>
        </p:nvSpPr>
        <p:spPr>
          <a:xfrm>
            <a:off x="7830703" y="4253005"/>
            <a:ext cx="1307634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*Auto-Photo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Station</a:t>
            </a:r>
            <a:endParaRPr lang="zh-TW" altLang="en-US" sz="1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484A7E34-7105-4299-909D-A64932D1CE39}"/>
              </a:ext>
            </a:extLst>
          </p:cNvPr>
          <p:cNvSpPr/>
          <p:nvPr/>
        </p:nvSpPr>
        <p:spPr>
          <a:xfrm>
            <a:off x="4698998" y="404816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0D943623-A1B5-4CC6-876D-7CD963195D70}"/>
              </a:ext>
            </a:extLst>
          </p:cNvPr>
          <p:cNvSpPr txBox="1"/>
          <p:nvPr/>
        </p:nvSpPr>
        <p:spPr>
          <a:xfrm>
            <a:off x="2885339" y="4344600"/>
            <a:ext cx="1307634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照片自動同步腳本</a:t>
            </a:r>
          </a:p>
        </p:txBody>
      </p:sp>
      <p:cxnSp>
        <p:nvCxnSpPr>
          <p:cNvPr id="14" name="接點: 弧形 13">
            <a:extLst>
              <a:ext uri="{FF2B5EF4-FFF2-40B4-BE49-F238E27FC236}">
                <a16:creationId xmlns:a16="http://schemas.microsoft.com/office/drawing/2014/main" id="{1DDFAF39-A247-4F70-9B2A-12B5A44E6DB9}"/>
              </a:ext>
            </a:extLst>
          </p:cNvPr>
          <p:cNvCxnSpPr>
            <a:cxnSpLocks/>
            <a:stCxn id="2" idx="3"/>
            <a:endCxn id="140" idx="0"/>
          </p:cNvCxnSpPr>
          <p:nvPr/>
        </p:nvCxnSpPr>
        <p:spPr>
          <a:xfrm>
            <a:off x="7544161" y="3479065"/>
            <a:ext cx="940359" cy="773940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FB8B48E0-56BB-41C0-8C56-92E02565E18C}"/>
              </a:ext>
            </a:extLst>
          </p:cNvPr>
          <p:cNvCxnSpPr>
            <a:cxnSpLocks/>
            <a:stCxn id="157" idx="2"/>
            <a:endCxn id="158" idx="0"/>
          </p:cNvCxnSpPr>
          <p:nvPr/>
        </p:nvCxnSpPr>
        <p:spPr>
          <a:xfrm rot="10800000" flipV="1">
            <a:off x="3539156" y="4120160"/>
            <a:ext cx="1159842" cy="224439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E0054F81-7E2B-46FB-AC66-A03394D887BA}"/>
              </a:ext>
            </a:extLst>
          </p:cNvPr>
          <p:cNvSpPr txBox="1"/>
          <p:nvPr/>
        </p:nvSpPr>
        <p:spPr>
          <a:xfrm>
            <a:off x="1305960" y="4060388"/>
            <a:ext cx="140716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1.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自動匯總報告腳本</a:t>
            </a:r>
          </a:p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2.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數據核對腳本</a:t>
            </a: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89E3A2CA-C565-4A29-82FA-58F3131AF743}"/>
              </a:ext>
            </a:extLst>
          </p:cNvPr>
          <p:cNvSpPr/>
          <p:nvPr/>
        </p:nvSpPr>
        <p:spPr>
          <a:xfrm rot="19223336">
            <a:off x="604473" y="4082418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接點: 弧形 25">
            <a:extLst>
              <a:ext uri="{FF2B5EF4-FFF2-40B4-BE49-F238E27FC236}">
                <a16:creationId xmlns:a16="http://schemas.microsoft.com/office/drawing/2014/main" id="{337AE42F-CD52-45EE-95D4-26E8BB8F933F}"/>
              </a:ext>
            </a:extLst>
          </p:cNvPr>
          <p:cNvCxnSpPr>
            <a:cxnSpLocks/>
            <a:stCxn id="165" idx="5"/>
            <a:endCxn id="164" idx="1"/>
          </p:cNvCxnSpPr>
          <p:nvPr/>
        </p:nvCxnSpPr>
        <p:spPr>
          <a:xfrm rot="16200000" flipH="1">
            <a:off x="949620" y="3904103"/>
            <a:ext cx="118954" cy="593725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BF531EA4-473C-48F0-A41F-77A8BD84E292}"/>
              </a:ext>
            </a:extLst>
          </p:cNvPr>
          <p:cNvSpPr txBox="1"/>
          <p:nvPr/>
        </p:nvSpPr>
        <p:spPr>
          <a:xfrm>
            <a:off x="4301526" y="824476"/>
            <a:ext cx="108900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充電 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/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導入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Root loader</a:t>
            </a:r>
            <a:endParaRPr lang="zh-TW" altLang="en-US" sz="1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22010ED5-CFB1-421B-BB47-D059FAF4A186}"/>
              </a:ext>
            </a:extLst>
          </p:cNvPr>
          <p:cNvSpPr/>
          <p:nvPr/>
        </p:nvSpPr>
        <p:spPr>
          <a:xfrm rot="19223336">
            <a:off x="4789266" y="1736752"/>
            <a:ext cx="100108" cy="1056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E795A430-3FE0-4142-BBD1-A6140BC155AD}"/>
              </a:ext>
            </a:extLst>
          </p:cNvPr>
          <p:cNvSpPr/>
          <p:nvPr/>
        </p:nvSpPr>
        <p:spPr>
          <a:xfrm rot="19223336">
            <a:off x="9526105" y="338087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文字方塊 181">
            <a:extLst>
              <a:ext uri="{FF2B5EF4-FFF2-40B4-BE49-F238E27FC236}">
                <a16:creationId xmlns:a16="http://schemas.microsoft.com/office/drawing/2014/main" id="{CF793AC6-B0CD-4567-A49B-BEEB584A7FA7}"/>
              </a:ext>
            </a:extLst>
          </p:cNvPr>
          <p:cNvSpPr txBox="1"/>
          <p:nvPr/>
        </p:nvSpPr>
        <p:spPr>
          <a:xfrm>
            <a:off x="9369562" y="4218096"/>
            <a:ext cx="130763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*EFI </a:t>
            </a:r>
            <a:r>
              <a:rPr lang="en-US" altLang="zh-TW" sz="1000" dirty="0" err="1">
                <a:solidFill>
                  <a:srgbClr val="FF0000"/>
                </a:solidFill>
                <a:latin typeface="+mj-lt"/>
              </a:rPr>
              <a:t>Diag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(only for </a:t>
            </a:r>
            <a:r>
              <a:rPr lang="en-US" altLang="zh-TW" sz="1000" dirty="0" err="1">
                <a:solidFill>
                  <a:srgbClr val="FF0000"/>
                </a:solidFill>
                <a:latin typeface="+mj-lt"/>
              </a:rPr>
              <a:t>Ctl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 Drop)</a:t>
            </a:r>
            <a:endParaRPr lang="zh-TW" altLang="en-US" sz="10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183" name="接點: 弧形 182">
            <a:extLst>
              <a:ext uri="{FF2B5EF4-FFF2-40B4-BE49-F238E27FC236}">
                <a16:creationId xmlns:a16="http://schemas.microsoft.com/office/drawing/2014/main" id="{C6886554-CD53-4C20-8A33-DD62BF2F9BE3}"/>
              </a:ext>
            </a:extLst>
          </p:cNvPr>
          <p:cNvCxnSpPr>
            <a:cxnSpLocks/>
            <a:stCxn id="181" idx="3"/>
            <a:endCxn id="182" idx="0"/>
          </p:cNvCxnSpPr>
          <p:nvPr/>
        </p:nvCxnSpPr>
        <p:spPr>
          <a:xfrm rot="16200000" flipH="1">
            <a:off x="9460591" y="3655308"/>
            <a:ext cx="693540" cy="43203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橢圓 183">
            <a:extLst>
              <a:ext uri="{FF2B5EF4-FFF2-40B4-BE49-F238E27FC236}">
                <a16:creationId xmlns:a16="http://schemas.microsoft.com/office/drawing/2014/main" id="{542A1166-13D7-4399-BB27-9ED510AE2A7A}"/>
              </a:ext>
            </a:extLst>
          </p:cNvPr>
          <p:cNvSpPr/>
          <p:nvPr/>
        </p:nvSpPr>
        <p:spPr>
          <a:xfrm rot="19223336">
            <a:off x="5409636" y="5770190"/>
            <a:ext cx="133183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文字方塊 184">
            <a:extLst>
              <a:ext uri="{FF2B5EF4-FFF2-40B4-BE49-F238E27FC236}">
                <a16:creationId xmlns:a16="http://schemas.microsoft.com/office/drawing/2014/main" id="{815F858C-79D5-42B0-97F2-259FE7429F54}"/>
              </a:ext>
            </a:extLst>
          </p:cNvPr>
          <p:cNvSpPr txBox="1"/>
          <p:nvPr/>
        </p:nvSpPr>
        <p:spPr>
          <a:xfrm>
            <a:off x="4780858" y="6290179"/>
            <a:ext cx="18198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1.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報告紙管理機制</a:t>
            </a:r>
          </a:p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2. Recon / Rel Report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比對腳本</a:t>
            </a:r>
          </a:p>
        </p:txBody>
      </p:sp>
      <p:cxnSp>
        <p:nvCxnSpPr>
          <p:cNvPr id="186" name="接點: 弧形 185">
            <a:extLst>
              <a:ext uri="{FF2B5EF4-FFF2-40B4-BE49-F238E27FC236}">
                <a16:creationId xmlns:a16="http://schemas.microsoft.com/office/drawing/2014/main" id="{63C15193-A9CB-4B7F-A6E6-F2A1997F3736}"/>
              </a:ext>
            </a:extLst>
          </p:cNvPr>
          <p:cNvCxnSpPr>
            <a:cxnSpLocks/>
            <a:stCxn id="184" idx="3"/>
            <a:endCxn id="185" idx="0"/>
          </p:cNvCxnSpPr>
          <p:nvPr/>
        </p:nvCxnSpPr>
        <p:spPr>
          <a:xfrm rot="16200000" flipH="1">
            <a:off x="5392235" y="5991610"/>
            <a:ext cx="378745" cy="218391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14E72BEF-F677-425C-A485-42F4704F7A88}"/>
              </a:ext>
            </a:extLst>
          </p:cNvPr>
          <p:cNvSpPr/>
          <p:nvPr/>
        </p:nvSpPr>
        <p:spPr>
          <a:xfrm rot="19223336">
            <a:off x="7365376" y="1719654"/>
            <a:ext cx="100108" cy="1056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80EA6831-AF78-43E1-A4B7-CD5B708653A6}"/>
              </a:ext>
            </a:extLst>
          </p:cNvPr>
          <p:cNvSpPr txBox="1"/>
          <p:nvPr/>
        </p:nvSpPr>
        <p:spPr>
          <a:xfrm>
            <a:off x="302421" y="2606225"/>
            <a:ext cx="880370" cy="41549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TT: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2.2 Days</a:t>
            </a:r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9BF5D2B2-DC81-44A1-8EEC-1E7137A50726}"/>
              </a:ext>
            </a:extLst>
          </p:cNvPr>
          <p:cNvSpPr txBox="1"/>
          <p:nvPr/>
        </p:nvSpPr>
        <p:spPr>
          <a:xfrm>
            <a:off x="6543742" y="4255294"/>
            <a:ext cx="896400" cy="41549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TT: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1.5 </a:t>
            </a:r>
            <a:r>
              <a:rPr lang="en-US" altLang="zh-TW" sz="1050" b="1" dirty="0" err="1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Hrs</a:t>
            </a:r>
            <a:endParaRPr lang="en-US" altLang="zh-TW" sz="105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9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矩形: 圓角 216">
            <a:extLst>
              <a:ext uri="{FF2B5EF4-FFF2-40B4-BE49-F238E27FC236}">
                <a16:creationId xmlns:a16="http://schemas.microsoft.com/office/drawing/2014/main" id="{E51A9DA8-9709-4C90-8546-861A47F73FB5}"/>
              </a:ext>
            </a:extLst>
          </p:cNvPr>
          <p:cNvSpPr/>
          <p:nvPr/>
        </p:nvSpPr>
        <p:spPr>
          <a:xfrm>
            <a:off x="5140432" y="2287007"/>
            <a:ext cx="6856952" cy="1565934"/>
          </a:xfrm>
          <a:prstGeom prst="roundRect">
            <a:avLst>
              <a:gd name="adj" fmla="val 6197"/>
            </a:avLst>
          </a:prstGeom>
          <a:solidFill>
            <a:srgbClr val="5A2781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7B412CD-8D5F-487A-93B2-D88DD45F3C47}"/>
              </a:ext>
            </a:extLst>
          </p:cNvPr>
          <p:cNvSpPr/>
          <p:nvPr/>
        </p:nvSpPr>
        <p:spPr>
          <a:xfrm>
            <a:off x="115584" y="2282048"/>
            <a:ext cx="4980548" cy="4467219"/>
          </a:xfrm>
          <a:prstGeom prst="roundRect">
            <a:avLst>
              <a:gd name="adj" fmla="val 6197"/>
            </a:avLst>
          </a:prstGeom>
          <a:solidFill>
            <a:srgbClr val="00B050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7" name="矩形: 圓角 226">
            <a:extLst>
              <a:ext uri="{FF2B5EF4-FFF2-40B4-BE49-F238E27FC236}">
                <a16:creationId xmlns:a16="http://schemas.microsoft.com/office/drawing/2014/main" id="{AB7F21B4-41B7-48A5-9B01-AE488667C95D}"/>
              </a:ext>
            </a:extLst>
          </p:cNvPr>
          <p:cNvSpPr/>
          <p:nvPr/>
        </p:nvSpPr>
        <p:spPr>
          <a:xfrm>
            <a:off x="5140433" y="5550492"/>
            <a:ext cx="6860272" cy="1219805"/>
          </a:xfrm>
          <a:prstGeom prst="roundRect">
            <a:avLst>
              <a:gd name="adj" fmla="val 6197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6" name="矩形: 圓角 225">
            <a:extLst>
              <a:ext uri="{FF2B5EF4-FFF2-40B4-BE49-F238E27FC236}">
                <a16:creationId xmlns:a16="http://schemas.microsoft.com/office/drawing/2014/main" id="{99955CA2-161A-48E0-B33E-2E0586EB6298}"/>
              </a:ext>
            </a:extLst>
          </p:cNvPr>
          <p:cNvSpPr/>
          <p:nvPr/>
        </p:nvSpPr>
        <p:spPr>
          <a:xfrm>
            <a:off x="5146686" y="3921042"/>
            <a:ext cx="6825395" cy="1561579"/>
          </a:xfrm>
          <a:prstGeom prst="roundRect">
            <a:avLst>
              <a:gd name="adj" fmla="val 6197"/>
            </a:avLst>
          </a:prstGeom>
          <a:solidFill>
            <a:schemeClr val="accent4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6" name="矩形: 圓角 215">
            <a:extLst>
              <a:ext uri="{FF2B5EF4-FFF2-40B4-BE49-F238E27FC236}">
                <a16:creationId xmlns:a16="http://schemas.microsoft.com/office/drawing/2014/main" id="{37A700AB-646B-4DEA-AA50-224DB2900E8E}"/>
              </a:ext>
            </a:extLst>
          </p:cNvPr>
          <p:cNvSpPr/>
          <p:nvPr/>
        </p:nvSpPr>
        <p:spPr>
          <a:xfrm>
            <a:off x="10675659" y="663233"/>
            <a:ext cx="1321725" cy="1565934"/>
          </a:xfrm>
          <a:prstGeom prst="roundRect">
            <a:avLst>
              <a:gd name="adj" fmla="val 6197"/>
            </a:avLst>
          </a:prstGeom>
          <a:solidFill>
            <a:srgbClr val="5A2781">
              <a:alpha val="15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7" name="矩形: 圓角 206">
            <a:extLst>
              <a:ext uri="{FF2B5EF4-FFF2-40B4-BE49-F238E27FC236}">
                <a16:creationId xmlns:a16="http://schemas.microsoft.com/office/drawing/2014/main" id="{144C6334-453A-4EC5-958A-42E028E0F8A2}"/>
              </a:ext>
            </a:extLst>
          </p:cNvPr>
          <p:cNvSpPr/>
          <p:nvPr/>
        </p:nvSpPr>
        <p:spPr>
          <a:xfrm>
            <a:off x="112415" y="663234"/>
            <a:ext cx="10518319" cy="1565933"/>
          </a:xfrm>
          <a:prstGeom prst="roundRect">
            <a:avLst>
              <a:gd name="adj" fmla="val 6197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9" name="橢圓 178"/>
          <p:cNvSpPr/>
          <p:nvPr/>
        </p:nvSpPr>
        <p:spPr>
          <a:xfrm>
            <a:off x="11195848" y="613366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" name="橢圓 1"/>
          <p:cNvSpPr/>
          <p:nvPr/>
        </p:nvSpPr>
        <p:spPr>
          <a:xfrm>
            <a:off x="1736575" y="1470275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7485" y="1023830"/>
            <a:ext cx="109463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測試組測試前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SYS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Ｗ</a:t>
            </a: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eight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1389540" y="1808797"/>
            <a:ext cx="992579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5" name="橢圓 4"/>
          <p:cNvSpPr/>
          <p:nvPr/>
        </p:nvSpPr>
        <p:spPr>
          <a:xfrm>
            <a:off x="3056994" y="1396960"/>
            <a:ext cx="189017" cy="17308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916327" y="907233"/>
            <a:ext cx="534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</a:t>
            </a:r>
            <a:r>
              <a:rPr lang="en-US" altLang="zh-TW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X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Last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CP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橢圓 6"/>
          <p:cNvSpPr/>
          <p:nvPr/>
        </p:nvSpPr>
        <p:spPr>
          <a:xfrm>
            <a:off x="5769183" y="1452308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89725" y="719632"/>
            <a:ext cx="18146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測試組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</a:t>
            </a: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後，按</a:t>
            </a:r>
            <a:r>
              <a:rPr lang="en-US" altLang="zh-TW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CP</a:t>
            </a:r>
            <a:r>
              <a:rPr lang="zh-TW" altLang="en-US" sz="10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需求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1.SYS</a:t>
            </a:r>
            <a:r>
              <a:rPr lang="zh-TW" altLang="en-US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Ｗ</a:t>
            </a:r>
            <a:r>
              <a:rPr lang="en-US" altLang="zh-TW" sz="1000" b="1" noProof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2.Hinge Torque</a:t>
            </a:r>
          </a:p>
          <a:p>
            <a:pPr lvl="0" algn="ctr">
              <a:defRPr/>
            </a:pPr>
            <a:r>
              <a:rPr lang="en-US" altLang="zh-TW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3. Button Tactility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403618" y="1811395"/>
            <a:ext cx="992579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pic>
        <p:nvPicPr>
          <p:cNvPr id="13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119" y="6079847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6239100" y="5659554"/>
            <a:ext cx="163777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TF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完成退庫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6571692" y="6396340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530005" y="611548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219867" y="6391853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279497" y="5778256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</a:rPr>
              <a:t>機台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退庫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655212" y="1808289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25351" y="717351"/>
            <a:ext cx="1099652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Center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OUT</a:t>
            </a:r>
          </a:p>
        </p:txBody>
      </p:sp>
      <p:pic>
        <p:nvPicPr>
          <p:cNvPr id="31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7123651" y="1235688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6878887" y="1814746"/>
            <a:ext cx="99257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pic>
        <p:nvPicPr>
          <p:cNvPr id="33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900" y="1308650"/>
            <a:ext cx="292793" cy="2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字方塊 33"/>
          <p:cNvSpPr txBox="1"/>
          <p:nvPr/>
        </p:nvSpPr>
        <p:spPr>
          <a:xfrm>
            <a:off x="7947794" y="814433"/>
            <a:ext cx="17365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機台測試完成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8304439" y="1800394"/>
            <a:ext cx="1019789" cy="25391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36" name="五角星形 35"/>
          <p:cNvSpPr/>
          <p:nvPr/>
        </p:nvSpPr>
        <p:spPr>
          <a:xfrm>
            <a:off x="9966343" y="1357713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823976" y="1639515"/>
            <a:ext cx="611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2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1186081" y="1269543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/>
          <p:cNvSpPr txBox="1"/>
          <p:nvPr/>
        </p:nvSpPr>
        <p:spPr>
          <a:xfrm>
            <a:off x="11067171" y="1813735"/>
            <a:ext cx="580608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Tammy</a:t>
            </a:r>
          </a:p>
        </p:txBody>
      </p:sp>
      <p:sp>
        <p:nvSpPr>
          <p:cNvPr id="44" name="橢圓 43"/>
          <p:cNvSpPr/>
          <p:nvPr/>
        </p:nvSpPr>
        <p:spPr>
          <a:xfrm>
            <a:off x="11283981" y="304286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970373" y="2747114"/>
            <a:ext cx="73799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目檢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11046951" y="3333853"/>
            <a:ext cx="580608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Tammy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47" name="五角星形 46"/>
          <p:cNvSpPr/>
          <p:nvPr/>
        </p:nvSpPr>
        <p:spPr>
          <a:xfrm>
            <a:off x="9804929" y="3045134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8443132" y="308522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8318673" y="3351369"/>
            <a:ext cx="42672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510833" y="2501198"/>
            <a:ext cx="1144809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OUT</a:t>
            </a:r>
          </a:p>
        </p:txBody>
      </p:sp>
      <p:pic>
        <p:nvPicPr>
          <p:cNvPr id="52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6820671" y="2903043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文字方塊 52"/>
          <p:cNvSpPr txBox="1"/>
          <p:nvPr/>
        </p:nvSpPr>
        <p:spPr>
          <a:xfrm>
            <a:off x="6791735" y="3356927"/>
            <a:ext cx="42672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pic>
        <p:nvPicPr>
          <p:cNvPr id="54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560" y="2981434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字方塊 55"/>
          <p:cNvSpPr txBox="1"/>
          <p:nvPr/>
        </p:nvSpPr>
        <p:spPr>
          <a:xfrm>
            <a:off x="5372750" y="3333853"/>
            <a:ext cx="426720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sp>
        <p:nvSpPr>
          <p:cNvPr id="57" name="五角星形 56"/>
          <p:cNvSpPr/>
          <p:nvPr/>
        </p:nvSpPr>
        <p:spPr>
          <a:xfrm>
            <a:off x="4088024" y="3001681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101106" y="2547583"/>
            <a:ext cx="1529048" cy="398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IN</a:t>
            </a:r>
          </a:p>
        </p:txBody>
      </p:sp>
      <p:pic>
        <p:nvPicPr>
          <p:cNvPr id="60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2595264" y="2924902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文字方塊 60"/>
          <p:cNvSpPr txBox="1"/>
          <p:nvPr/>
        </p:nvSpPr>
        <p:spPr>
          <a:xfrm>
            <a:off x="2477581" y="3335457"/>
            <a:ext cx="59182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</a:p>
        </p:txBody>
      </p:sp>
      <p:sp>
        <p:nvSpPr>
          <p:cNvPr id="63" name="橢圓 62"/>
          <p:cNvSpPr/>
          <p:nvPr/>
        </p:nvSpPr>
        <p:spPr>
          <a:xfrm>
            <a:off x="1038759" y="474956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864600" y="5068193"/>
            <a:ext cx="59182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65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2553334" y="4671026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文字方塊 65"/>
          <p:cNvSpPr txBox="1"/>
          <p:nvPr/>
        </p:nvSpPr>
        <p:spPr>
          <a:xfrm>
            <a:off x="2428161" y="5078849"/>
            <a:ext cx="59182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67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459" y="4761395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文字方塊 67"/>
          <p:cNvSpPr txBox="1"/>
          <p:nvPr/>
        </p:nvSpPr>
        <p:spPr>
          <a:xfrm>
            <a:off x="3939276" y="5083384"/>
            <a:ext cx="698024" cy="25391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Jackson</a:t>
            </a:r>
          </a:p>
        </p:txBody>
      </p:sp>
      <p:sp>
        <p:nvSpPr>
          <p:cNvPr id="69" name="文字方塊 68"/>
          <p:cNvSpPr txBox="1"/>
          <p:nvPr/>
        </p:nvSpPr>
        <p:spPr>
          <a:xfrm>
            <a:off x="3465510" y="4304512"/>
            <a:ext cx="1637773" cy="398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已完成機台</a:t>
            </a:r>
          </a:p>
        </p:txBody>
      </p:sp>
      <p:sp>
        <p:nvSpPr>
          <p:cNvPr id="70" name="橢圓 69"/>
          <p:cNvSpPr/>
          <p:nvPr/>
        </p:nvSpPr>
        <p:spPr>
          <a:xfrm>
            <a:off x="9773234" y="4794902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101686" y="4417450"/>
            <a:ext cx="15290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出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TF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</a:t>
            </a:r>
          </a:p>
        </p:txBody>
      </p:sp>
      <p:sp>
        <p:nvSpPr>
          <p:cNvPr id="72" name="文字方塊 71"/>
          <p:cNvSpPr txBox="1"/>
          <p:nvPr/>
        </p:nvSpPr>
        <p:spPr>
          <a:xfrm>
            <a:off x="9653283" y="5063214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75" name="矩形 74"/>
          <p:cNvSpPr/>
          <p:nvPr/>
        </p:nvSpPr>
        <p:spPr>
          <a:xfrm>
            <a:off x="8077486" y="4421585"/>
            <a:ext cx="100067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OUT</a:t>
            </a:r>
          </a:p>
        </p:txBody>
      </p:sp>
      <p:pic>
        <p:nvPicPr>
          <p:cNvPr id="76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8335442" y="4594980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字方塊 76"/>
          <p:cNvSpPr txBox="1"/>
          <p:nvPr/>
        </p:nvSpPr>
        <p:spPr>
          <a:xfrm>
            <a:off x="8322173" y="5065152"/>
            <a:ext cx="42191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1" name="橢圓 80"/>
          <p:cNvSpPr/>
          <p:nvPr/>
        </p:nvSpPr>
        <p:spPr>
          <a:xfrm>
            <a:off x="6953523" y="4760162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297233" y="4382873"/>
            <a:ext cx="15290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入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825356" y="5032086"/>
            <a:ext cx="42191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</a:p>
        </p:txBody>
      </p:sp>
      <p:sp>
        <p:nvSpPr>
          <p:cNvPr id="84" name="五角星形 83"/>
          <p:cNvSpPr/>
          <p:nvPr/>
        </p:nvSpPr>
        <p:spPr>
          <a:xfrm>
            <a:off x="5479345" y="4756226"/>
            <a:ext cx="298048" cy="236882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6177752" y="3948376"/>
            <a:ext cx="186152" cy="16582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892668" y="3889451"/>
            <a:ext cx="7700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照片複核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6049382" y="4200267"/>
            <a:ext cx="426720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</a:p>
        </p:txBody>
      </p:sp>
      <p:sp>
        <p:nvSpPr>
          <p:cNvPr id="118" name="文字方塊 117"/>
          <p:cNvSpPr txBox="1"/>
          <p:nvPr/>
        </p:nvSpPr>
        <p:spPr>
          <a:xfrm>
            <a:off x="9647680" y="3311187"/>
            <a:ext cx="6063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3890503" y="3318365"/>
            <a:ext cx="712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5242024" y="5016540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accent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chemeClr val="accent2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0792084" y="755654"/>
            <a:ext cx="1130109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IN</a:t>
            </a:r>
          </a:p>
        </p:txBody>
      </p:sp>
      <p:sp>
        <p:nvSpPr>
          <p:cNvPr id="136" name="文字方塊 135"/>
          <p:cNvSpPr txBox="1"/>
          <p:nvPr/>
        </p:nvSpPr>
        <p:spPr>
          <a:xfrm>
            <a:off x="5099507" y="2513847"/>
            <a:ext cx="11664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機台拍照完成</a:t>
            </a:r>
          </a:p>
        </p:txBody>
      </p:sp>
      <p:sp>
        <p:nvSpPr>
          <p:cNvPr id="137" name="矩形 136"/>
          <p:cNvSpPr/>
          <p:nvPr/>
        </p:nvSpPr>
        <p:spPr>
          <a:xfrm>
            <a:off x="361116" y="4415611"/>
            <a:ext cx="15290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 </a:t>
            </a:r>
          </a:p>
        </p:txBody>
      </p:sp>
      <p:sp>
        <p:nvSpPr>
          <p:cNvPr id="138" name="矩形 137"/>
          <p:cNvSpPr/>
          <p:nvPr/>
        </p:nvSpPr>
        <p:spPr>
          <a:xfrm>
            <a:off x="8272022" y="2668315"/>
            <a:ext cx="50658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747525" y="4335814"/>
            <a:ext cx="216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 Summary OUT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IN</a:t>
            </a:r>
          </a:p>
          <a:p>
            <a:pPr lvl="0" algn="ctr"/>
            <a:endParaRPr lang="en-US" altLang="zh-TW" sz="1000" b="1" dirty="0">
              <a:solidFill>
                <a:srgbClr val="00B0F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1" name="橢圓 140"/>
          <p:cNvSpPr/>
          <p:nvPr/>
        </p:nvSpPr>
        <p:spPr>
          <a:xfrm>
            <a:off x="4322170" y="1318822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3572918" y="913254"/>
            <a:ext cx="166592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</a:p>
          <a:p>
            <a:pPr lvl="0"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TF Test Tagging</a:t>
            </a:r>
          </a:p>
        </p:txBody>
      </p:sp>
      <p:sp>
        <p:nvSpPr>
          <p:cNvPr id="143" name="文字方塊 142"/>
          <p:cNvSpPr txBox="1"/>
          <p:nvPr/>
        </p:nvSpPr>
        <p:spPr>
          <a:xfrm>
            <a:off x="4012032" y="1808089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0" name="向右箭號 149"/>
          <p:cNvSpPr/>
          <p:nvPr/>
        </p:nvSpPr>
        <p:spPr>
          <a:xfrm>
            <a:off x="2077652" y="147073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1" name="向右箭號 150"/>
          <p:cNvSpPr/>
          <p:nvPr/>
        </p:nvSpPr>
        <p:spPr>
          <a:xfrm>
            <a:off x="3490636" y="145406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向右箭號 151"/>
          <p:cNvSpPr/>
          <p:nvPr/>
        </p:nvSpPr>
        <p:spPr>
          <a:xfrm>
            <a:off x="6227508" y="146979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3" name="向右箭號 152"/>
          <p:cNvSpPr/>
          <p:nvPr/>
        </p:nvSpPr>
        <p:spPr>
          <a:xfrm>
            <a:off x="4802228" y="1412759"/>
            <a:ext cx="739523" cy="148771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4" name="向右箭號 153"/>
          <p:cNvSpPr/>
          <p:nvPr/>
        </p:nvSpPr>
        <p:spPr>
          <a:xfrm>
            <a:off x="7735447" y="144545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5" name="向右箭號 154"/>
          <p:cNvSpPr/>
          <p:nvPr/>
        </p:nvSpPr>
        <p:spPr>
          <a:xfrm>
            <a:off x="9145211" y="140279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6" name="向右箭號 155"/>
          <p:cNvSpPr/>
          <p:nvPr/>
        </p:nvSpPr>
        <p:spPr>
          <a:xfrm>
            <a:off x="10369868" y="142074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1" name="橢圓 160"/>
          <p:cNvSpPr/>
          <p:nvPr/>
        </p:nvSpPr>
        <p:spPr>
          <a:xfrm>
            <a:off x="8437836" y="609590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7963922" y="5622562"/>
            <a:ext cx="120997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</a:p>
          <a:p>
            <a:pPr lvl="0"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TF Lab Tagging</a:t>
            </a:r>
          </a:p>
        </p:txBody>
      </p:sp>
      <p:sp>
        <p:nvSpPr>
          <p:cNvPr id="163" name="文字方塊 162"/>
          <p:cNvSpPr txBox="1"/>
          <p:nvPr/>
        </p:nvSpPr>
        <p:spPr>
          <a:xfrm>
            <a:off x="8085585" y="6396340"/>
            <a:ext cx="992579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noProof="0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4" name="五角星形 163"/>
          <p:cNvSpPr/>
          <p:nvPr/>
        </p:nvSpPr>
        <p:spPr>
          <a:xfrm>
            <a:off x="11118309" y="4764411"/>
            <a:ext cx="316618" cy="282403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10736526" y="4425316"/>
            <a:ext cx="14220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F1 Disposition</a:t>
            </a:r>
          </a:p>
        </p:txBody>
      </p:sp>
      <p:sp>
        <p:nvSpPr>
          <p:cNvPr id="166" name="文字方塊 165"/>
          <p:cNvSpPr txBox="1"/>
          <p:nvPr/>
        </p:nvSpPr>
        <p:spPr>
          <a:xfrm>
            <a:off x="10851941" y="5611165"/>
            <a:ext cx="9188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Fail Item: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在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回覆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COF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或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7" name="文字方塊 166"/>
          <p:cNvSpPr txBox="1"/>
          <p:nvPr/>
        </p:nvSpPr>
        <p:spPr>
          <a:xfrm>
            <a:off x="11159339" y="6399776"/>
            <a:ext cx="309700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F1</a:t>
            </a:r>
          </a:p>
        </p:txBody>
      </p:sp>
      <p:pic>
        <p:nvPicPr>
          <p:cNvPr id="168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8" b="93333" l="1944" r="100000">
                        <a14:foregroundMark x1="76389" y1="24444" x2="76389" y2="24444"/>
                        <a14:foregroundMark x1="43611" y1="22778" x2="43611" y2="22778"/>
                        <a14:foregroundMark x1="24722" y1="24444" x2="24722" y2="24444"/>
                        <a14:foregroundMark x1="57500" y1="24444" x2="57500" y2="24444"/>
                        <a14:foregroundMark x1="35000" y1="50278" x2="35000" y2="50278"/>
                        <a14:foregroundMark x1="65000" y1="61667" x2="65000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216" y="6110813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文字方塊 168"/>
          <p:cNvSpPr txBox="1"/>
          <p:nvPr/>
        </p:nvSpPr>
        <p:spPr>
          <a:xfrm>
            <a:off x="9324228" y="5663421"/>
            <a:ext cx="116391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機台是否繼續</a:t>
            </a:r>
          </a:p>
        </p:txBody>
      </p:sp>
      <p:sp>
        <p:nvSpPr>
          <p:cNvPr id="170" name="文字方塊 169"/>
          <p:cNvSpPr txBox="1"/>
          <p:nvPr/>
        </p:nvSpPr>
        <p:spPr>
          <a:xfrm>
            <a:off x="9665573" y="6399776"/>
            <a:ext cx="481222" cy="2462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/>
            <a:r>
              <a:rPr lang="en-US" altLang="zh-TW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Kevin</a:t>
            </a:r>
          </a:p>
        </p:txBody>
      </p:sp>
      <p:sp>
        <p:nvSpPr>
          <p:cNvPr id="17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55257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Test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TF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1" name="向右箭號 120"/>
          <p:cNvSpPr/>
          <p:nvPr/>
        </p:nvSpPr>
        <p:spPr>
          <a:xfrm flipH="1">
            <a:off x="3172002" y="313159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2" name="向右箭號 121"/>
          <p:cNvSpPr/>
          <p:nvPr/>
        </p:nvSpPr>
        <p:spPr>
          <a:xfrm flipH="1">
            <a:off x="4621328" y="312187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3" name="向右箭號 122"/>
          <p:cNvSpPr/>
          <p:nvPr/>
        </p:nvSpPr>
        <p:spPr>
          <a:xfrm flipH="1">
            <a:off x="6007127" y="313180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8" name="向右箭號 127"/>
          <p:cNvSpPr/>
          <p:nvPr/>
        </p:nvSpPr>
        <p:spPr>
          <a:xfrm flipH="1">
            <a:off x="7490409" y="313088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向右箭號 132"/>
          <p:cNvSpPr/>
          <p:nvPr/>
        </p:nvSpPr>
        <p:spPr>
          <a:xfrm flipH="1">
            <a:off x="8899695" y="313089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5" name="向右箭號 134"/>
          <p:cNvSpPr/>
          <p:nvPr/>
        </p:nvSpPr>
        <p:spPr>
          <a:xfrm flipH="1">
            <a:off x="10148220" y="313188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9" name="向右箭號 138"/>
          <p:cNvSpPr/>
          <p:nvPr/>
        </p:nvSpPr>
        <p:spPr>
          <a:xfrm rot="5400000">
            <a:off x="11106948" y="2296190"/>
            <a:ext cx="519312" cy="158871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4" name="向右箭號 143"/>
          <p:cNvSpPr/>
          <p:nvPr/>
        </p:nvSpPr>
        <p:spPr>
          <a:xfrm rot="5400000">
            <a:off x="588576" y="3681211"/>
            <a:ext cx="1062567" cy="130627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6" name="向右箭號 145"/>
          <p:cNvSpPr/>
          <p:nvPr/>
        </p:nvSpPr>
        <p:spPr>
          <a:xfrm>
            <a:off x="1585929" y="482249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向右箭號 146"/>
          <p:cNvSpPr/>
          <p:nvPr/>
        </p:nvSpPr>
        <p:spPr>
          <a:xfrm>
            <a:off x="3154158" y="483074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7" name="向右箭號 156"/>
          <p:cNvSpPr/>
          <p:nvPr/>
        </p:nvSpPr>
        <p:spPr>
          <a:xfrm>
            <a:off x="4603484" y="482103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8" name="向右箭號 157"/>
          <p:cNvSpPr/>
          <p:nvPr/>
        </p:nvSpPr>
        <p:spPr>
          <a:xfrm>
            <a:off x="5989283" y="483096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9" name="向右箭號 158"/>
          <p:cNvSpPr/>
          <p:nvPr/>
        </p:nvSpPr>
        <p:spPr>
          <a:xfrm>
            <a:off x="7472565" y="483004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0" name="向右箭號 159"/>
          <p:cNvSpPr/>
          <p:nvPr/>
        </p:nvSpPr>
        <p:spPr>
          <a:xfrm>
            <a:off x="8881851" y="483004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3" name="向右箭號 172"/>
          <p:cNvSpPr/>
          <p:nvPr/>
        </p:nvSpPr>
        <p:spPr>
          <a:xfrm>
            <a:off x="10130376" y="483104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4" name="向右箭號 173"/>
          <p:cNvSpPr/>
          <p:nvPr/>
        </p:nvSpPr>
        <p:spPr>
          <a:xfrm rot="5400000">
            <a:off x="11082023" y="5217985"/>
            <a:ext cx="399740" cy="169424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5" name="向右箭號 174"/>
          <p:cNvSpPr/>
          <p:nvPr/>
        </p:nvSpPr>
        <p:spPr>
          <a:xfrm flipH="1">
            <a:off x="5954770" y="614276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6" name="向右箭號 175"/>
          <p:cNvSpPr/>
          <p:nvPr/>
        </p:nvSpPr>
        <p:spPr>
          <a:xfrm flipH="1">
            <a:off x="7438052" y="614184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7" name="向右箭號 176"/>
          <p:cNvSpPr/>
          <p:nvPr/>
        </p:nvSpPr>
        <p:spPr>
          <a:xfrm flipH="1">
            <a:off x="8847338" y="614184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8" name="向右箭號 177"/>
          <p:cNvSpPr/>
          <p:nvPr/>
        </p:nvSpPr>
        <p:spPr>
          <a:xfrm flipH="1">
            <a:off x="10095863" y="614284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84" name="肘形接點 183"/>
          <p:cNvCxnSpPr>
            <a:stCxn id="56" idx="2"/>
          </p:cNvCxnSpPr>
          <p:nvPr/>
        </p:nvCxnSpPr>
        <p:spPr>
          <a:xfrm rot="16200000" flipH="1">
            <a:off x="5600170" y="3566014"/>
            <a:ext cx="432728" cy="460848"/>
          </a:xfrm>
          <a:prstGeom prst="bentConnector2">
            <a:avLst/>
          </a:prstGeom>
          <a:ln w="381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肘形接點 184"/>
          <p:cNvCxnSpPr>
            <a:cxnSpLocks/>
            <a:endCxn id="82" idx="0"/>
          </p:cNvCxnSpPr>
          <p:nvPr/>
        </p:nvCxnSpPr>
        <p:spPr>
          <a:xfrm>
            <a:off x="6566099" y="4028844"/>
            <a:ext cx="495658" cy="354029"/>
          </a:xfrm>
          <a:prstGeom prst="bentConnector2">
            <a:avLst/>
          </a:prstGeom>
          <a:ln w="381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5385504" y="3548840"/>
            <a:ext cx="9053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報告紙</a:t>
            </a:r>
          </a:p>
        </p:txBody>
      </p:sp>
      <p:sp>
        <p:nvSpPr>
          <p:cNvPr id="187" name="文字方塊 186"/>
          <p:cNvSpPr txBox="1"/>
          <p:nvPr/>
        </p:nvSpPr>
        <p:spPr>
          <a:xfrm>
            <a:off x="5427219" y="3659699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9" name="文字方塊 188"/>
          <p:cNvSpPr txBox="1"/>
          <p:nvPr/>
        </p:nvSpPr>
        <p:spPr>
          <a:xfrm>
            <a:off x="2147973" y="127602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0" name="文字方塊 189"/>
          <p:cNvSpPr txBox="1"/>
          <p:nvPr/>
        </p:nvSpPr>
        <p:spPr>
          <a:xfrm>
            <a:off x="3602900" y="1258707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1" name="文字方塊 190"/>
          <p:cNvSpPr txBox="1"/>
          <p:nvPr/>
        </p:nvSpPr>
        <p:spPr>
          <a:xfrm>
            <a:off x="6315220" y="1287285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3" name="文字方塊 192"/>
          <p:cNvSpPr txBox="1"/>
          <p:nvPr/>
        </p:nvSpPr>
        <p:spPr>
          <a:xfrm>
            <a:off x="4914397" y="1244996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4" name="文字方塊 193"/>
          <p:cNvSpPr txBox="1"/>
          <p:nvPr/>
        </p:nvSpPr>
        <p:spPr>
          <a:xfrm>
            <a:off x="7838195" y="122264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11357475" y="2229781"/>
            <a:ext cx="58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8" name="文字方塊 197"/>
          <p:cNvSpPr txBox="1"/>
          <p:nvPr/>
        </p:nvSpPr>
        <p:spPr>
          <a:xfrm>
            <a:off x="7609377" y="292609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1.5hr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9" name="文字方塊 198"/>
          <p:cNvSpPr txBox="1"/>
          <p:nvPr/>
        </p:nvSpPr>
        <p:spPr>
          <a:xfrm>
            <a:off x="6111123" y="2938240"/>
            <a:ext cx="617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3" name="文字方塊 202"/>
          <p:cNvSpPr txBox="1"/>
          <p:nvPr/>
        </p:nvSpPr>
        <p:spPr>
          <a:xfrm>
            <a:off x="694635" y="365773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文字方塊 203"/>
          <p:cNvSpPr txBox="1"/>
          <p:nvPr/>
        </p:nvSpPr>
        <p:spPr>
          <a:xfrm>
            <a:off x="1678454" y="4642052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5" name="文字方塊 204"/>
          <p:cNvSpPr txBox="1"/>
          <p:nvPr/>
        </p:nvSpPr>
        <p:spPr>
          <a:xfrm>
            <a:off x="3253620" y="4649372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8" name="文字方塊 207"/>
          <p:cNvSpPr txBox="1"/>
          <p:nvPr/>
        </p:nvSpPr>
        <p:spPr>
          <a:xfrm>
            <a:off x="7545922" y="4653092"/>
            <a:ext cx="5180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9" name="文字方塊 208"/>
          <p:cNvSpPr txBox="1"/>
          <p:nvPr/>
        </p:nvSpPr>
        <p:spPr>
          <a:xfrm>
            <a:off x="8878591" y="4643554"/>
            <a:ext cx="742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0" name="文字方塊 209"/>
          <p:cNvSpPr txBox="1"/>
          <p:nvPr/>
        </p:nvSpPr>
        <p:spPr>
          <a:xfrm>
            <a:off x="10200790" y="4650244"/>
            <a:ext cx="5545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1" name="文字方塊 210"/>
          <p:cNvSpPr txBox="1"/>
          <p:nvPr/>
        </p:nvSpPr>
        <p:spPr>
          <a:xfrm>
            <a:off x="11288925" y="5242654"/>
            <a:ext cx="481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2" name="文字方塊 211"/>
          <p:cNvSpPr txBox="1"/>
          <p:nvPr/>
        </p:nvSpPr>
        <p:spPr>
          <a:xfrm>
            <a:off x="10318575" y="5950483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1hr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3" name="文字方塊 212"/>
          <p:cNvSpPr txBox="1"/>
          <p:nvPr/>
        </p:nvSpPr>
        <p:spPr>
          <a:xfrm>
            <a:off x="8931210" y="5940660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4" name="文字方塊 213"/>
          <p:cNvSpPr txBox="1"/>
          <p:nvPr/>
        </p:nvSpPr>
        <p:spPr>
          <a:xfrm>
            <a:off x="7570410" y="5940660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5" name="文字方塊 214"/>
          <p:cNvSpPr txBox="1"/>
          <p:nvPr/>
        </p:nvSpPr>
        <p:spPr>
          <a:xfrm>
            <a:off x="6047073" y="5963521"/>
            <a:ext cx="770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717860" y="847200"/>
            <a:ext cx="81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已完成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9707140" y="848368"/>
            <a:ext cx="828395" cy="385045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4867149" y="4237591"/>
            <a:ext cx="1529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已完成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5297933" y="4261824"/>
            <a:ext cx="680113" cy="336085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9684349" y="2602626"/>
            <a:ext cx="5696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拍照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待測區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9676322" y="2611426"/>
            <a:ext cx="580042" cy="388360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3507389" y="2467495"/>
            <a:ext cx="1529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</a:p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待測區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3798587" y="2433149"/>
            <a:ext cx="964827" cy="445232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06" name="向右箭號 205"/>
          <p:cNvSpPr/>
          <p:nvPr/>
        </p:nvSpPr>
        <p:spPr>
          <a:xfrm rot="10800000">
            <a:off x="1084511" y="3128433"/>
            <a:ext cx="1259766" cy="137743"/>
          </a:xfrm>
          <a:prstGeom prst="rightArrow">
            <a:avLst>
              <a:gd name="adj1" fmla="val 50000"/>
              <a:gd name="adj2" fmla="val 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F899D063-9670-4709-B58B-6F694FA28EB3}"/>
              </a:ext>
            </a:extLst>
          </p:cNvPr>
          <p:cNvSpPr/>
          <p:nvPr/>
        </p:nvSpPr>
        <p:spPr>
          <a:xfrm>
            <a:off x="163237" y="770256"/>
            <a:ext cx="1021936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Center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IMES/Summary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In</a:t>
            </a:r>
          </a:p>
        </p:txBody>
      </p:sp>
      <p:pic>
        <p:nvPicPr>
          <p:cNvPr id="148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70F4CBF1-8ECF-481E-AAE7-9FB4F671C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402472" y="1309219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8CC42D7B-D6A1-4BBD-AC4A-DBBCEB6E2125}"/>
              </a:ext>
            </a:extLst>
          </p:cNvPr>
          <p:cNvSpPr txBox="1"/>
          <p:nvPr/>
        </p:nvSpPr>
        <p:spPr>
          <a:xfrm>
            <a:off x="145993" y="1808797"/>
            <a:ext cx="992579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各</a:t>
            </a:r>
            <a:r>
              <a:rPr lang="en-US" altLang="zh-TW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Funciton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DRI</a:t>
            </a:r>
          </a:p>
        </p:txBody>
      </p:sp>
      <p:sp>
        <p:nvSpPr>
          <p:cNvPr id="218" name="向右箭號 151">
            <a:extLst>
              <a:ext uri="{FF2B5EF4-FFF2-40B4-BE49-F238E27FC236}">
                <a16:creationId xmlns:a16="http://schemas.microsoft.com/office/drawing/2014/main" id="{69B54796-170F-430C-8B9A-6871C2C57C8C}"/>
              </a:ext>
            </a:extLst>
          </p:cNvPr>
          <p:cNvSpPr/>
          <p:nvPr/>
        </p:nvSpPr>
        <p:spPr>
          <a:xfrm>
            <a:off x="895927" y="149454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9" name="文字方塊 218">
            <a:extLst>
              <a:ext uri="{FF2B5EF4-FFF2-40B4-BE49-F238E27FC236}">
                <a16:creationId xmlns:a16="http://schemas.microsoft.com/office/drawing/2014/main" id="{8A50966A-C4B6-4704-8346-09123131125D}"/>
              </a:ext>
            </a:extLst>
          </p:cNvPr>
          <p:cNvSpPr txBox="1"/>
          <p:nvPr/>
        </p:nvSpPr>
        <p:spPr>
          <a:xfrm>
            <a:off x="983639" y="1312035"/>
            <a:ext cx="565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0" name="橢圓 219">
            <a:extLst>
              <a:ext uri="{FF2B5EF4-FFF2-40B4-BE49-F238E27FC236}">
                <a16:creationId xmlns:a16="http://schemas.microsoft.com/office/drawing/2014/main" id="{7C221D85-ED91-4838-89C9-E70488AE11AF}"/>
              </a:ext>
            </a:extLst>
          </p:cNvPr>
          <p:cNvSpPr/>
          <p:nvPr/>
        </p:nvSpPr>
        <p:spPr>
          <a:xfrm rot="19223336">
            <a:off x="7979242" y="4808302"/>
            <a:ext cx="133183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5671D763-320D-4034-B1FC-27002E441F5F}"/>
              </a:ext>
            </a:extLst>
          </p:cNvPr>
          <p:cNvSpPr txBox="1"/>
          <p:nvPr/>
        </p:nvSpPr>
        <p:spPr>
          <a:xfrm>
            <a:off x="7954465" y="3959218"/>
            <a:ext cx="178188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1.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報告紙管理機制</a:t>
            </a:r>
          </a:p>
          <a:p>
            <a:pPr algn="l"/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2. Recon / Rel Report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比對腳本</a:t>
            </a:r>
          </a:p>
        </p:txBody>
      </p:sp>
      <p:cxnSp>
        <p:nvCxnSpPr>
          <p:cNvPr id="222" name="接點: 弧形 221">
            <a:extLst>
              <a:ext uri="{FF2B5EF4-FFF2-40B4-BE49-F238E27FC236}">
                <a16:creationId xmlns:a16="http://schemas.microsoft.com/office/drawing/2014/main" id="{A9C17B54-FF0C-41E4-8848-44F29F6FA986}"/>
              </a:ext>
            </a:extLst>
          </p:cNvPr>
          <p:cNvCxnSpPr>
            <a:cxnSpLocks/>
            <a:stCxn id="220" idx="7"/>
            <a:endCxn id="221" idx="1"/>
          </p:cNvCxnSpPr>
          <p:nvPr/>
        </p:nvCxnSpPr>
        <p:spPr>
          <a:xfrm rot="16200000" flipV="1">
            <a:off x="7676165" y="4437574"/>
            <a:ext cx="651785" cy="95184"/>
          </a:xfrm>
          <a:prstGeom prst="curvedConnector4">
            <a:avLst>
              <a:gd name="adj1" fmla="val 34442"/>
              <a:gd name="adj2" fmla="val 34016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C269735B-F6D2-4547-A531-1E3B08707753}"/>
              </a:ext>
            </a:extLst>
          </p:cNvPr>
          <p:cNvSpPr txBox="1"/>
          <p:nvPr/>
        </p:nvSpPr>
        <p:spPr>
          <a:xfrm>
            <a:off x="1509160" y="5632062"/>
            <a:ext cx="140716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1.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自動匯總報告腳本</a:t>
            </a:r>
          </a:p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2. 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數據核對腳本</a:t>
            </a:r>
          </a:p>
        </p:txBody>
      </p:sp>
      <p:sp>
        <p:nvSpPr>
          <p:cNvPr id="224" name="橢圓 223">
            <a:extLst>
              <a:ext uri="{FF2B5EF4-FFF2-40B4-BE49-F238E27FC236}">
                <a16:creationId xmlns:a16="http://schemas.microsoft.com/office/drawing/2014/main" id="{A99B0D4A-2DC1-44D1-A042-06EE940A0D7D}"/>
              </a:ext>
            </a:extLst>
          </p:cNvPr>
          <p:cNvSpPr/>
          <p:nvPr/>
        </p:nvSpPr>
        <p:spPr>
          <a:xfrm rot="2553842">
            <a:off x="1850726" y="484339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接點: 弧形 61">
            <a:extLst>
              <a:ext uri="{FF2B5EF4-FFF2-40B4-BE49-F238E27FC236}">
                <a16:creationId xmlns:a16="http://schemas.microsoft.com/office/drawing/2014/main" id="{27E52696-9555-4339-8B4E-2506486F28D7}"/>
              </a:ext>
            </a:extLst>
          </p:cNvPr>
          <p:cNvCxnSpPr>
            <a:cxnSpLocks/>
            <a:stCxn id="224" idx="5"/>
            <a:endCxn id="223" idx="0"/>
          </p:cNvCxnSpPr>
          <p:nvPr/>
        </p:nvCxnSpPr>
        <p:spPr>
          <a:xfrm rot="16200000" flipH="1">
            <a:off x="1746897" y="5166214"/>
            <a:ext cx="644737" cy="286958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字方塊 179">
            <a:extLst>
              <a:ext uri="{FF2B5EF4-FFF2-40B4-BE49-F238E27FC236}">
                <a16:creationId xmlns:a16="http://schemas.microsoft.com/office/drawing/2014/main" id="{7EB8BB32-71EB-4CC1-844F-C1C453CD39DB}"/>
              </a:ext>
            </a:extLst>
          </p:cNvPr>
          <p:cNvSpPr txBox="1"/>
          <p:nvPr/>
        </p:nvSpPr>
        <p:spPr>
          <a:xfrm>
            <a:off x="404424" y="2371600"/>
            <a:ext cx="880370" cy="41549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 TT: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2.2 Days</a:t>
            </a:r>
          </a:p>
        </p:txBody>
      </p: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6CD9DFE2-5369-436F-9A2B-A69FEE430C98}"/>
              </a:ext>
            </a:extLst>
          </p:cNvPr>
          <p:cNvSpPr txBox="1"/>
          <p:nvPr/>
        </p:nvSpPr>
        <p:spPr>
          <a:xfrm>
            <a:off x="8709945" y="2342096"/>
            <a:ext cx="896400" cy="41549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 TT: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 </a:t>
            </a:r>
            <a:r>
              <a:rPr lang="en-US" altLang="zh-TW" sz="1050" b="1" dirty="0" err="1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Hrs</a:t>
            </a:r>
            <a:endParaRPr lang="en-US" altLang="zh-TW" sz="105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8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10217" y="146548"/>
            <a:ext cx="54723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ea typeface="Microsoft YaHei" panose="020B0503020204020204" pitchFamily="34" charset="-122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 </a:t>
            </a:r>
            <a:r>
              <a:rPr kumimoji="1" lang="en-US" altLang="zh-CN" sz="2400" b="1" dirty="0">
                <a:solidFill>
                  <a:schemeClr val="accent5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Report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Work Flow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（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ea typeface="Microsoft YaHei" panose="020B0503020204020204" pitchFamily="34" charset="-122"/>
              </a:rPr>
              <a:t>T0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）</a:t>
            </a:r>
            <a:endParaRPr kumimoji="1" lang="zh-CN" altLang="en-US" sz="2400" b="1" dirty="0">
              <a:solidFill>
                <a:prstClr val="black"/>
              </a:solidFill>
              <a:ea typeface="Microsoft YaHei" panose="020B0503020204020204" pitchFamily="34" charset="-122"/>
            </a:endParaRPr>
          </a:p>
        </p:txBody>
      </p:sp>
      <p:sp>
        <p:nvSpPr>
          <p:cNvPr id="295" name="文字方塊 254">
            <a:extLst>
              <a:ext uri="{FF2B5EF4-FFF2-40B4-BE49-F238E27FC236}">
                <a16:creationId xmlns:a16="http://schemas.microsoft.com/office/drawing/2014/main" id="{56EA16EA-B861-EC4D-B531-A7789699CE19}"/>
              </a:ext>
            </a:extLst>
          </p:cNvPr>
          <p:cNvSpPr txBox="1"/>
          <p:nvPr/>
        </p:nvSpPr>
        <p:spPr>
          <a:xfrm>
            <a:off x="3047588" y="5007322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297" name="向右箭號 224">
            <a:extLst>
              <a:ext uri="{FF2B5EF4-FFF2-40B4-BE49-F238E27FC236}">
                <a16:creationId xmlns:a16="http://schemas.microsoft.com/office/drawing/2014/main" id="{CFB2E588-29E8-DE43-8300-6ADC6A3957C0}"/>
              </a:ext>
            </a:extLst>
          </p:cNvPr>
          <p:cNvSpPr/>
          <p:nvPr/>
        </p:nvSpPr>
        <p:spPr>
          <a:xfrm flipH="1">
            <a:off x="2248312" y="483583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9" name="橢圓 33">
            <a:extLst>
              <a:ext uri="{FF2B5EF4-FFF2-40B4-BE49-F238E27FC236}">
                <a16:creationId xmlns:a16="http://schemas.microsoft.com/office/drawing/2014/main" id="{35414921-DCA1-B248-A3F0-07119E12B580}"/>
              </a:ext>
            </a:extLst>
          </p:cNvPr>
          <p:cNvSpPr/>
          <p:nvPr/>
        </p:nvSpPr>
        <p:spPr>
          <a:xfrm>
            <a:off x="6993076" y="2658748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0" name="向右箭號 50">
            <a:extLst>
              <a:ext uri="{FF2B5EF4-FFF2-40B4-BE49-F238E27FC236}">
                <a16:creationId xmlns:a16="http://schemas.microsoft.com/office/drawing/2014/main" id="{63EF6057-20BC-AB48-A77F-9A358CB018D8}"/>
              </a:ext>
            </a:extLst>
          </p:cNvPr>
          <p:cNvSpPr/>
          <p:nvPr/>
        </p:nvSpPr>
        <p:spPr>
          <a:xfrm>
            <a:off x="1163498" y="267230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1" name="向右箭號 51">
            <a:extLst>
              <a:ext uri="{FF2B5EF4-FFF2-40B4-BE49-F238E27FC236}">
                <a16:creationId xmlns:a16="http://schemas.microsoft.com/office/drawing/2014/main" id="{6C1B6825-0BD8-A046-8DE1-7056E59BAFE1}"/>
              </a:ext>
            </a:extLst>
          </p:cNvPr>
          <p:cNvSpPr/>
          <p:nvPr/>
        </p:nvSpPr>
        <p:spPr>
          <a:xfrm>
            <a:off x="6096388" y="268721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2" name="向右箭號 52">
            <a:extLst>
              <a:ext uri="{FF2B5EF4-FFF2-40B4-BE49-F238E27FC236}">
                <a16:creationId xmlns:a16="http://schemas.microsoft.com/office/drawing/2014/main" id="{80582F6D-FE5B-4847-9DCD-219818594DC4}"/>
              </a:ext>
            </a:extLst>
          </p:cNvPr>
          <p:cNvSpPr/>
          <p:nvPr/>
        </p:nvSpPr>
        <p:spPr>
          <a:xfrm>
            <a:off x="8666641" y="268721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3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819744" y="265275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4" name="文字方塊 54">
            <a:extLst>
              <a:ext uri="{FF2B5EF4-FFF2-40B4-BE49-F238E27FC236}">
                <a16:creationId xmlns:a16="http://schemas.microsoft.com/office/drawing/2014/main" id="{C2DC5C4A-3C6E-A74D-96C5-7EE4F29414A5}"/>
              </a:ext>
            </a:extLst>
          </p:cNvPr>
          <p:cNvSpPr txBox="1"/>
          <p:nvPr/>
        </p:nvSpPr>
        <p:spPr>
          <a:xfrm>
            <a:off x="384903" y="1998337"/>
            <a:ext cx="103859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TW" altLang="en-US" sz="1000" dirty="0">
                <a:latin typeface="Calibri" panose="020F0502020204030204" pitchFamily="34" charset="0"/>
              </a:rPr>
              <a:t>外觀</a:t>
            </a:r>
            <a:r>
              <a:rPr lang="zh-CN" altLang="en-US" sz="1000" dirty="0">
                <a:latin typeface="Calibri" panose="020F0502020204030204" pitchFamily="34" charset="0"/>
              </a:rPr>
              <a:t>將</a:t>
            </a:r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送至</a:t>
            </a:r>
            <a:r>
              <a:rPr lang="en-US" altLang="zh-CN" sz="1000" dirty="0">
                <a:latin typeface="Calibri" panose="020F0502020204030204" pitchFamily="34" charset="0"/>
              </a:rPr>
              <a:t>Recon</a:t>
            </a:r>
            <a:r>
              <a:rPr lang="zh-CN" altLang="en-US" sz="1000" dirty="0">
                <a:latin typeface="Calibri" panose="020F0502020204030204" pitchFamily="34" charset="0"/>
              </a:rPr>
              <a:t>組</a:t>
            </a:r>
            <a:endParaRPr lang="en-US" altLang="zh-TW" sz="1000" dirty="0">
              <a:latin typeface="Calibri" panose="020F0502020204030204" pitchFamily="34" charset="0"/>
            </a:endParaRPr>
          </a:p>
          <a:p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4338304C-63C5-0C42-B3AC-C266AA1C9139}"/>
              </a:ext>
            </a:extLst>
          </p:cNvPr>
          <p:cNvSpPr/>
          <p:nvPr/>
        </p:nvSpPr>
        <p:spPr>
          <a:xfrm>
            <a:off x="6648438" y="1892673"/>
            <a:ext cx="106766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”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報告導入腳本</a:t>
            </a:r>
            <a:r>
              <a:rPr lang="en-US" altLang="zh-CN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”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錄入外觀與工站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Failed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4039318" y="2122098"/>
            <a:ext cx="130224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從共享文件館</a:t>
            </a:r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下載</a:t>
            </a:r>
            <a:r>
              <a:rPr lang="en-US" altLang="zh-TW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</a:t>
            </a:r>
            <a:r>
              <a:rPr lang="en-US" altLang="zh-TW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ini line</a:t>
            </a:r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報告</a:t>
            </a:r>
            <a:endParaRPr lang="zh-TW" altLang="en-US" sz="1000" b="1" dirty="0">
              <a:solidFill>
                <a:srgbClr val="0000FF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7" name="向右箭號 60">
            <a:extLst>
              <a:ext uri="{FF2B5EF4-FFF2-40B4-BE49-F238E27FC236}">
                <a16:creationId xmlns:a16="http://schemas.microsoft.com/office/drawing/2014/main" id="{F21954BC-4AFB-9046-9616-09EF918C2ECF}"/>
              </a:ext>
            </a:extLst>
          </p:cNvPr>
          <p:cNvSpPr/>
          <p:nvPr/>
        </p:nvSpPr>
        <p:spPr>
          <a:xfrm>
            <a:off x="3658833" y="265837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8" name="文字方塊 61">
            <a:extLst>
              <a:ext uri="{FF2B5EF4-FFF2-40B4-BE49-F238E27FC236}">
                <a16:creationId xmlns:a16="http://schemas.microsoft.com/office/drawing/2014/main" id="{BD924D4F-16D2-1246-BABE-5B52AABFBFA1}"/>
              </a:ext>
            </a:extLst>
          </p:cNvPr>
          <p:cNvSpPr txBox="1"/>
          <p:nvPr/>
        </p:nvSpPr>
        <p:spPr>
          <a:xfrm>
            <a:off x="671408" y="2934554"/>
            <a:ext cx="42672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09" name="文字方塊 62">
            <a:extLst>
              <a:ext uri="{FF2B5EF4-FFF2-40B4-BE49-F238E27FC236}">
                <a16:creationId xmlns:a16="http://schemas.microsoft.com/office/drawing/2014/main" id="{5A099EFF-5736-9443-8B98-5937C113927C}"/>
              </a:ext>
            </a:extLst>
          </p:cNvPr>
          <p:cNvSpPr txBox="1"/>
          <p:nvPr/>
        </p:nvSpPr>
        <p:spPr>
          <a:xfrm>
            <a:off x="5636236" y="2938486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10" name="文字方塊 63">
            <a:extLst>
              <a:ext uri="{FF2B5EF4-FFF2-40B4-BE49-F238E27FC236}">
                <a16:creationId xmlns:a16="http://schemas.microsoft.com/office/drawing/2014/main" id="{20767D48-0E34-5B40-A0AB-8878FFB26985}"/>
              </a:ext>
            </a:extLst>
          </p:cNvPr>
          <p:cNvSpPr txBox="1"/>
          <p:nvPr/>
        </p:nvSpPr>
        <p:spPr>
          <a:xfrm>
            <a:off x="6850350" y="2928177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11" name="向右箭號 64">
            <a:extLst>
              <a:ext uri="{FF2B5EF4-FFF2-40B4-BE49-F238E27FC236}">
                <a16:creationId xmlns:a16="http://schemas.microsoft.com/office/drawing/2014/main" id="{0701B3F5-D1FF-3241-B777-345A5EF91617}"/>
              </a:ext>
            </a:extLst>
          </p:cNvPr>
          <p:cNvSpPr/>
          <p:nvPr/>
        </p:nvSpPr>
        <p:spPr>
          <a:xfrm>
            <a:off x="7381515" y="268721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B694D95F-C669-A541-8A16-BD1617BF23F8}"/>
              </a:ext>
            </a:extLst>
          </p:cNvPr>
          <p:cNvSpPr/>
          <p:nvPr/>
        </p:nvSpPr>
        <p:spPr>
          <a:xfrm>
            <a:off x="10567202" y="2085490"/>
            <a:ext cx="98934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檢查報告數據與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Recon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數據是否一致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6" name="文字方塊 71">
            <a:extLst>
              <a:ext uri="{FF2B5EF4-FFF2-40B4-BE49-F238E27FC236}">
                <a16:creationId xmlns:a16="http://schemas.microsoft.com/office/drawing/2014/main" id="{F3B773B6-83F6-8B40-AA75-DC135679473E}"/>
              </a:ext>
            </a:extLst>
          </p:cNvPr>
          <p:cNvSpPr txBox="1"/>
          <p:nvPr/>
        </p:nvSpPr>
        <p:spPr>
          <a:xfrm>
            <a:off x="9179561" y="1929201"/>
            <a:ext cx="1031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更新當天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已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完成報告機台資訊的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Recon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日期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7" name="向右箭號 73">
            <a:extLst>
              <a:ext uri="{FF2B5EF4-FFF2-40B4-BE49-F238E27FC236}">
                <a16:creationId xmlns:a16="http://schemas.microsoft.com/office/drawing/2014/main" id="{2F4606A9-3A5B-C449-B628-38A349FECCDF}"/>
              </a:ext>
            </a:extLst>
          </p:cNvPr>
          <p:cNvSpPr/>
          <p:nvPr/>
        </p:nvSpPr>
        <p:spPr>
          <a:xfrm flipH="1">
            <a:off x="6046668" y="480876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8" name="向右箭號 74">
            <a:extLst>
              <a:ext uri="{FF2B5EF4-FFF2-40B4-BE49-F238E27FC236}">
                <a16:creationId xmlns:a16="http://schemas.microsoft.com/office/drawing/2014/main" id="{9A850F39-2AB3-1E4F-A36D-7B98329F905F}"/>
              </a:ext>
            </a:extLst>
          </p:cNvPr>
          <p:cNvSpPr/>
          <p:nvPr/>
        </p:nvSpPr>
        <p:spPr>
          <a:xfrm flipH="1">
            <a:off x="7331793" y="480876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9" name="向右箭號 75">
            <a:extLst>
              <a:ext uri="{FF2B5EF4-FFF2-40B4-BE49-F238E27FC236}">
                <a16:creationId xmlns:a16="http://schemas.microsoft.com/office/drawing/2014/main" id="{85ECBFA3-9CBE-124D-876A-28FB5E94863D}"/>
              </a:ext>
            </a:extLst>
          </p:cNvPr>
          <p:cNvSpPr/>
          <p:nvPr/>
        </p:nvSpPr>
        <p:spPr>
          <a:xfrm flipH="1">
            <a:off x="8621080" y="4800038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0" name="向右箭號 76">
            <a:extLst>
              <a:ext uri="{FF2B5EF4-FFF2-40B4-BE49-F238E27FC236}">
                <a16:creationId xmlns:a16="http://schemas.microsoft.com/office/drawing/2014/main" id="{822C6A19-748B-254B-813F-6D7F2B9DE38F}"/>
              </a:ext>
            </a:extLst>
          </p:cNvPr>
          <p:cNvSpPr/>
          <p:nvPr/>
        </p:nvSpPr>
        <p:spPr>
          <a:xfrm flipH="1">
            <a:off x="10005192" y="480876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1" name="橢圓 77">
            <a:extLst>
              <a:ext uri="{FF2B5EF4-FFF2-40B4-BE49-F238E27FC236}">
                <a16:creationId xmlns:a16="http://schemas.microsoft.com/office/drawing/2014/main" id="{BF3356DA-9D92-7742-A8D3-E0D34856F04A}"/>
              </a:ext>
            </a:extLst>
          </p:cNvPr>
          <p:cNvSpPr/>
          <p:nvPr/>
        </p:nvSpPr>
        <p:spPr>
          <a:xfrm>
            <a:off x="9590560" y="478080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129A2EA2-49D1-9547-9675-CC41DDB22385}"/>
              </a:ext>
            </a:extLst>
          </p:cNvPr>
          <p:cNvSpPr/>
          <p:nvPr/>
        </p:nvSpPr>
        <p:spPr>
          <a:xfrm>
            <a:off x="9123139" y="4202269"/>
            <a:ext cx="9834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報告紙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分為已錄完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/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未錄完存放專人管理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2F5FD2DC-9D8B-3048-971F-08DF81E83945}"/>
              </a:ext>
            </a:extLst>
          </p:cNvPr>
          <p:cNvSpPr/>
          <p:nvPr/>
        </p:nvSpPr>
        <p:spPr>
          <a:xfrm>
            <a:off x="10235674" y="4245963"/>
            <a:ext cx="166616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In/OUT(IMES)</a:t>
            </a:r>
          </a:p>
        </p:txBody>
      </p:sp>
      <p:sp>
        <p:nvSpPr>
          <p:cNvPr id="324" name="文字方塊 83">
            <a:extLst>
              <a:ext uri="{FF2B5EF4-FFF2-40B4-BE49-F238E27FC236}">
                <a16:creationId xmlns:a16="http://schemas.microsoft.com/office/drawing/2014/main" id="{EB3B9E04-CB5F-D743-82B0-BCEF79BBD739}"/>
              </a:ext>
            </a:extLst>
          </p:cNvPr>
          <p:cNvSpPr txBox="1"/>
          <p:nvPr/>
        </p:nvSpPr>
        <p:spPr>
          <a:xfrm>
            <a:off x="7829209" y="4159596"/>
            <a:ext cx="10471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檢查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當日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Failure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數據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是否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有異常項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5" name="文字方塊 84">
            <a:extLst>
              <a:ext uri="{FF2B5EF4-FFF2-40B4-BE49-F238E27FC236}">
                <a16:creationId xmlns:a16="http://schemas.microsoft.com/office/drawing/2014/main" id="{0E731ABC-5A9C-5E4E-9308-11BFA4052596}"/>
              </a:ext>
            </a:extLst>
          </p:cNvPr>
          <p:cNvSpPr txBox="1"/>
          <p:nvPr/>
        </p:nvSpPr>
        <p:spPr>
          <a:xfrm>
            <a:off x="6868104" y="4988889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E16B83C2-9D97-7643-84FA-43C6EFF52D69}"/>
              </a:ext>
            </a:extLst>
          </p:cNvPr>
          <p:cNvSpPr/>
          <p:nvPr/>
        </p:nvSpPr>
        <p:spPr>
          <a:xfrm>
            <a:off x="6524654" y="4148580"/>
            <a:ext cx="102492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使用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換行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標藍加粗腳本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編輯報告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Log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7" name="文字方塊 86">
            <a:extLst>
              <a:ext uri="{FF2B5EF4-FFF2-40B4-BE49-F238E27FC236}">
                <a16:creationId xmlns:a16="http://schemas.microsoft.com/office/drawing/2014/main" id="{916DFF4A-706C-2046-A166-1091F14F2396}"/>
              </a:ext>
            </a:extLst>
          </p:cNvPr>
          <p:cNvSpPr txBox="1"/>
          <p:nvPr/>
        </p:nvSpPr>
        <p:spPr>
          <a:xfrm>
            <a:off x="2900985" y="2008305"/>
            <a:ext cx="1051368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Recon</a:t>
            </a:r>
            <a:r>
              <a:rPr lang="zh-CN" altLang="en-US" sz="1000" dirty="0">
                <a:latin typeface="Calibri" panose="020F0502020204030204" pitchFamily="34" charset="0"/>
              </a:rPr>
              <a:t>組將</a:t>
            </a:r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給報告組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DB81E776-A45B-9A4C-A046-84D29056B3AB}"/>
              </a:ext>
            </a:extLst>
          </p:cNvPr>
          <p:cNvSpPr/>
          <p:nvPr/>
        </p:nvSpPr>
        <p:spPr>
          <a:xfrm>
            <a:off x="5414238" y="4080616"/>
            <a:ext cx="110614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將報告上傳文件館和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整機報告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雷達備份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29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4FF54C42-73ED-7043-9844-A640CF4CF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0831502" y="4626351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0" name="文字方塊 89">
            <a:extLst>
              <a:ext uri="{FF2B5EF4-FFF2-40B4-BE49-F238E27FC236}">
                <a16:creationId xmlns:a16="http://schemas.microsoft.com/office/drawing/2014/main" id="{C2DC25E0-0AA8-0446-B733-B1F4D0A50EB3}"/>
              </a:ext>
            </a:extLst>
          </p:cNvPr>
          <p:cNvSpPr txBox="1"/>
          <p:nvPr/>
        </p:nvSpPr>
        <p:spPr>
          <a:xfrm>
            <a:off x="4430345" y="2938486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7D203457-83FA-5C4B-A0F1-4ECD3C21770A}"/>
              </a:ext>
            </a:extLst>
          </p:cNvPr>
          <p:cNvSpPr/>
          <p:nvPr/>
        </p:nvSpPr>
        <p:spPr>
          <a:xfrm>
            <a:off x="5290954" y="1817226"/>
            <a:ext cx="12245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報告組維護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SYS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資料至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”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報告導入腳本</a:t>
            </a:r>
            <a:r>
              <a:rPr lang="en-US" altLang="zh-CN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”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並更改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腳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本內文檔名稱須跟維護資料名稱一致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2" name="向右箭號 91">
            <a:extLst>
              <a:ext uri="{FF2B5EF4-FFF2-40B4-BE49-F238E27FC236}">
                <a16:creationId xmlns:a16="http://schemas.microsoft.com/office/drawing/2014/main" id="{E991FFA3-9AFD-0C4F-B9EB-778A9276D9DD}"/>
              </a:ext>
            </a:extLst>
          </p:cNvPr>
          <p:cNvSpPr/>
          <p:nvPr/>
        </p:nvSpPr>
        <p:spPr>
          <a:xfrm>
            <a:off x="4913821" y="265837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3" name="橢圓 92">
            <a:extLst>
              <a:ext uri="{FF2B5EF4-FFF2-40B4-BE49-F238E27FC236}">
                <a16:creationId xmlns:a16="http://schemas.microsoft.com/office/drawing/2014/main" id="{02C1952F-C0C3-B847-8ADD-03179F2607BF}"/>
              </a:ext>
            </a:extLst>
          </p:cNvPr>
          <p:cNvSpPr/>
          <p:nvPr/>
        </p:nvSpPr>
        <p:spPr>
          <a:xfrm>
            <a:off x="4573071" y="264699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4" name="向右箭號 93">
            <a:extLst>
              <a:ext uri="{FF2B5EF4-FFF2-40B4-BE49-F238E27FC236}">
                <a16:creationId xmlns:a16="http://schemas.microsoft.com/office/drawing/2014/main" id="{25E55206-A45B-0A4C-B33C-3C8A6A68FCAF}"/>
              </a:ext>
            </a:extLst>
          </p:cNvPr>
          <p:cNvSpPr/>
          <p:nvPr/>
        </p:nvSpPr>
        <p:spPr>
          <a:xfrm rot="5400000">
            <a:off x="10496613" y="3673936"/>
            <a:ext cx="1100769" cy="169669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5" name="橢圓 95">
            <a:extLst>
              <a:ext uri="{FF2B5EF4-FFF2-40B4-BE49-F238E27FC236}">
                <a16:creationId xmlns:a16="http://schemas.microsoft.com/office/drawing/2014/main" id="{082E6B8D-B214-2F4A-B877-09F79C25A3D2}"/>
              </a:ext>
            </a:extLst>
          </p:cNvPr>
          <p:cNvSpPr/>
          <p:nvPr/>
        </p:nvSpPr>
        <p:spPr>
          <a:xfrm>
            <a:off x="8302420" y="265668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6" name="橢圓 97">
            <a:extLst>
              <a:ext uri="{FF2B5EF4-FFF2-40B4-BE49-F238E27FC236}">
                <a16:creationId xmlns:a16="http://schemas.microsoft.com/office/drawing/2014/main" id="{CCB7F7F4-B995-2148-BE30-0563EF750342}"/>
              </a:ext>
            </a:extLst>
          </p:cNvPr>
          <p:cNvSpPr/>
          <p:nvPr/>
        </p:nvSpPr>
        <p:spPr>
          <a:xfrm>
            <a:off x="10962163" y="2610909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7" name="橢圓 98">
            <a:extLst>
              <a:ext uri="{FF2B5EF4-FFF2-40B4-BE49-F238E27FC236}">
                <a16:creationId xmlns:a16="http://schemas.microsoft.com/office/drawing/2014/main" id="{21B9E2DE-FED1-4B46-BFE6-05E31B47C8FF}"/>
              </a:ext>
            </a:extLst>
          </p:cNvPr>
          <p:cNvSpPr/>
          <p:nvPr/>
        </p:nvSpPr>
        <p:spPr>
          <a:xfrm>
            <a:off x="3305331" y="263882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8" name="文字方塊 100">
            <a:extLst>
              <a:ext uri="{FF2B5EF4-FFF2-40B4-BE49-F238E27FC236}">
                <a16:creationId xmlns:a16="http://schemas.microsoft.com/office/drawing/2014/main" id="{FCB5137A-4BDF-AF43-89AF-30B1C5855ED1}"/>
              </a:ext>
            </a:extLst>
          </p:cNvPr>
          <p:cNvSpPr txBox="1"/>
          <p:nvPr/>
        </p:nvSpPr>
        <p:spPr>
          <a:xfrm>
            <a:off x="5676361" y="4988889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39" name="向右箭號 224">
            <a:extLst>
              <a:ext uri="{FF2B5EF4-FFF2-40B4-BE49-F238E27FC236}">
                <a16:creationId xmlns:a16="http://schemas.microsoft.com/office/drawing/2014/main" id="{6EC2EE9B-39F7-8D44-B1B3-0581EB7F1DE0}"/>
              </a:ext>
            </a:extLst>
          </p:cNvPr>
          <p:cNvSpPr/>
          <p:nvPr/>
        </p:nvSpPr>
        <p:spPr>
          <a:xfrm flipH="1">
            <a:off x="4902022" y="4811308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0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934542" y="2928177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41" name="向右箭號 166">
            <a:extLst>
              <a:ext uri="{FF2B5EF4-FFF2-40B4-BE49-F238E27FC236}">
                <a16:creationId xmlns:a16="http://schemas.microsoft.com/office/drawing/2014/main" id="{EB06DF0E-9AE1-4B49-B3FF-80C3B8BD770F}"/>
              </a:ext>
            </a:extLst>
          </p:cNvPr>
          <p:cNvSpPr/>
          <p:nvPr/>
        </p:nvSpPr>
        <p:spPr>
          <a:xfrm>
            <a:off x="2439221" y="266935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2" name="橢圓 149">
            <a:extLst>
              <a:ext uri="{FF2B5EF4-FFF2-40B4-BE49-F238E27FC236}">
                <a16:creationId xmlns:a16="http://schemas.microsoft.com/office/drawing/2014/main" id="{6085849A-050D-2649-8E14-50A1A9E45CA6}"/>
              </a:ext>
            </a:extLst>
          </p:cNvPr>
          <p:cNvSpPr/>
          <p:nvPr/>
        </p:nvSpPr>
        <p:spPr>
          <a:xfrm>
            <a:off x="2085719" y="264980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3" name="文字方塊 121">
            <a:extLst>
              <a:ext uri="{FF2B5EF4-FFF2-40B4-BE49-F238E27FC236}">
                <a16:creationId xmlns:a16="http://schemas.microsoft.com/office/drawing/2014/main" id="{67918A44-81A0-0E4C-BD59-A15A9F73C2D7}"/>
              </a:ext>
            </a:extLst>
          </p:cNvPr>
          <p:cNvSpPr txBox="1"/>
          <p:nvPr/>
        </p:nvSpPr>
        <p:spPr>
          <a:xfrm>
            <a:off x="1566074" y="2010959"/>
            <a:ext cx="11223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</a:rPr>
              <a:t>R</a:t>
            </a:r>
            <a:r>
              <a:rPr lang="en-US" altLang="zh-TW" sz="1000" dirty="0">
                <a:solidFill>
                  <a:schemeClr val="tx1"/>
                </a:solidFill>
                <a:latin typeface="Calibri" panose="020F0502020204030204" pitchFamily="34" charset="0"/>
              </a:rPr>
              <a:t>econ</a:t>
            </a:r>
            <a:r>
              <a:rPr lang="zh-CN" altLang="en-US" sz="1000" dirty="0">
                <a:solidFill>
                  <a:srgbClr val="0000FF"/>
                </a:solidFill>
                <a:latin typeface="Calibri" panose="020F0502020204030204" pitchFamily="34" charset="0"/>
              </a:rPr>
              <a:t>錄入外觀</a:t>
            </a:r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Failure Item</a:t>
            </a:r>
            <a:endParaRPr lang="en-US" altLang="zh-TW" sz="1000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344" name="橢圓 102">
            <a:extLst>
              <a:ext uri="{FF2B5EF4-FFF2-40B4-BE49-F238E27FC236}">
                <a16:creationId xmlns:a16="http://schemas.microsoft.com/office/drawing/2014/main" id="{99A11755-654E-4349-A579-A1D65463E3E6}"/>
              </a:ext>
            </a:extLst>
          </p:cNvPr>
          <p:cNvSpPr/>
          <p:nvPr/>
        </p:nvSpPr>
        <p:spPr>
          <a:xfrm>
            <a:off x="8253307" y="478080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08929AFE-1513-514E-9F38-516E9F9AD376}"/>
              </a:ext>
            </a:extLst>
          </p:cNvPr>
          <p:cNvSpPr/>
          <p:nvPr/>
        </p:nvSpPr>
        <p:spPr>
          <a:xfrm>
            <a:off x="242577" y="3929683"/>
            <a:ext cx="9919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按照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F1 approve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的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WF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分配郵件和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Checkpoint</a:t>
            </a:r>
          </a:p>
        </p:txBody>
      </p:sp>
      <p:pic>
        <p:nvPicPr>
          <p:cNvPr id="347" name="Picture 1" descr="C:\Users\28243\AppData\Local\SuperNotes\a.nina.yh.huang@mail.foxconn.com\mid\B3FCFAA1-3FB0-4647-906A-2B0D9963BB36.jpg">
            <a:extLst>
              <a:ext uri="{FF2B5EF4-FFF2-40B4-BE49-F238E27FC236}">
                <a16:creationId xmlns:a16="http://schemas.microsoft.com/office/drawing/2014/main" id="{D879B613-EC2D-EB47-B085-C31C77511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117" y="4780805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9" name="橢圓 38">
            <a:extLst>
              <a:ext uri="{FF2B5EF4-FFF2-40B4-BE49-F238E27FC236}">
                <a16:creationId xmlns:a16="http://schemas.microsoft.com/office/drawing/2014/main" id="{0BDC57A5-4F16-1049-AA61-A1F9EDFA4B33}"/>
              </a:ext>
            </a:extLst>
          </p:cNvPr>
          <p:cNvSpPr/>
          <p:nvPr/>
        </p:nvSpPr>
        <p:spPr>
          <a:xfrm>
            <a:off x="5761444" y="478080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949BC30-617D-144E-A5AB-B1339E3E60DB}"/>
              </a:ext>
            </a:extLst>
          </p:cNvPr>
          <p:cNvSpPr/>
          <p:nvPr/>
        </p:nvSpPr>
        <p:spPr>
          <a:xfrm>
            <a:off x="7966342" y="1931467"/>
            <a:ext cx="86880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OPs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比對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數據和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Recon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數據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1" name="向右箭號 224">
            <a:extLst>
              <a:ext uri="{FF2B5EF4-FFF2-40B4-BE49-F238E27FC236}">
                <a16:creationId xmlns:a16="http://schemas.microsoft.com/office/drawing/2014/main" id="{1805105A-4061-F54C-868C-35527E847539}"/>
              </a:ext>
            </a:extLst>
          </p:cNvPr>
          <p:cNvSpPr/>
          <p:nvPr/>
        </p:nvSpPr>
        <p:spPr>
          <a:xfrm flipH="1">
            <a:off x="3542089" y="4823309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3" name="橢圓 96">
            <a:extLst>
              <a:ext uri="{FF2B5EF4-FFF2-40B4-BE49-F238E27FC236}">
                <a16:creationId xmlns:a16="http://schemas.microsoft.com/office/drawing/2014/main" id="{54F24259-DDDE-5547-92EC-1FDB98EA45F9}"/>
              </a:ext>
            </a:extLst>
          </p:cNvPr>
          <p:cNvSpPr/>
          <p:nvPr/>
        </p:nvSpPr>
        <p:spPr>
          <a:xfrm>
            <a:off x="9640573" y="261091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6949BC30-617D-144E-A5AB-B1339E3E60DB}"/>
              </a:ext>
            </a:extLst>
          </p:cNvPr>
          <p:cNvSpPr/>
          <p:nvPr/>
        </p:nvSpPr>
        <p:spPr>
          <a:xfrm>
            <a:off x="4041887" y="4145328"/>
            <a:ext cx="10713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電腦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運行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報告和</a:t>
            </a:r>
            <a:r>
              <a:rPr lang="en-US" altLang="zh-TW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對比腳本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5" name="文字方塊 67">
            <a:extLst>
              <a:ext uri="{FF2B5EF4-FFF2-40B4-BE49-F238E27FC236}">
                <a16:creationId xmlns:a16="http://schemas.microsoft.com/office/drawing/2014/main" id="{FA219D4E-DEE5-F947-BC9B-733A2403DD58}"/>
              </a:ext>
            </a:extLst>
          </p:cNvPr>
          <p:cNvSpPr txBox="1"/>
          <p:nvPr/>
        </p:nvSpPr>
        <p:spPr>
          <a:xfrm>
            <a:off x="4392316" y="4988889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56" name="文字方塊 254">
            <a:extLst>
              <a:ext uri="{FF2B5EF4-FFF2-40B4-BE49-F238E27FC236}">
                <a16:creationId xmlns:a16="http://schemas.microsoft.com/office/drawing/2014/main" id="{56EA16EA-B861-EC4D-B531-A7789699CE19}"/>
              </a:ext>
            </a:extLst>
          </p:cNvPr>
          <p:cNvSpPr txBox="1"/>
          <p:nvPr/>
        </p:nvSpPr>
        <p:spPr>
          <a:xfrm>
            <a:off x="1806425" y="5017907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05726FB9-E0FC-B246-A38D-15B931A20E5F}"/>
              </a:ext>
            </a:extLst>
          </p:cNvPr>
          <p:cNvSpPr/>
          <p:nvPr/>
        </p:nvSpPr>
        <p:spPr>
          <a:xfrm>
            <a:off x="1494892" y="3816795"/>
            <a:ext cx="10840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WF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分配郵件發給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F1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Review</a:t>
            </a:r>
          </a:p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待 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F1 approve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1" name="矩形 360"/>
          <p:cNvSpPr/>
          <p:nvPr/>
        </p:nvSpPr>
        <p:spPr>
          <a:xfrm>
            <a:off x="6684802" y="1869860"/>
            <a:ext cx="954487" cy="60587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2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8126684" y="4988889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63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8225523" y="2934554"/>
            <a:ext cx="39145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OPs</a:t>
            </a:r>
          </a:p>
        </p:txBody>
      </p:sp>
      <p:sp>
        <p:nvSpPr>
          <p:cNvPr id="365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0808438" y="2879645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66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3143165" y="2938956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4104718" y="4110233"/>
            <a:ext cx="954487" cy="60587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8" name="矩形 367"/>
          <p:cNvSpPr/>
          <p:nvPr/>
        </p:nvSpPr>
        <p:spPr>
          <a:xfrm>
            <a:off x="6573908" y="4116535"/>
            <a:ext cx="954487" cy="60587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9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0806155" y="5017907"/>
            <a:ext cx="45878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70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9465776" y="5002271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71" name="文字方塊 370"/>
          <p:cNvSpPr txBox="1"/>
          <p:nvPr/>
        </p:nvSpPr>
        <p:spPr>
          <a:xfrm>
            <a:off x="1238704" y="2417007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2" name="文字方塊 371"/>
          <p:cNvSpPr txBox="1"/>
          <p:nvPr/>
        </p:nvSpPr>
        <p:spPr>
          <a:xfrm>
            <a:off x="2534103" y="2418080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3" name="文字方塊 372"/>
          <p:cNvSpPr txBox="1"/>
          <p:nvPr/>
        </p:nvSpPr>
        <p:spPr>
          <a:xfrm>
            <a:off x="3745817" y="2401361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4" name="文字方塊 373"/>
          <p:cNvSpPr txBox="1"/>
          <p:nvPr/>
        </p:nvSpPr>
        <p:spPr>
          <a:xfrm>
            <a:off x="4968938" y="2418865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5" name="文字方塊 374"/>
          <p:cNvSpPr txBox="1"/>
          <p:nvPr/>
        </p:nvSpPr>
        <p:spPr>
          <a:xfrm>
            <a:off x="6291641" y="2440671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6" name="文字方塊 375"/>
          <p:cNvSpPr txBox="1"/>
          <p:nvPr/>
        </p:nvSpPr>
        <p:spPr>
          <a:xfrm>
            <a:off x="7442343" y="2430574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7" name="文字方塊 376"/>
          <p:cNvSpPr txBox="1"/>
          <p:nvPr/>
        </p:nvSpPr>
        <p:spPr>
          <a:xfrm>
            <a:off x="8738813" y="2449985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8" name="文字方塊 377"/>
          <p:cNvSpPr txBox="1"/>
          <p:nvPr/>
        </p:nvSpPr>
        <p:spPr>
          <a:xfrm>
            <a:off x="10107212" y="2455023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9" name="文字方塊 378"/>
          <p:cNvSpPr txBox="1"/>
          <p:nvPr/>
        </p:nvSpPr>
        <p:spPr>
          <a:xfrm>
            <a:off x="11068758" y="3537128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1" name="文字方塊 380"/>
          <p:cNvSpPr txBox="1"/>
          <p:nvPr/>
        </p:nvSpPr>
        <p:spPr>
          <a:xfrm>
            <a:off x="10125436" y="455224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2" name="文字方塊 381"/>
          <p:cNvSpPr txBox="1"/>
          <p:nvPr/>
        </p:nvSpPr>
        <p:spPr>
          <a:xfrm>
            <a:off x="8714431" y="456477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3" name="文字方塊 382"/>
          <p:cNvSpPr txBox="1"/>
          <p:nvPr/>
        </p:nvSpPr>
        <p:spPr>
          <a:xfrm>
            <a:off x="7492375" y="4566816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4" name="文字方塊 383"/>
          <p:cNvSpPr txBox="1"/>
          <p:nvPr/>
        </p:nvSpPr>
        <p:spPr>
          <a:xfrm>
            <a:off x="6053253" y="455224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5" name="文字方塊 384"/>
          <p:cNvSpPr txBox="1"/>
          <p:nvPr/>
        </p:nvSpPr>
        <p:spPr>
          <a:xfrm>
            <a:off x="5011466" y="4571176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7" name="文字方塊 386"/>
          <p:cNvSpPr txBox="1"/>
          <p:nvPr/>
        </p:nvSpPr>
        <p:spPr>
          <a:xfrm>
            <a:off x="2329253" y="4611685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9" name="橢圓 388"/>
          <p:cNvSpPr/>
          <p:nvPr/>
        </p:nvSpPr>
        <p:spPr>
          <a:xfrm>
            <a:off x="6966324" y="4780805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0" name="橢圓 389"/>
          <p:cNvSpPr/>
          <p:nvPr/>
        </p:nvSpPr>
        <p:spPr>
          <a:xfrm>
            <a:off x="4451489" y="4780805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1" name="橢圓 390"/>
          <p:cNvSpPr/>
          <p:nvPr/>
        </p:nvSpPr>
        <p:spPr>
          <a:xfrm>
            <a:off x="5776808" y="266257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2" name="橢圓 391"/>
          <p:cNvSpPr/>
          <p:nvPr/>
        </p:nvSpPr>
        <p:spPr>
          <a:xfrm>
            <a:off x="3157162" y="4780805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3" name="矩形 392"/>
          <p:cNvSpPr/>
          <p:nvPr/>
        </p:nvSpPr>
        <p:spPr>
          <a:xfrm>
            <a:off x="6706565" y="1128555"/>
            <a:ext cx="1414473" cy="617674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使用</a:t>
            </a:r>
            <a:r>
              <a:rPr lang="zh-CN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腳本錄入</a:t>
            </a:r>
            <a:r>
              <a:rPr lang="en-US" altLang="zh-CN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SN/ Test/ CP/ Failure Mode/ Mini line Station Failed</a:t>
            </a:r>
          </a:p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減少人工疏漏</a:t>
            </a:r>
            <a:endParaRPr lang="en-US" altLang="zh-TW" sz="1000" b="1" dirty="0">
              <a:solidFill>
                <a:srgbClr val="C55A1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endParaRPr lang="zh-TW" altLang="en-US" sz="1000" b="1" dirty="0">
              <a:solidFill>
                <a:srgbClr val="C55A1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394" name="直線單箭頭接點 393"/>
          <p:cNvCxnSpPr/>
          <p:nvPr/>
        </p:nvCxnSpPr>
        <p:spPr>
          <a:xfrm flipV="1">
            <a:off x="6684989" y="1055829"/>
            <a:ext cx="0" cy="792000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矩形 394"/>
          <p:cNvSpPr/>
          <p:nvPr/>
        </p:nvSpPr>
        <p:spPr>
          <a:xfrm>
            <a:off x="6559298" y="3248140"/>
            <a:ext cx="1504855" cy="617674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把當日報告維護至腳本為了在發郵件時統一一定格式方便客戶閱讀</a:t>
            </a:r>
          </a:p>
        </p:txBody>
      </p:sp>
      <p:sp>
        <p:nvSpPr>
          <p:cNvPr id="397" name="矩形 396"/>
          <p:cNvSpPr/>
          <p:nvPr/>
        </p:nvSpPr>
        <p:spPr>
          <a:xfrm>
            <a:off x="4093175" y="3245564"/>
            <a:ext cx="1694472" cy="698612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把報告中</a:t>
            </a:r>
            <a:r>
              <a:rPr lang="en-US" altLang="zh-TW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log</a:t>
            </a: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頁自動轉換從</a:t>
            </a:r>
            <a:r>
              <a:rPr lang="en-US" altLang="zh-TW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excl. -&gt;</a:t>
            </a: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csv.</a:t>
            </a: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並且自動上傳至客戶指定的雷達上</a:t>
            </a:r>
          </a:p>
        </p:txBody>
      </p:sp>
      <p:sp>
        <p:nvSpPr>
          <p:cNvPr id="150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9483296" y="2879645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51" name="向右箭號 224">
            <a:extLst>
              <a:ext uri="{FF2B5EF4-FFF2-40B4-BE49-F238E27FC236}">
                <a16:creationId xmlns:a16="http://schemas.microsoft.com/office/drawing/2014/main" id="{CFB2E588-29E8-DE43-8300-6ADC6A3957C0}"/>
              </a:ext>
            </a:extLst>
          </p:cNvPr>
          <p:cNvSpPr/>
          <p:nvPr/>
        </p:nvSpPr>
        <p:spPr>
          <a:xfrm flipH="1">
            <a:off x="1038024" y="483583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1118965" y="4611685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4" name="文字方塊 254">
            <a:extLst>
              <a:ext uri="{FF2B5EF4-FFF2-40B4-BE49-F238E27FC236}">
                <a16:creationId xmlns:a16="http://schemas.microsoft.com/office/drawing/2014/main" id="{56EA16EA-B861-EC4D-B531-A7789699CE19}"/>
              </a:ext>
            </a:extLst>
          </p:cNvPr>
          <p:cNvSpPr txBox="1"/>
          <p:nvPr/>
        </p:nvSpPr>
        <p:spPr>
          <a:xfrm>
            <a:off x="329322" y="5007322"/>
            <a:ext cx="792205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Test Center</a:t>
            </a:r>
          </a:p>
        </p:txBody>
      </p:sp>
      <p:sp>
        <p:nvSpPr>
          <p:cNvPr id="155" name="橢圓 146">
            <a:extLst>
              <a:ext uri="{FF2B5EF4-FFF2-40B4-BE49-F238E27FC236}">
                <a16:creationId xmlns:a16="http://schemas.microsoft.com/office/drawing/2014/main" id="{A55A891D-2C94-9C47-97EB-4D111A9DF51D}"/>
              </a:ext>
            </a:extLst>
          </p:cNvPr>
          <p:cNvSpPr/>
          <p:nvPr/>
        </p:nvSpPr>
        <p:spPr>
          <a:xfrm>
            <a:off x="656227" y="478080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18" name="直線單箭頭接點 217"/>
          <p:cNvCxnSpPr>
            <a:cxnSpLocks/>
          </p:cNvCxnSpPr>
          <p:nvPr/>
        </p:nvCxnSpPr>
        <p:spPr>
          <a:xfrm flipV="1">
            <a:off x="4104718" y="3429000"/>
            <a:ext cx="0" cy="695021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>
            <a:cxnSpLocks/>
          </p:cNvCxnSpPr>
          <p:nvPr/>
        </p:nvCxnSpPr>
        <p:spPr>
          <a:xfrm flipV="1">
            <a:off x="6561465" y="3380656"/>
            <a:ext cx="7164" cy="738908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>
            <a:extLst>
              <a:ext uri="{FF2B5EF4-FFF2-40B4-BE49-F238E27FC236}">
                <a16:creationId xmlns:a16="http://schemas.microsoft.com/office/drawing/2014/main" id="{08929AFE-1513-514E-9F38-516E9F9AD376}"/>
              </a:ext>
            </a:extLst>
          </p:cNvPr>
          <p:cNvSpPr/>
          <p:nvPr/>
        </p:nvSpPr>
        <p:spPr>
          <a:xfrm>
            <a:off x="2770413" y="5689401"/>
            <a:ext cx="104515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匯總產品信息給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Report</a:t>
            </a:r>
          </a:p>
        </p:txBody>
      </p:sp>
      <p:sp>
        <p:nvSpPr>
          <p:cNvPr id="120" name="文字方塊 254">
            <a:extLst>
              <a:ext uri="{FF2B5EF4-FFF2-40B4-BE49-F238E27FC236}">
                <a16:creationId xmlns:a16="http://schemas.microsoft.com/office/drawing/2014/main" id="{56EA16EA-B861-EC4D-B531-A7789699CE19}"/>
              </a:ext>
            </a:extLst>
          </p:cNvPr>
          <p:cNvSpPr txBox="1"/>
          <p:nvPr/>
        </p:nvSpPr>
        <p:spPr>
          <a:xfrm>
            <a:off x="3071704" y="6321725"/>
            <a:ext cx="36580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PM</a:t>
            </a:r>
          </a:p>
        </p:txBody>
      </p:sp>
      <p:sp>
        <p:nvSpPr>
          <p:cNvPr id="121" name="橢圓 146">
            <a:extLst>
              <a:ext uri="{FF2B5EF4-FFF2-40B4-BE49-F238E27FC236}">
                <a16:creationId xmlns:a16="http://schemas.microsoft.com/office/drawing/2014/main" id="{A55A891D-2C94-9C47-97EB-4D111A9DF51D}"/>
              </a:ext>
            </a:extLst>
          </p:cNvPr>
          <p:cNvSpPr/>
          <p:nvPr/>
        </p:nvSpPr>
        <p:spPr>
          <a:xfrm>
            <a:off x="3171714" y="610231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3" name="向右箭號 73">
            <a:extLst>
              <a:ext uri="{FF2B5EF4-FFF2-40B4-BE49-F238E27FC236}">
                <a16:creationId xmlns:a16="http://schemas.microsoft.com/office/drawing/2014/main" id="{2F4606A9-3A5B-C449-B628-38A349FECCDF}"/>
              </a:ext>
            </a:extLst>
          </p:cNvPr>
          <p:cNvSpPr/>
          <p:nvPr/>
        </p:nvSpPr>
        <p:spPr>
          <a:xfrm rot="5400000" flipH="1">
            <a:off x="3137991" y="5488690"/>
            <a:ext cx="253596" cy="154501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B5C917D1-A228-499D-89A1-C5EF18B19042}"/>
              </a:ext>
            </a:extLst>
          </p:cNvPr>
          <p:cNvGrpSpPr/>
          <p:nvPr/>
        </p:nvGrpSpPr>
        <p:grpSpPr>
          <a:xfrm>
            <a:off x="8914226" y="449159"/>
            <a:ext cx="3475319" cy="1597307"/>
            <a:chOff x="8887677" y="702459"/>
            <a:chExt cx="3475319" cy="1597307"/>
          </a:xfrm>
        </p:grpSpPr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6A9DFC2-39BF-4CFE-BCA1-9D92C7F60497}"/>
                </a:ext>
              </a:extLst>
            </p:cNvPr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25B41A6-AECD-4CAC-8718-13A574CFD19F}"/>
                </a:ext>
              </a:extLst>
            </p:cNvPr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grpSp>
          <p:nvGrpSpPr>
            <p:cNvPr id="160" name="群組 159">
              <a:extLst>
                <a:ext uri="{FF2B5EF4-FFF2-40B4-BE49-F238E27FC236}">
                  <a16:creationId xmlns:a16="http://schemas.microsoft.com/office/drawing/2014/main" id="{6FF5E80A-5309-4AAA-83A1-78CC8E65794C}"/>
                </a:ext>
              </a:extLst>
            </p:cNvPr>
            <p:cNvGrpSpPr/>
            <p:nvPr/>
          </p:nvGrpSpPr>
          <p:grpSpPr>
            <a:xfrm>
              <a:off x="8887677" y="767409"/>
              <a:ext cx="1807794" cy="608652"/>
              <a:chOff x="9178223" y="328505"/>
              <a:chExt cx="1807794" cy="608652"/>
            </a:xfrm>
          </p:grpSpPr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5D212958-5483-4C9D-93B6-9B8200BAA351}"/>
                  </a:ext>
                </a:extLst>
              </p:cNvPr>
              <p:cNvSpPr/>
              <p:nvPr/>
            </p:nvSpPr>
            <p:spPr>
              <a:xfrm>
                <a:off x="9178223" y="328505"/>
                <a:ext cx="1595518" cy="60865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65" name="直線單箭頭接點 164">
                <a:extLst>
                  <a:ext uri="{FF2B5EF4-FFF2-40B4-BE49-F238E27FC236}">
                    <a16:creationId xmlns:a16="http://schemas.microsoft.com/office/drawing/2014/main" id="{66B3D3E6-FE71-4BA1-BBDB-32A4064179EF}"/>
                  </a:ext>
                </a:extLst>
              </p:cNvPr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文字方塊 165">
                <a:extLst>
                  <a:ext uri="{FF2B5EF4-FFF2-40B4-BE49-F238E27FC236}">
                    <a16:creationId xmlns:a16="http://schemas.microsoft.com/office/drawing/2014/main" id="{B5334AAC-3A8F-481F-BD9E-0E5722FFB62D}"/>
                  </a:ext>
                </a:extLst>
              </p:cNvPr>
              <p:cNvSpPr txBox="1"/>
              <p:nvPr/>
            </p:nvSpPr>
            <p:spPr>
              <a:xfrm>
                <a:off x="9866107" y="392007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物理防呆</a:t>
                </a:r>
                <a:endParaRPr lang="zh-TW" altLang="en-US" sz="1000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67" name="直線單箭頭接點 166">
                <a:extLst>
                  <a:ext uri="{FF2B5EF4-FFF2-40B4-BE49-F238E27FC236}">
                    <a16:creationId xmlns:a16="http://schemas.microsoft.com/office/drawing/2014/main" id="{F89CA0D0-5490-470F-B127-6767807909BB}"/>
                  </a:ext>
                </a:extLst>
              </p:cNvPr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74AEB4CA-F122-476E-BC2A-CF6858395930}"/>
                  </a:ext>
                </a:extLst>
              </p:cNvPr>
              <p:cNvSpPr txBox="1"/>
              <p:nvPr/>
            </p:nvSpPr>
            <p:spPr>
              <a:xfrm>
                <a:off x="9866107" y="613406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軟體防呆</a:t>
                </a:r>
                <a:endParaRPr lang="zh-TW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3F17A4DF-0804-437B-9561-592FE0C0EE93}"/>
                </a:ext>
              </a:extLst>
            </p:cNvPr>
            <p:cNvSpPr/>
            <p:nvPr/>
          </p:nvSpPr>
          <p:spPr>
            <a:xfrm>
              <a:off x="10900203" y="1785347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5AFEAFB8-AACC-4D7E-9CEB-265F25BD2545}"/>
                </a:ext>
              </a:extLst>
            </p:cNvPr>
            <p:cNvSpPr/>
            <p:nvPr/>
          </p:nvSpPr>
          <p:spPr>
            <a:xfrm>
              <a:off x="10919148" y="2053545"/>
              <a:ext cx="11440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T0 or Tx only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pic>
          <p:nvPicPr>
            <p:cNvPr id="148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DBE07AB4-F97F-4CA6-A2DF-532809E07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8E5264EB-211B-42A9-BEC0-DF4281A8E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F436344B-9FF2-49C2-AD73-422CD532886A}"/>
                </a:ext>
              </a:extLst>
            </p:cNvPr>
            <p:cNvSpPr/>
            <p:nvPr/>
          </p:nvSpPr>
          <p:spPr>
            <a:xfrm>
              <a:off x="10711417" y="1832256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64" name="矩形: 圓角 155">
              <a:extLst>
                <a:ext uri="{FF2B5EF4-FFF2-40B4-BE49-F238E27FC236}">
                  <a16:creationId xmlns:a16="http://schemas.microsoft.com/office/drawing/2014/main" id="{0517B70D-E5D2-4207-954B-08F25EEC19FD}"/>
                </a:ext>
              </a:extLst>
            </p:cNvPr>
            <p:cNvSpPr/>
            <p:nvPr/>
          </p:nvSpPr>
          <p:spPr>
            <a:xfrm>
              <a:off x="10711417" y="2089000"/>
              <a:ext cx="220836" cy="152525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49" name="橢圓 148">
              <a:extLst>
                <a:ext uri="{FF2B5EF4-FFF2-40B4-BE49-F238E27FC236}">
                  <a16:creationId xmlns:a16="http://schemas.microsoft.com/office/drawing/2014/main" id="{7AB44C26-D73E-493E-8B7F-CF81B9F7FE0D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4AA98CD2-3FBC-4166-B563-60179D798D8F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0BE1DFFC-E2E6-4980-BA96-498CB202053B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56" name="橢圓 155">
              <a:extLst>
                <a:ext uri="{FF2B5EF4-FFF2-40B4-BE49-F238E27FC236}">
                  <a16:creationId xmlns:a16="http://schemas.microsoft.com/office/drawing/2014/main" id="{F7D6871C-E779-454F-B667-3B877710D933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70" name="向右箭號 52">
            <a:extLst>
              <a:ext uri="{FF2B5EF4-FFF2-40B4-BE49-F238E27FC236}">
                <a16:creationId xmlns:a16="http://schemas.microsoft.com/office/drawing/2014/main" id="{80582F6D-FE5B-4847-9DCD-219818594DC4}"/>
              </a:ext>
            </a:extLst>
          </p:cNvPr>
          <p:cNvSpPr/>
          <p:nvPr/>
        </p:nvSpPr>
        <p:spPr>
          <a:xfrm>
            <a:off x="9976014" y="267900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1" name="矩形: 圓角 155">
            <a:extLst>
              <a:ext uri="{FF2B5EF4-FFF2-40B4-BE49-F238E27FC236}">
                <a16:creationId xmlns:a16="http://schemas.microsoft.com/office/drawing/2014/main" id="{0517B70D-E5D2-4207-954B-08F25EEC19FD}"/>
              </a:ext>
            </a:extLst>
          </p:cNvPr>
          <p:cNvSpPr/>
          <p:nvPr/>
        </p:nvSpPr>
        <p:spPr>
          <a:xfrm>
            <a:off x="148438" y="3732235"/>
            <a:ext cx="3678413" cy="3040627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FDC72C57-109A-4B57-B1C9-7FC819455723}"/>
              </a:ext>
            </a:extLst>
          </p:cNvPr>
          <p:cNvSpPr txBox="1"/>
          <p:nvPr/>
        </p:nvSpPr>
        <p:spPr>
          <a:xfrm>
            <a:off x="1604011" y="3492866"/>
            <a:ext cx="935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T0 </a:t>
            </a:r>
            <a:r>
              <a:rPr lang="en-US" altLang="zh-CN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only</a:t>
            </a:r>
            <a:endParaRPr lang="zh-TW" altLang="en-US" sz="1000" dirty="0">
              <a:solidFill>
                <a:schemeClr val="accent6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0" name="向右箭號 224">
            <a:extLst>
              <a:ext uri="{FF2B5EF4-FFF2-40B4-BE49-F238E27FC236}">
                <a16:creationId xmlns:a16="http://schemas.microsoft.com/office/drawing/2014/main" id="{6EC2EE9B-39F7-8D44-B1B3-0581EB7F1DE0}"/>
              </a:ext>
            </a:extLst>
          </p:cNvPr>
          <p:cNvSpPr/>
          <p:nvPr/>
        </p:nvSpPr>
        <p:spPr>
          <a:xfrm flipH="1">
            <a:off x="3529251" y="6115602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638695" y="5875470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5" name="文字方塊 83">
            <a:extLst>
              <a:ext uri="{FF2B5EF4-FFF2-40B4-BE49-F238E27FC236}">
                <a16:creationId xmlns:a16="http://schemas.microsoft.com/office/drawing/2014/main" id="{EB3B9E04-CB5F-D743-82B0-BCEF79BBD739}"/>
              </a:ext>
            </a:extLst>
          </p:cNvPr>
          <p:cNvSpPr txBox="1"/>
          <p:nvPr/>
        </p:nvSpPr>
        <p:spPr>
          <a:xfrm>
            <a:off x="6462175" y="5525796"/>
            <a:ext cx="132658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收到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FX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PD&amp;EPM OK2RELTracker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6" name="橢圓 102">
            <a:extLst>
              <a:ext uri="{FF2B5EF4-FFF2-40B4-BE49-F238E27FC236}">
                <a16:creationId xmlns:a16="http://schemas.microsoft.com/office/drawing/2014/main" id="{99A11755-654E-4349-A579-A1D65463E3E6}"/>
              </a:ext>
            </a:extLst>
          </p:cNvPr>
          <p:cNvSpPr/>
          <p:nvPr/>
        </p:nvSpPr>
        <p:spPr>
          <a:xfrm>
            <a:off x="7054690" y="608545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7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6960856" y="6420923"/>
            <a:ext cx="36580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PM</a:t>
            </a:r>
          </a:p>
        </p:txBody>
      </p:sp>
      <p:sp>
        <p:nvSpPr>
          <p:cNvPr id="189" name="向右箭號 73">
            <a:extLst>
              <a:ext uri="{FF2B5EF4-FFF2-40B4-BE49-F238E27FC236}">
                <a16:creationId xmlns:a16="http://schemas.microsoft.com/office/drawing/2014/main" id="{2F4606A9-3A5B-C449-B628-38A349FECCDF}"/>
              </a:ext>
            </a:extLst>
          </p:cNvPr>
          <p:cNvSpPr/>
          <p:nvPr/>
        </p:nvSpPr>
        <p:spPr>
          <a:xfrm flipH="1">
            <a:off x="6010484" y="614616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DB81E776-A45B-9A4C-A046-84D29056B3AB}"/>
              </a:ext>
            </a:extLst>
          </p:cNvPr>
          <p:cNvSpPr/>
          <p:nvPr/>
        </p:nvSpPr>
        <p:spPr>
          <a:xfrm>
            <a:off x="5301450" y="5397941"/>
            <a:ext cx="11061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確認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PD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與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EPM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提供的資訊一致 若有誤與各單位溝通確認</a:t>
            </a:r>
          </a:p>
        </p:txBody>
      </p:sp>
      <p:sp>
        <p:nvSpPr>
          <p:cNvPr id="191" name="文字方塊 100">
            <a:extLst>
              <a:ext uri="{FF2B5EF4-FFF2-40B4-BE49-F238E27FC236}">
                <a16:creationId xmlns:a16="http://schemas.microsoft.com/office/drawing/2014/main" id="{FCB5137A-4BDF-AF43-89AF-30B1C5855ED1}"/>
              </a:ext>
            </a:extLst>
          </p:cNvPr>
          <p:cNvSpPr txBox="1"/>
          <p:nvPr/>
        </p:nvSpPr>
        <p:spPr>
          <a:xfrm>
            <a:off x="5640419" y="6419501"/>
            <a:ext cx="36580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PM</a:t>
            </a:r>
          </a:p>
        </p:txBody>
      </p:sp>
      <p:sp>
        <p:nvSpPr>
          <p:cNvPr id="192" name="橢圓 38">
            <a:extLst>
              <a:ext uri="{FF2B5EF4-FFF2-40B4-BE49-F238E27FC236}">
                <a16:creationId xmlns:a16="http://schemas.microsoft.com/office/drawing/2014/main" id="{0BDC57A5-4F16-1049-AA61-A1F9EDFA4B33}"/>
              </a:ext>
            </a:extLst>
          </p:cNvPr>
          <p:cNvSpPr/>
          <p:nvPr/>
        </p:nvSpPr>
        <p:spPr>
          <a:xfrm>
            <a:off x="5725260" y="611820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DB81E776-A45B-9A4C-A046-84D29056B3AB}"/>
              </a:ext>
            </a:extLst>
          </p:cNvPr>
          <p:cNvSpPr/>
          <p:nvPr/>
        </p:nvSpPr>
        <p:spPr>
          <a:xfrm>
            <a:off x="4183432" y="5456711"/>
            <a:ext cx="9284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統整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Allocation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Tracker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信息</a:t>
            </a:r>
          </a:p>
        </p:txBody>
      </p:sp>
      <p:sp>
        <p:nvSpPr>
          <p:cNvPr id="198" name="文字方塊 100">
            <a:extLst>
              <a:ext uri="{FF2B5EF4-FFF2-40B4-BE49-F238E27FC236}">
                <a16:creationId xmlns:a16="http://schemas.microsoft.com/office/drawing/2014/main" id="{FCB5137A-4BDF-AF43-89AF-30B1C5855ED1}"/>
              </a:ext>
            </a:extLst>
          </p:cNvPr>
          <p:cNvSpPr txBox="1"/>
          <p:nvPr/>
        </p:nvSpPr>
        <p:spPr>
          <a:xfrm>
            <a:off x="4460001" y="6414747"/>
            <a:ext cx="36580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PM</a:t>
            </a:r>
          </a:p>
        </p:txBody>
      </p:sp>
      <p:sp>
        <p:nvSpPr>
          <p:cNvPr id="199" name="橢圓 38">
            <a:extLst>
              <a:ext uri="{FF2B5EF4-FFF2-40B4-BE49-F238E27FC236}">
                <a16:creationId xmlns:a16="http://schemas.microsoft.com/office/drawing/2014/main" id="{0BDC57A5-4F16-1049-AA61-A1F9EDFA4B33}"/>
              </a:ext>
            </a:extLst>
          </p:cNvPr>
          <p:cNvSpPr/>
          <p:nvPr/>
        </p:nvSpPr>
        <p:spPr>
          <a:xfrm>
            <a:off x="4554576" y="615448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0" name="向右箭號 224">
            <a:extLst>
              <a:ext uri="{FF2B5EF4-FFF2-40B4-BE49-F238E27FC236}">
                <a16:creationId xmlns:a16="http://schemas.microsoft.com/office/drawing/2014/main" id="{6EC2EE9B-39F7-8D44-B1B3-0581EB7F1DE0}"/>
              </a:ext>
            </a:extLst>
          </p:cNvPr>
          <p:cNvSpPr/>
          <p:nvPr/>
        </p:nvSpPr>
        <p:spPr>
          <a:xfrm flipH="1">
            <a:off x="4812860" y="6143319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1" name="文字方塊 200"/>
          <p:cNvSpPr txBox="1"/>
          <p:nvPr/>
        </p:nvSpPr>
        <p:spPr>
          <a:xfrm>
            <a:off x="4860341" y="5903187"/>
            <a:ext cx="692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文字方塊 203"/>
          <p:cNvSpPr txBox="1"/>
          <p:nvPr/>
        </p:nvSpPr>
        <p:spPr>
          <a:xfrm>
            <a:off x="6129718" y="5896483"/>
            <a:ext cx="555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0" name="矩形: 圓角 155">
            <a:extLst>
              <a:ext uri="{FF2B5EF4-FFF2-40B4-BE49-F238E27FC236}">
                <a16:creationId xmlns:a16="http://schemas.microsoft.com/office/drawing/2014/main" id="{0517B70D-E5D2-4207-954B-08F25EEC19FD}"/>
              </a:ext>
            </a:extLst>
          </p:cNvPr>
          <p:cNvSpPr/>
          <p:nvPr/>
        </p:nvSpPr>
        <p:spPr>
          <a:xfrm>
            <a:off x="4049044" y="5326327"/>
            <a:ext cx="3660138" cy="1446536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FDC72C57-109A-4B57-B1C9-7FC819455723}"/>
              </a:ext>
            </a:extLst>
          </p:cNvPr>
          <p:cNvSpPr txBox="1"/>
          <p:nvPr/>
        </p:nvSpPr>
        <p:spPr>
          <a:xfrm>
            <a:off x="7676588" y="5472647"/>
            <a:ext cx="727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T0 </a:t>
            </a:r>
            <a:r>
              <a:rPr lang="en-US" altLang="zh-CN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only</a:t>
            </a:r>
            <a:endParaRPr lang="zh-TW" altLang="en-US" sz="1000" dirty="0">
              <a:solidFill>
                <a:schemeClr val="accent6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05726FB9-E0FC-B246-A38D-15B931A20E5F}"/>
              </a:ext>
            </a:extLst>
          </p:cNvPr>
          <p:cNvSpPr/>
          <p:nvPr/>
        </p:nvSpPr>
        <p:spPr>
          <a:xfrm>
            <a:off x="2748809" y="3906872"/>
            <a:ext cx="96053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根據產品信息分配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WF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86" name="文字方塊 385"/>
          <p:cNvSpPr txBox="1"/>
          <p:nvPr/>
        </p:nvSpPr>
        <p:spPr>
          <a:xfrm>
            <a:off x="3645382" y="4601796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827668" y="5171569"/>
            <a:ext cx="13022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New add P1</a:t>
            </a:r>
            <a:endParaRPr lang="zh-TW" altLang="en-US" sz="1000" b="1" dirty="0">
              <a:solidFill>
                <a:srgbClr val="FF0000"/>
              </a:solidFill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0" name="圓角矩形 179"/>
          <p:cNvSpPr/>
          <p:nvPr/>
        </p:nvSpPr>
        <p:spPr>
          <a:xfrm>
            <a:off x="8999358" y="1329028"/>
            <a:ext cx="653463" cy="214339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224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807410" y="6361849"/>
            <a:ext cx="73770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Yoke/Bole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5" name="橢圓 149">
            <a:extLst>
              <a:ext uri="{FF2B5EF4-FFF2-40B4-BE49-F238E27FC236}">
                <a16:creationId xmlns:a16="http://schemas.microsoft.com/office/drawing/2014/main" id="{6085849A-050D-2649-8E14-50A1A9E45CA6}"/>
              </a:ext>
            </a:extLst>
          </p:cNvPr>
          <p:cNvSpPr/>
          <p:nvPr/>
        </p:nvSpPr>
        <p:spPr>
          <a:xfrm>
            <a:off x="1135608" y="6101019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6" name="文字方塊 121">
            <a:extLst>
              <a:ext uri="{FF2B5EF4-FFF2-40B4-BE49-F238E27FC236}">
                <a16:creationId xmlns:a16="http://schemas.microsoft.com/office/drawing/2014/main" id="{67918A44-81A0-0E4C-BD59-A15A9F73C2D7}"/>
              </a:ext>
            </a:extLst>
          </p:cNvPr>
          <p:cNvSpPr txBox="1"/>
          <p:nvPr/>
        </p:nvSpPr>
        <p:spPr>
          <a:xfrm>
            <a:off x="745009" y="5431258"/>
            <a:ext cx="97527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根據</a:t>
            </a:r>
            <a:r>
              <a:rPr lang="en-US" altLang="zh-CN" sz="1000" dirty="0">
                <a:latin typeface="Calibri" panose="020F0502020204030204" pitchFamily="34" charset="0"/>
              </a:rPr>
              <a:t>WF</a:t>
            </a:r>
            <a:r>
              <a:rPr lang="zh-CN" altLang="en-US" sz="1000" dirty="0">
                <a:latin typeface="Calibri" panose="020F0502020204030204" pitchFamily="34" charset="0"/>
              </a:rPr>
              <a:t>判斷是否需要送測</a:t>
            </a:r>
            <a:r>
              <a:rPr lang="en-US" altLang="zh-CN" sz="1000" dirty="0">
                <a:latin typeface="Calibri" panose="020F0502020204030204" pitchFamily="34" charset="0"/>
              </a:rPr>
              <a:t>BCDC/</a:t>
            </a:r>
            <a:r>
              <a:rPr lang="zh-CN" altLang="en-US" sz="1000" dirty="0">
                <a:latin typeface="Calibri" panose="020F0502020204030204" pitchFamily="34" charset="0"/>
              </a:rPr>
              <a:t>補拍照片</a:t>
            </a:r>
            <a:r>
              <a:rPr lang="en-US" altLang="zh-CN" sz="1000" dirty="0">
                <a:latin typeface="Calibri" panose="020F0502020204030204" pitchFamily="34" charset="0"/>
              </a:rPr>
              <a:t>/</a:t>
            </a:r>
            <a:r>
              <a:rPr lang="zh-CN" altLang="en-US" sz="1000" dirty="0">
                <a:latin typeface="Calibri" panose="020F0502020204030204" pitchFamily="34" charset="0"/>
              </a:rPr>
              <a:t>測色差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7" name="文字方塊 121">
            <a:extLst>
              <a:ext uri="{FF2B5EF4-FFF2-40B4-BE49-F238E27FC236}">
                <a16:creationId xmlns:a16="http://schemas.microsoft.com/office/drawing/2014/main" id="{67918A44-81A0-0E4C-BD59-A15A9F73C2D7}"/>
              </a:ext>
            </a:extLst>
          </p:cNvPr>
          <p:cNvSpPr txBox="1"/>
          <p:nvPr/>
        </p:nvSpPr>
        <p:spPr>
          <a:xfrm>
            <a:off x="1658328" y="5430126"/>
            <a:ext cx="1140800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TW" altLang="en-US" sz="1000" dirty="0">
                <a:latin typeface="Calibri" panose="020F0502020204030204" pitchFamily="34" charset="0"/>
              </a:rPr>
              <a:t>若無</a:t>
            </a:r>
            <a:r>
              <a:rPr lang="zh-CN" altLang="en-US" sz="1000" dirty="0">
                <a:latin typeface="Calibri" panose="020F0502020204030204" pitchFamily="34" charset="0"/>
              </a:rPr>
              <a:t>其他需求，發投產</a:t>
            </a:r>
            <a:r>
              <a:rPr lang="en-US" altLang="zh-CN" sz="1000" dirty="0">
                <a:latin typeface="Calibri" panose="020F0502020204030204" pitchFamily="34" charset="0"/>
              </a:rPr>
              <a:t>TX</a:t>
            </a:r>
            <a:r>
              <a:rPr lang="zh-CN" altLang="en-US" sz="1000" dirty="0">
                <a:latin typeface="Calibri" panose="020F0502020204030204" pitchFamily="34" charset="0"/>
              </a:rPr>
              <a:t>郵件，</a:t>
            </a:r>
            <a:r>
              <a:rPr lang="zh-TW" altLang="en-US" sz="1000" dirty="0">
                <a:latin typeface="Calibri" panose="020F0502020204030204" pitchFamily="34" charset="0"/>
              </a:rPr>
              <a:t>通知</a:t>
            </a:r>
            <a:r>
              <a:rPr lang="en-US" altLang="zh-CN" sz="1000" dirty="0">
                <a:latin typeface="Calibri" panose="020F0502020204030204" pitchFamily="34" charset="0"/>
              </a:rPr>
              <a:t>Test</a:t>
            </a:r>
            <a:r>
              <a:rPr lang="zh-CN" altLang="en-US" sz="1000" dirty="0">
                <a:latin typeface="Calibri" panose="020F0502020204030204" pitchFamily="34" charset="0"/>
              </a:rPr>
              <a:t>組開始</a:t>
            </a:r>
            <a:r>
              <a:rPr lang="en-US" altLang="zh-CN" sz="1000" dirty="0">
                <a:latin typeface="Calibri" panose="020F0502020204030204" pitchFamily="34" charset="0"/>
              </a:rPr>
              <a:t>TX</a:t>
            </a:r>
            <a:r>
              <a:rPr lang="zh-CN" altLang="en-US" sz="1000" dirty="0">
                <a:latin typeface="Calibri" panose="020F0502020204030204" pitchFamily="34" charset="0"/>
              </a:rPr>
              <a:t>測試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8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869795" y="6361848"/>
            <a:ext cx="73770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Yoke/Bole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9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2146030" y="609872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0" name="向右箭號 52">
            <a:extLst>
              <a:ext uri="{FF2B5EF4-FFF2-40B4-BE49-F238E27FC236}">
                <a16:creationId xmlns:a16="http://schemas.microsoft.com/office/drawing/2014/main" id="{80582F6D-FE5B-4847-9DCD-219818594DC4}"/>
              </a:ext>
            </a:extLst>
          </p:cNvPr>
          <p:cNvSpPr/>
          <p:nvPr/>
        </p:nvSpPr>
        <p:spPr>
          <a:xfrm>
            <a:off x="1378956" y="612654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上彎箭號 2"/>
          <p:cNvSpPr/>
          <p:nvPr/>
        </p:nvSpPr>
        <p:spPr>
          <a:xfrm rot="5400000">
            <a:off x="317571" y="5689394"/>
            <a:ext cx="874512" cy="287800"/>
          </a:xfrm>
          <a:prstGeom prst="bentUp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1" name="圓角矩形 230"/>
          <p:cNvSpPr/>
          <p:nvPr/>
        </p:nvSpPr>
        <p:spPr>
          <a:xfrm>
            <a:off x="457327" y="5371366"/>
            <a:ext cx="2246663" cy="1281101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4000" dirty="0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9416438" y="1314886"/>
            <a:ext cx="13022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New add P1</a:t>
            </a:r>
            <a:endParaRPr lang="zh-TW" altLang="en-US" sz="1000" b="1" dirty="0">
              <a:solidFill>
                <a:srgbClr val="FF0000"/>
              </a:solidFill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3" name="文字方塊 232"/>
          <p:cNvSpPr txBox="1"/>
          <p:nvPr/>
        </p:nvSpPr>
        <p:spPr>
          <a:xfrm>
            <a:off x="1498389" y="5958703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 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Day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7709181" y="3921643"/>
            <a:ext cx="13022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New add P1</a:t>
            </a:r>
            <a:endParaRPr lang="zh-TW" altLang="en-US" sz="1000" b="1" dirty="0">
              <a:solidFill>
                <a:srgbClr val="FF0000"/>
              </a:solidFill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3" name="圓角矩形 182"/>
          <p:cNvSpPr/>
          <p:nvPr/>
        </p:nvSpPr>
        <p:spPr>
          <a:xfrm>
            <a:off x="7853782" y="4135382"/>
            <a:ext cx="1005907" cy="58702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文字方塊 192"/>
          <p:cNvSpPr txBox="1"/>
          <p:nvPr/>
        </p:nvSpPr>
        <p:spPr>
          <a:xfrm>
            <a:off x="197780" y="5718868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37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10217" y="146548"/>
            <a:ext cx="51850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ea typeface="Microsoft YaHei" panose="020B0503020204020204" pitchFamily="34" charset="-122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 </a:t>
            </a:r>
            <a:r>
              <a:rPr kumimoji="1" lang="en-US" altLang="zh-CN" sz="2600" b="1" dirty="0">
                <a:solidFill>
                  <a:schemeClr val="accent5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Report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icrosoft YaHei" panose="020B0503020204020204" pitchFamily="34" charset="-122"/>
              </a:rPr>
              <a:t>Work Flow (</a:t>
            </a:r>
            <a:r>
              <a:rPr kumimoji="1" lang="en-US" altLang="zh-CN" sz="26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TX</a:t>
            </a:r>
            <a:r>
              <a:rPr kumimoji="1" lang="en-US" altLang="zh-CN" sz="2600" b="1" dirty="0">
                <a:solidFill>
                  <a:prstClr val="black"/>
                </a:solidFill>
                <a:ea typeface="Microsoft YaHei" panose="020B0503020204020204" pitchFamily="34" charset="-122"/>
              </a:rPr>
              <a:t>)</a:t>
            </a:r>
            <a:endParaRPr kumimoji="1" lang="zh-CN" altLang="en-US" sz="2600" b="1" dirty="0">
              <a:solidFill>
                <a:prstClr val="black"/>
              </a:solidFill>
              <a:ea typeface="Microsoft YaHei" panose="020B0503020204020204" pitchFamily="34" charset="-122"/>
            </a:endParaRPr>
          </a:p>
        </p:txBody>
      </p:sp>
      <p:sp>
        <p:nvSpPr>
          <p:cNvPr id="299" name="橢圓 33">
            <a:extLst>
              <a:ext uri="{FF2B5EF4-FFF2-40B4-BE49-F238E27FC236}">
                <a16:creationId xmlns:a16="http://schemas.microsoft.com/office/drawing/2014/main" id="{35414921-DCA1-B248-A3F0-07119E12B580}"/>
              </a:ext>
            </a:extLst>
          </p:cNvPr>
          <p:cNvSpPr/>
          <p:nvPr/>
        </p:nvSpPr>
        <p:spPr>
          <a:xfrm>
            <a:off x="6755570" y="2733276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0" name="向右箭號 50">
            <a:extLst>
              <a:ext uri="{FF2B5EF4-FFF2-40B4-BE49-F238E27FC236}">
                <a16:creationId xmlns:a16="http://schemas.microsoft.com/office/drawing/2014/main" id="{63EF6057-20BC-AB48-A77F-9A358CB018D8}"/>
              </a:ext>
            </a:extLst>
          </p:cNvPr>
          <p:cNvSpPr/>
          <p:nvPr/>
        </p:nvSpPr>
        <p:spPr>
          <a:xfrm>
            <a:off x="925992" y="274683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1" name="向右箭號 51">
            <a:extLst>
              <a:ext uri="{FF2B5EF4-FFF2-40B4-BE49-F238E27FC236}">
                <a16:creationId xmlns:a16="http://schemas.microsoft.com/office/drawing/2014/main" id="{6C1B6825-0BD8-A046-8DE1-7056E59BAFE1}"/>
              </a:ext>
            </a:extLst>
          </p:cNvPr>
          <p:cNvSpPr/>
          <p:nvPr/>
        </p:nvSpPr>
        <p:spPr>
          <a:xfrm>
            <a:off x="5858882" y="276174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2" name="向右箭號 52">
            <a:extLst>
              <a:ext uri="{FF2B5EF4-FFF2-40B4-BE49-F238E27FC236}">
                <a16:creationId xmlns:a16="http://schemas.microsoft.com/office/drawing/2014/main" id="{80582F6D-FE5B-4847-9DCD-219818594DC4}"/>
              </a:ext>
            </a:extLst>
          </p:cNvPr>
          <p:cNvSpPr/>
          <p:nvPr/>
        </p:nvSpPr>
        <p:spPr>
          <a:xfrm>
            <a:off x="8429135" y="276174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3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82238" y="272728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4" name="文字方塊 54">
            <a:extLst>
              <a:ext uri="{FF2B5EF4-FFF2-40B4-BE49-F238E27FC236}">
                <a16:creationId xmlns:a16="http://schemas.microsoft.com/office/drawing/2014/main" id="{C2DC5C4A-3C6E-A74D-96C5-7EE4F29414A5}"/>
              </a:ext>
            </a:extLst>
          </p:cNvPr>
          <p:cNvSpPr txBox="1"/>
          <p:nvPr/>
        </p:nvSpPr>
        <p:spPr>
          <a:xfrm>
            <a:off x="165892" y="1911406"/>
            <a:ext cx="103859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TW" altLang="en-US" sz="1000" dirty="0">
                <a:latin typeface="Calibri" panose="020F0502020204030204" pitchFamily="34" charset="0"/>
              </a:rPr>
              <a:t>外觀</a:t>
            </a:r>
            <a:r>
              <a:rPr lang="zh-CN" altLang="en-US" sz="1000" dirty="0">
                <a:latin typeface="Calibri" panose="020F0502020204030204" pitchFamily="34" charset="0"/>
              </a:rPr>
              <a:t>將</a:t>
            </a:r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送至</a:t>
            </a:r>
            <a:r>
              <a:rPr lang="zh-TW" altLang="en-US" sz="1000" dirty="0">
                <a:latin typeface="Calibri" panose="020F0502020204030204" pitchFamily="34" charset="0"/>
              </a:rPr>
              <a:t>報告</a:t>
            </a:r>
            <a:r>
              <a:rPr lang="en-US" altLang="zh-CN" sz="1000" dirty="0">
                <a:latin typeface="Calibri" panose="020F0502020204030204" pitchFamily="34" charset="0"/>
              </a:rPr>
              <a:t>Recon</a:t>
            </a:r>
            <a:r>
              <a:rPr lang="zh-CN" altLang="en-US" sz="1000" dirty="0">
                <a:latin typeface="Calibri" panose="020F0502020204030204" pitchFamily="34" charset="0"/>
              </a:rPr>
              <a:t>組</a:t>
            </a:r>
            <a:endParaRPr lang="en-US" altLang="zh-TW" sz="1000" dirty="0">
              <a:latin typeface="Calibri" panose="020F0502020204030204" pitchFamily="34" charset="0"/>
            </a:endParaRPr>
          </a:p>
          <a:p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4338304C-63C5-0C42-B3AC-C266AA1C9139}"/>
              </a:ext>
            </a:extLst>
          </p:cNvPr>
          <p:cNvSpPr/>
          <p:nvPr/>
        </p:nvSpPr>
        <p:spPr>
          <a:xfrm>
            <a:off x="6410932" y="1967201"/>
            <a:ext cx="106766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”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報告導入腳本</a:t>
            </a:r>
            <a:r>
              <a:rPr lang="en-US" altLang="zh-CN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”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錄入外觀與工站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Failed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3810673" y="2132694"/>
            <a:ext cx="1302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從共享文件館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下載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ini line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7" name="向右箭號 60">
            <a:extLst>
              <a:ext uri="{FF2B5EF4-FFF2-40B4-BE49-F238E27FC236}">
                <a16:creationId xmlns:a16="http://schemas.microsoft.com/office/drawing/2014/main" id="{F21954BC-4AFB-9046-9616-09EF918C2ECF}"/>
              </a:ext>
            </a:extLst>
          </p:cNvPr>
          <p:cNvSpPr/>
          <p:nvPr/>
        </p:nvSpPr>
        <p:spPr>
          <a:xfrm>
            <a:off x="3421327" y="273290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8" name="文字方塊 61">
            <a:extLst>
              <a:ext uri="{FF2B5EF4-FFF2-40B4-BE49-F238E27FC236}">
                <a16:creationId xmlns:a16="http://schemas.microsoft.com/office/drawing/2014/main" id="{BD924D4F-16D2-1246-BABE-5B52AABFBFA1}"/>
              </a:ext>
            </a:extLst>
          </p:cNvPr>
          <p:cNvSpPr txBox="1"/>
          <p:nvPr/>
        </p:nvSpPr>
        <p:spPr>
          <a:xfrm>
            <a:off x="433902" y="3009082"/>
            <a:ext cx="42672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Amy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09" name="文字方塊 62">
            <a:extLst>
              <a:ext uri="{FF2B5EF4-FFF2-40B4-BE49-F238E27FC236}">
                <a16:creationId xmlns:a16="http://schemas.microsoft.com/office/drawing/2014/main" id="{5A099EFF-5736-9443-8B98-5937C113927C}"/>
              </a:ext>
            </a:extLst>
          </p:cNvPr>
          <p:cNvSpPr txBox="1"/>
          <p:nvPr/>
        </p:nvSpPr>
        <p:spPr>
          <a:xfrm>
            <a:off x="5398730" y="3013014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10" name="文字方塊 63">
            <a:extLst>
              <a:ext uri="{FF2B5EF4-FFF2-40B4-BE49-F238E27FC236}">
                <a16:creationId xmlns:a16="http://schemas.microsoft.com/office/drawing/2014/main" id="{20767D48-0E34-5B40-A0AB-8878FFB26985}"/>
              </a:ext>
            </a:extLst>
          </p:cNvPr>
          <p:cNvSpPr txBox="1"/>
          <p:nvPr/>
        </p:nvSpPr>
        <p:spPr>
          <a:xfrm>
            <a:off x="6612844" y="3002705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11" name="向右箭號 64">
            <a:extLst>
              <a:ext uri="{FF2B5EF4-FFF2-40B4-BE49-F238E27FC236}">
                <a16:creationId xmlns:a16="http://schemas.microsoft.com/office/drawing/2014/main" id="{0701B3F5-D1FF-3241-B777-345A5EF91617}"/>
              </a:ext>
            </a:extLst>
          </p:cNvPr>
          <p:cNvSpPr/>
          <p:nvPr/>
        </p:nvSpPr>
        <p:spPr>
          <a:xfrm>
            <a:off x="7144009" y="276174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6" name="文字方塊 71">
            <a:extLst>
              <a:ext uri="{FF2B5EF4-FFF2-40B4-BE49-F238E27FC236}">
                <a16:creationId xmlns:a16="http://schemas.microsoft.com/office/drawing/2014/main" id="{F3B773B6-83F6-8B40-AA75-DC135679473E}"/>
              </a:ext>
            </a:extLst>
          </p:cNvPr>
          <p:cNvSpPr txBox="1"/>
          <p:nvPr/>
        </p:nvSpPr>
        <p:spPr>
          <a:xfrm>
            <a:off x="8942055" y="2003729"/>
            <a:ext cx="1031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更新當天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已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完成報告機台資訊的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Recon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日期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7" name="向右箭號 73">
            <a:extLst>
              <a:ext uri="{FF2B5EF4-FFF2-40B4-BE49-F238E27FC236}">
                <a16:creationId xmlns:a16="http://schemas.microsoft.com/office/drawing/2014/main" id="{2F4606A9-3A5B-C449-B628-38A349FECCDF}"/>
              </a:ext>
            </a:extLst>
          </p:cNvPr>
          <p:cNvSpPr/>
          <p:nvPr/>
        </p:nvSpPr>
        <p:spPr>
          <a:xfrm flipH="1">
            <a:off x="5805977" y="4993506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8" name="向右箭號 74">
            <a:extLst>
              <a:ext uri="{FF2B5EF4-FFF2-40B4-BE49-F238E27FC236}">
                <a16:creationId xmlns:a16="http://schemas.microsoft.com/office/drawing/2014/main" id="{9A850F39-2AB3-1E4F-A36D-7B98329F905F}"/>
              </a:ext>
            </a:extLst>
          </p:cNvPr>
          <p:cNvSpPr/>
          <p:nvPr/>
        </p:nvSpPr>
        <p:spPr>
          <a:xfrm flipH="1">
            <a:off x="7091102" y="4993506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9" name="向右箭號 75">
            <a:extLst>
              <a:ext uri="{FF2B5EF4-FFF2-40B4-BE49-F238E27FC236}">
                <a16:creationId xmlns:a16="http://schemas.microsoft.com/office/drawing/2014/main" id="{85ECBFA3-9CBE-124D-876A-28FB5E94863D}"/>
              </a:ext>
            </a:extLst>
          </p:cNvPr>
          <p:cNvSpPr/>
          <p:nvPr/>
        </p:nvSpPr>
        <p:spPr>
          <a:xfrm flipH="1">
            <a:off x="8380389" y="4984784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0" name="向右箭號 76">
            <a:extLst>
              <a:ext uri="{FF2B5EF4-FFF2-40B4-BE49-F238E27FC236}">
                <a16:creationId xmlns:a16="http://schemas.microsoft.com/office/drawing/2014/main" id="{822C6A19-748B-254B-813F-6D7F2B9DE38F}"/>
              </a:ext>
            </a:extLst>
          </p:cNvPr>
          <p:cNvSpPr/>
          <p:nvPr/>
        </p:nvSpPr>
        <p:spPr>
          <a:xfrm flipH="1">
            <a:off x="9823770" y="4993506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1" name="橢圓 77">
            <a:extLst>
              <a:ext uri="{FF2B5EF4-FFF2-40B4-BE49-F238E27FC236}">
                <a16:creationId xmlns:a16="http://schemas.microsoft.com/office/drawing/2014/main" id="{BF3356DA-9D92-7742-A8D3-E0D34856F04A}"/>
              </a:ext>
            </a:extLst>
          </p:cNvPr>
          <p:cNvSpPr/>
          <p:nvPr/>
        </p:nvSpPr>
        <p:spPr>
          <a:xfrm>
            <a:off x="9349869" y="496555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129A2EA2-49D1-9547-9675-CC41DDB22385}"/>
              </a:ext>
            </a:extLst>
          </p:cNvPr>
          <p:cNvSpPr/>
          <p:nvPr/>
        </p:nvSpPr>
        <p:spPr>
          <a:xfrm>
            <a:off x="8920317" y="4395517"/>
            <a:ext cx="90345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*</a:t>
            </a:r>
            <a:r>
              <a:rPr lang="zh-TW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報告紙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分為已錄完</a:t>
            </a:r>
            <a:r>
              <a:rPr lang="en-US" altLang="zh-TW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/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未錄完存放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2F5FD2DC-9D8B-3048-971F-08DF81E83945}"/>
              </a:ext>
            </a:extLst>
          </p:cNvPr>
          <p:cNvSpPr/>
          <p:nvPr/>
        </p:nvSpPr>
        <p:spPr>
          <a:xfrm>
            <a:off x="10156319" y="4447782"/>
            <a:ext cx="152904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</a:t>
            </a:r>
          </a:p>
          <a:p>
            <a:pPr lvl="0" algn="ctr"/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 In/OUT(IMES)</a:t>
            </a:r>
          </a:p>
        </p:txBody>
      </p:sp>
      <p:sp>
        <p:nvSpPr>
          <p:cNvPr id="324" name="文字方塊 83">
            <a:extLst>
              <a:ext uri="{FF2B5EF4-FFF2-40B4-BE49-F238E27FC236}">
                <a16:creationId xmlns:a16="http://schemas.microsoft.com/office/drawing/2014/main" id="{EB3B9E04-CB5F-D743-82B0-BCEF79BBD739}"/>
              </a:ext>
            </a:extLst>
          </p:cNvPr>
          <p:cNvSpPr txBox="1"/>
          <p:nvPr/>
        </p:nvSpPr>
        <p:spPr>
          <a:xfrm>
            <a:off x="7588518" y="4344342"/>
            <a:ext cx="10471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檢查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當日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Failure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數據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是否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有異常項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5" name="文字方塊 84">
            <a:extLst>
              <a:ext uri="{FF2B5EF4-FFF2-40B4-BE49-F238E27FC236}">
                <a16:creationId xmlns:a16="http://schemas.microsoft.com/office/drawing/2014/main" id="{0E731ABC-5A9C-5E4E-9308-11BFA4052596}"/>
              </a:ext>
            </a:extLst>
          </p:cNvPr>
          <p:cNvSpPr txBox="1"/>
          <p:nvPr/>
        </p:nvSpPr>
        <p:spPr>
          <a:xfrm>
            <a:off x="6575843" y="5266847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E16B83C2-9D97-7643-84FA-43C6EFF52D69}"/>
              </a:ext>
            </a:extLst>
          </p:cNvPr>
          <p:cNvSpPr/>
          <p:nvPr/>
        </p:nvSpPr>
        <p:spPr>
          <a:xfrm>
            <a:off x="6283963" y="4333326"/>
            <a:ext cx="102492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使用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換行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標藍加粗腳本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編輯報告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Log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7" name="文字方塊 86">
            <a:extLst>
              <a:ext uri="{FF2B5EF4-FFF2-40B4-BE49-F238E27FC236}">
                <a16:creationId xmlns:a16="http://schemas.microsoft.com/office/drawing/2014/main" id="{916DFF4A-706C-2046-A166-1091F14F2396}"/>
              </a:ext>
            </a:extLst>
          </p:cNvPr>
          <p:cNvSpPr txBox="1"/>
          <p:nvPr/>
        </p:nvSpPr>
        <p:spPr>
          <a:xfrm>
            <a:off x="2663479" y="2082833"/>
            <a:ext cx="1051368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Recon</a:t>
            </a:r>
            <a:r>
              <a:rPr lang="zh-CN" altLang="en-US" sz="1000" dirty="0">
                <a:latin typeface="Calibri" panose="020F0502020204030204" pitchFamily="34" charset="0"/>
              </a:rPr>
              <a:t>組將</a:t>
            </a:r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給報告組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DB81E776-A45B-9A4C-A046-84D29056B3AB}"/>
              </a:ext>
            </a:extLst>
          </p:cNvPr>
          <p:cNvSpPr/>
          <p:nvPr/>
        </p:nvSpPr>
        <p:spPr>
          <a:xfrm>
            <a:off x="5173547" y="4265362"/>
            <a:ext cx="110614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將報告上傳文件館和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整機報告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雷達備份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29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4FF54C42-73ED-7043-9844-A640CF4CF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7333" x2="31556" y2="37333"/>
                        <a14:foregroundMark x1="74667" y1="24889" x2="74667" y2="24889"/>
                        <a14:foregroundMark x1="77333" y1="33778" x2="77333" y2="33778"/>
                        <a14:foregroundMark x1="75111" y1="43111" x2="75111" y2="4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0650080" y="4811097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0" name="文字方塊 89">
            <a:extLst>
              <a:ext uri="{FF2B5EF4-FFF2-40B4-BE49-F238E27FC236}">
                <a16:creationId xmlns:a16="http://schemas.microsoft.com/office/drawing/2014/main" id="{C2DC25E0-0AA8-0446-B733-B1F4D0A50EB3}"/>
              </a:ext>
            </a:extLst>
          </p:cNvPr>
          <p:cNvSpPr txBox="1"/>
          <p:nvPr/>
        </p:nvSpPr>
        <p:spPr>
          <a:xfrm>
            <a:off x="4192839" y="3013014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7D203457-83FA-5C4B-A0F1-4ECD3C21770A}"/>
              </a:ext>
            </a:extLst>
          </p:cNvPr>
          <p:cNvSpPr/>
          <p:nvPr/>
        </p:nvSpPr>
        <p:spPr>
          <a:xfrm>
            <a:off x="5083098" y="1531764"/>
            <a:ext cx="10863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報告組維護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整機資料至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”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報告導入腳本</a:t>
            </a:r>
            <a:r>
              <a:rPr lang="en-US" altLang="zh-CN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”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並更改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腳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本內文檔名稱須跟維護資料名稱一致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2" name="向右箭號 91">
            <a:extLst>
              <a:ext uri="{FF2B5EF4-FFF2-40B4-BE49-F238E27FC236}">
                <a16:creationId xmlns:a16="http://schemas.microsoft.com/office/drawing/2014/main" id="{E991FFA3-9AFD-0C4F-B9EB-778A9276D9DD}"/>
              </a:ext>
            </a:extLst>
          </p:cNvPr>
          <p:cNvSpPr/>
          <p:nvPr/>
        </p:nvSpPr>
        <p:spPr>
          <a:xfrm>
            <a:off x="4676315" y="2732901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3" name="橢圓 92">
            <a:extLst>
              <a:ext uri="{FF2B5EF4-FFF2-40B4-BE49-F238E27FC236}">
                <a16:creationId xmlns:a16="http://schemas.microsoft.com/office/drawing/2014/main" id="{02C1952F-C0C3-B847-8ADD-03179F2607BF}"/>
              </a:ext>
            </a:extLst>
          </p:cNvPr>
          <p:cNvSpPr/>
          <p:nvPr/>
        </p:nvSpPr>
        <p:spPr>
          <a:xfrm>
            <a:off x="4335565" y="272152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5" name="橢圓 95">
            <a:extLst>
              <a:ext uri="{FF2B5EF4-FFF2-40B4-BE49-F238E27FC236}">
                <a16:creationId xmlns:a16="http://schemas.microsoft.com/office/drawing/2014/main" id="{082E6B8D-B214-2F4A-B877-09F79C25A3D2}"/>
              </a:ext>
            </a:extLst>
          </p:cNvPr>
          <p:cNvSpPr/>
          <p:nvPr/>
        </p:nvSpPr>
        <p:spPr>
          <a:xfrm>
            <a:off x="8064914" y="273120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7" name="橢圓 98">
            <a:extLst>
              <a:ext uri="{FF2B5EF4-FFF2-40B4-BE49-F238E27FC236}">
                <a16:creationId xmlns:a16="http://schemas.microsoft.com/office/drawing/2014/main" id="{21B9E2DE-FED1-4B46-BFE6-05E31B47C8FF}"/>
              </a:ext>
            </a:extLst>
          </p:cNvPr>
          <p:cNvSpPr/>
          <p:nvPr/>
        </p:nvSpPr>
        <p:spPr>
          <a:xfrm>
            <a:off x="3067825" y="271335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8" name="文字方塊 100">
            <a:extLst>
              <a:ext uri="{FF2B5EF4-FFF2-40B4-BE49-F238E27FC236}">
                <a16:creationId xmlns:a16="http://schemas.microsoft.com/office/drawing/2014/main" id="{FCB5137A-4BDF-AF43-89AF-30B1C5855ED1}"/>
              </a:ext>
            </a:extLst>
          </p:cNvPr>
          <p:cNvSpPr txBox="1"/>
          <p:nvPr/>
        </p:nvSpPr>
        <p:spPr>
          <a:xfrm>
            <a:off x="5384100" y="5266847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sp>
        <p:nvSpPr>
          <p:cNvPr id="339" name="向右箭號 224">
            <a:extLst>
              <a:ext uri="{FF2B5EF4-FFF2-40B4-BE49-F238E27FC236}">
                <a16:creationId xmlns:a16="http://schemas.microsoft.com/office/drawing/2014/main" id="{6EC2EE9B-39F7-8D44-B1B3-0581EB7F1DE0}"/>
              </a:ext>
            </a:extLst>
          </p:cNvPr>
          <p:cNvSpPr/>
          <p:nvPr/>
        </p:nvSpPr>
        <p:spPr>
          <a:xfrm flipH="1">
            <a:off x="4661331" y="4996054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0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697036" y="3002705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41" name="向右箭號 166">
            <a:extLst>
              <a:ext uri="{FF2B5EF4-FFF2-40B4-BE49-F238E27FC236}">
                <a16:creationId xmlns:a16="http://schemas.microsoft.com/office/drawing/2014/main" id="{EB06DF0E-9AE1-4B49-B3FF-80C3B8BD770F}"/>
              </a:ext>
            </a:extLst>
          </p:cNvPr>
          <p:cNvSpPr/>
          <p:nvPr/>
        </p:nvSpPr>
        <p:spPr>
          <a:xfrm>
            <a:off x="2201715" y="274388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2" name="橢圓 149">
            <a:extLst>
              <a:ext uri="{FF2B5EF4-FFF2-40B4-BE49-F238E27FC236}">
                <a16:creationId xmlns:a16="http://schemas.microsoft.com/office/drawing/2014/main" id="{6085849A-050D-2649-8E14-50A1A9E45CA6}"/>
              </a:ext>
            </a:extLst>
          </p:cNvPr>
          <p:cNvSpPr/>
          <p:nvPr/>
        </p:nvSpPr>
        <p:spPr>
          <a:xfrm>
            <a:off x="1848213" y="272433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3" name="文字方塊 121">
            <a:extLst>
              <a:ext uri="{FF2B5EF4-FFF2-40B4-BE49-F238E27FC236}">
                <a16:creationId xmlns:a16="http://schemas.microsoft.com/office/drawing/2014/main" id="{67918A44-81A0-0E4C-BD59-A15A9F73C2D7}"/>
              </a:ext>
            </a:extLst>
          </p:cNvPr>
          <p:cNvSpPr txBox="1"/>
          <p:nvPr/>
        </p:nvSpPr>
        <p:spPr>
          <a:xfrm>
            <a:off x="1475620" y="2085487"/>
            <a:ext cx="975274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R</a:t>
            </a:r>
            <a:r>
              <a:rPr lang="en-US" altLang="zh-TW" sz="1000" dirty="0">
                <a:solidFill>
                  <a:srgbClr val="0000FF"/>
                </a:solidFill>
                <a:latin typeface="Calibri" panose="020F0502020204030204" pitchFamily="34" charset="0"/>
              </a:rPr>
              <a:t>econ</a:t>
            </a:r>
            <a:r>
              <a:rPr lang="zh-CN" altLang="en-US" sz="1000" dirty="0">
                <a:latin typeface="Calibri" panose="020F0502020204030204" pitchFamily="34" charset="0"/>
              </a:rPr>
              <a:t>錄入外觀</a:t>
            </a:r>
            <a:r>
              <a:rPr lang="en-US" altLang="zh-CN" sz="1000" dirty="0">
                <a:latin typeface="Calibri" panose="020F0502020204030204" pitchFamily="34" charset="0"/>
              </a:rPr>
              <a:t>Failure Item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44" name="橢圓 102">
            <a:extLst>
              <a:ext uri="{FF2B5EF4-FFF2-40B4-BE49-F238E27FC236}">
                <a16:creationId xmlns:a16="http://schemas.microsoft.com/office/drawing/2014/main" id="{99A11755-654E-4349-A579-A1D65463E3E6}"/>
              </a:ext>
            </a:extLst>
          </p:cNvPr>
          <p:cNvSpPr/>
          <p:nvPr/>
        </p:nvSpPr>
        <p:spPr>
          <a:xfrm>
            <a:off x="8012616" y="496555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9" name="橢圓 38">
            <a:extLst>
              <a:ext uri="{FF2B5EF4-FFF2-40B4-BE49-F238E27FC236}">
                <a16:creationId xmlns:a16="http://schemas.microsoft.com/office/drawing/2014/main" id="{0BDC57A5-4F16-1049-AA61-A1F9EDFA4B33}"/>
              </a:ext>
            </a:extLst>
          </p:cNvPr>
          <p:cNvSpPr/>
          <p:nvPr/>
        </p:nvSpPr>
        <p:spPr>
          <a:xfrm>
            <a:off x="5520753" y="496555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949BC30-617D-144E-A5AB-B1339E3E60DB}"/>
              </a:ext>
            </a:extLst>
          </p:cNvPr>
          <p:cNvSpPr/>
          <p:nvPr/>
        </p:nvSpPr>
        <p:spPr>
          <a:xfrm>
            <a:off x="7734794" y="2159437"/>
            <a:ext cx="8688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OPs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比對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和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Recon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1" name="向右箭號 224">
            <a:extLst>
              <a:ext uri="{FF2B5EF4-FFF2-40B4-BE49-F238E27FC236}">
                <a16:creationId xmlns:a16="http://schemas.microsoft.com/office/drawing/2014/main" id="{1805105A-4061-F54C-868C-35527E847539}"/>
              </a:ext>
            </a:extLst>
          </p:cNvPr>
          <p:cNvSpPr/>
          <p:nvPr/>
        </p:nvSpPr>
        <p:spPr>
          <a:xfrm flipH="1">
            <a:off x="3301398" y="5008055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3" name="橢圓 96">
            <a:extLst>
              <a:ext uri="{FF2B5EF4-FFF2-40B4-BE49-F238E27FC236}">
                <a16:creationId xmlns:a16="http://schemas.microsoft.com/office/drawing/2014/main" id="{54F24259-DDDE-5547-92EC-1FDB98EA45F9}"/>
              </a:ext>
            </a:extLst>
          </p:cNvPr>
          <p:cNvSpPr/>
          <p:nvPr/>
        </p:nvSpPr>
        <p:spPr>
          <a:xfrm>
            <a:off x="9403067" y="268543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6949BC30-617D-144E-A5AB-B1339E3E60DB}"/>
              </a:ext>
            </a:extLst>
          </p:cNvPr>
          <p:cNvSpPr/>
          <p:nvPr/>
        </p:nvSpPr>
        <p:spPr>
          <a:xfrm>
            <a:off x="3801196" y="4330074"/>
            <a:ext cx="10713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電腦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運行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報告和</a:t>
            </a:r>
            <a:r>
              <a:rPr lang="en-US" altLang="zh-TW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對比腳本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5" name="文字方塊 67">
            <a:extLst>
              <a:ext uri="{FF2B5EF4-FFF2-40B4-BE49-F238E27FC236}">
                <a16:creationId xmlns:a16="http://schemas.microsoft.com/office/drawing/2014/main" id="{FA219D4E-DEE5-F947-BC9B-733A2403DD58}"/>
              </a:ext>
            </a:extLst>
          </p:cNvPr>
          <p:cNvSpPr txBox="1"/>
          <p:nvPr/>
        </p:nvSpPr>
        <p:spPr>
          <a:xfrm>
            <a:off x="4100055" y="5266847"/>
            <a:ext cx="421910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Bole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1" name="矩形 360"/>
          <p:cNvSpPr/>
          <p:nvPr/>
        </p:nvSpPr>
        <p:spPr>
          <a:xfrm>
            <a:off x="6447296" y="1944388"/>
            <a:ext cx="954487" cy="60587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2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7834423" y="5266847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63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7988017" y="3009082"/>
            <a:ext cx="39145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OPs</a:t>
            </a:r>
          </a:p>
        </p:txBody>
      </p:sp>
      <p:sp>
        <p:nvSpPr>
          <p:cNvPr id="366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2905659" y="3013484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3864027" y="4294979"/>
            <a:ext cx="954487" cy="60587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8" name="矩形 367"/>
          <p:cNvSpPr/>
          <p:nvPr/>
        </p:nvSpPr>
        <p:spPr>
          <a:xfrm>
            <a:off x="6333217" y="4301281"/>
            <a:ext cx="954487" cy="60587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9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0633901" y="5266847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70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9160809" y="5266847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71" name="文字方塊 370"/>
          <p:cNvSpPr txBox="1"/>
          <p:nvPr/>
        </p:nvSpPr>
        <p:spPr>
          <a:xfrm>
            <a:off x="1001198" y="2491535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2" name="文字方塊 371"/>
          <p:cNvSpPr txBox="1"/>
          <p:nvPr/>
        </p:nvSpPr>
        <p:spPr>
          <a:xfrm>
            <a:off x="2296597" y="2492608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3" name="文字方塊 372"/>
          <p:cNvSpPr txBox="1"/>
          <p:nvPr/>
        </p:nvSpPr>
        <p:spPr>
          <a:xfrm>
            <a:off x="3508311" y="2475889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4" name="文字方塊 373"/>
          <p:cNvSpPr txBox="1"/>
          <p:nvPr/>
        </p:nvSpPr>
        <p:spPr>
          <a:xfrm>
            <a:off x="4731432" y="2493393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5" name="文字方塊 374"/>
          <p:cNvSpPr txBox="1"/>
          <p:nvPr/>
        </p:nvSpPr>
        <p:spPr>
          <a:xfrm>
            <a:off x="6054135" y="2515199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6" name="文字方塊 375"/>
          <p:cNvSpPr txBox="1"/>
          <p:nvPr/>
        </p:nvSpPr>
        <p:spPr>
          <a:xfrm>
            <a:off x="7204837" y="250510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7" name="文字方塊 376"/>
          <p:cNvSpPr txBox="1"/>
          <p:nvPr/>
        </p:nvSpPr>
        <p:spPr>
          <a:xfrm>
            <a:off x="8501307" y="2524513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1" name="文字方塊 380"/>
          <p:cNvSpPr txBox="1"/>
          <p:nvPr/>
        </p:nvSpPr>
        <p:spPr>
          <a:xfrm>
            <a:off x="9944014" y="4736988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2" name="文字方塊 381"/>
          <p:cNvSpPr txBox="1"/>
          <p:nvPr/>
        </p:nvSpPr>
        <p:spPr>
          <a:xfrm>
            <a:off x="8473740" y="4749518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3" name="文字方塊 382"/>
          <p:cNvSpPr txBox="1"/>
          <p:nvPr/>
        </p:nvSpPr>
        <p:spPr>
          <a:xfrm>
            <a:off x="7251684" y="475156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4" name="文字方塊 383"/>
          <p:cNvSpPr txBox="1"/>
          <p:nvPr/>
        </p:nvSpPr>
        <p:spPr>
          <a:xfrm>
            <a:off x="5812562" y="4736988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5" name="文字方塊 384"/>
          <p:cNvSpPr txBox="1"/>
          <p:nvPr/>
        </p:nvSpPr>
        <p:spPr>
          <a:xfrm>
            <a:off x="4770775" y="475592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6" name="文字方塊 385"/>
          <p:cNvSpPr txBox="1"/>
          <p:nvPr/>
        </p:nvSpPr>
        <p:spPr>
          <a:xfrm>
            <a:off x="3404691" y="4786542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9" name="橢圓 388"/>
          <p:cNvSpPr/>
          <p:nvPr/>
        </p:nvSpPr>
        <p:spPr>
          <a:xfrm>
            <a:off x="6725633" y="496555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0" name="橢圓 389"/>
          <p:cNvSpPr/>
          <p:nvPr/>
        </p:nvSpPr>
        <p:spPr>
          <a:xfrm>
            <a:off x="4210798" y="496555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1" name="橢圓 390"/>
          <p:cNvSpPr/>
          <p:nvPr/>
        </p:nvSpPr>
        <p:spPr>
          <a:xfrm>
            <a:off x="5539302" y="2737099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3" name="矩形 392"/>
          <p:cNvSpPr/>
          <p:nvPr/>
        </p:nvSpPr>
        <p:spPr>
          <a:xfrm>
            <a:off x="6469060" y="1236809"/>
            <a:ext cx="1341432" cy="617674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利用腳本錄入</a:t>
            </a:r>
            <a:r>
              <a:rPr lang="en-US" altLang="zh-CN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SN/ Test/ CP/ Failure Mode/ Mini line Station Failed</a:t>
            </a:r>
          </a:p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減少人工疏漏</a:t>
            </a:r>
            <a:endParaRPr lang="en-US" altLang="zh-TW" sz="1000" b="1" dirty="0">
              <a:solidFill>
                <a:srgbClr val="C55A1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endParaRPr lang="zh-TW" altLang="en-US" sz="1000" b="1" dirty="0">
              <a:solidFill>
                <a:srgbClr val="C55A1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394" name="直線單箭頭接點 393"/>
          <p:cNvCxnSpPr/>
          <p:nvPr/>
        </p:nvCxnSpPr>
        <p:spPr>
          <a:xfrm flipV="1">
            <a:off x="6447483" y="1130357"/>
            <a:ext cx="0" cy="792000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矩形 394"/>
          <p:cNvSpPr/>
          <p:nvPr/>
        </p:nvSpPr>
        <p:spPr>
          <a:xfrm>
            <a:off x="6349442" y="3484158"/>
            <a:ext cx="1033128" cy="617674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把當日報告維護至腳本為了在發郵件時統一一定格式方便客戶閱讀</a:t>
            </a:r>
          </a:p>
        </p:txBody>
      </p:sp>
      <p:sp>
        <p:nvSpPr>
          <p:cNvPr id="397" name="矩形 396"/>
          <p:cNvSpPr/>
          <p:nvPr/>
        </p:nvSpPr>
        <p:spPr>
          <a:xfrm>
            <a:off x="3841645" y="3440695"/>
            <a:ext cx="1110609" cy="698612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把報告中</a:t>
            </a:r>
            <a:r>
              <a:rPr lang="en-US" altLang="zh-TW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log</a:t>
            </a: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頁自動轉換從</a:t>
            </a:r>
            <a:r>
              <a:rPr lang="en-US" altLang="zh-TW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excl. -&gt;</a:t>
            </a: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csv.</a:t>
            </a:r>
            <a:r>
              <a:rPr lang="zh-TW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並且自動上傳至客戶指定的雷達上</a:t>
            </a:r>
          </a:p>
        </p:txBody>
      </p:sp>
      <p:sp>
        <p:nvSpPr>
          <p:cNvPr id="150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9245790" y="2954173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cxnSp>
        <p:nvCxnSpPr>
          <p:cNvPr id="218" name="直線單箭頭接點 217"/>
          <p:cNvCxnSpPr/>
          <p:nvPr/>
        </p:nvCxnSpPr>
        <p:spPr>
          <a:xfrm flipV="1">
            <a:off x="3864027" y="3376227"/>
            <a:ext cx="0" cy="932540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/>
          <p:nvPr/>
        </p:nvCxnSpPr>
        <p:spPr>
          <a:xfrm flipV="1">
            <a:off x="6320496" y="3376227"/>
            <a:ext cx="12721" cy="918752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 220">
            <a:extLst>
              <a:ext uri="{FF2B5EF4-FFF2-40B4-BE49-F238E27FC236}">
                <a16:creationId xmlns:a16="http://schemas.microsoft.com/office/drawing/2014/main" id="{08929AFE-1513-514E-9F38-516E9F9AD376}"/>
              </a:ext>
            </a:extLst>
          </p:cNvPr>
          <p:cNvSpPr/>
          <p:nvPr/>
        </p:nvSpPr>
        <p:spPr>
          <a:xfrm>
            <a:off x="2622307" y="4430678"/>
            <a:ext cx="8867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Email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發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送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報告給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F1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22" name="文字方塊 100">
            <a:extLst>
              <a:ext uri="{FF2B5EF4-FFF2-40B4-BE49-F238E27FC236}">
                <a16:creationId xmlns:a16="http://schemas.microsoft.com/office/drawing/2014/main" id="{FB8CAB2B-7FEC-4F42-86E9-A191373916B0}"/>
              </a:ext>
            </a:extLst>
          </p:cNvPr>
          <p:cNvSpPr txBox="1"/>
          <p:nvPr/>
        </p:nvSpPr>
        <p:spPr>
          <a:xfrm>
            <a:off x="2829194" y="5277993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Bole</a:t>
            </a:r>
          </a:p>
        </p:txBody>
      </p:sp>
      <p:pic>
        <p:nvPicPr>
          <p:cNvPr id="223" name="Picture 1" descr="C:\Users\28243\AppData\Local\SuperNotes\a.nina.yh.huang@mail.foxconn.com\mid\B3FCFAA1-3FB0-4647-906A-2B0D9963BB36.jpg">
            <a:extLst>
              <a:ext uri="{FF2B5EF4-FFF2-40B4-BE49-F238E27FC236}">
                <a16:creationId xmlns:a16="http://schemas.microsoft.com/office/drawing/2014/main" id="{D879B613-EC2D-EB47-B085-C31C77511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903" y="4980519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B5C917D1-A228-499D-89A1-C5EF18B19042}"/>
              </a:ext>
            </a:extLst>
          </p:cNvPr>
          <p:cNvGrpSpPr/>
          <p:nvPr/>
        </p:nvGrpSpPr>
        <p:grpSpPr>
          <a:xfrm>
            <a:off x="8887677" y="542660"/>
            <a:ext cx="3475319" cy="1597307"/>
            <a:chOff x="8887677" y="702459"/>
            <a:chExt cx="3475319" cy="1597307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76A9DFC2-39BF-4CFE-BCA1-9D92C7F60497}"/>
                </a:ext>
              </a:extLst>
            </p:cNvPr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119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DBE07AB4-F97F-4CA6-A2DF-532809E07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7AB44C26-D73E-493E-8B7F-CF81B9F7FE0D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4AA98CD2-3FBC-4166-B563-60179D798D8F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F7D6871C-E779-454F-B667-3B877710D933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0BE1DFFC-E2E6-4980-BA96-498CB202053B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025B41A6-AECD-4CAC-8718-13A574CFD19F}"/>
                </a:ext>
              </a:extLst>
            </p:cNvPr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42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8E5264EB-211B-42A9-BEC0-DF4281A8E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3" name="群組 142">
              <a:extLst>
                <a:ext uri="{FF2B5EF4-FFF2-40B4-BE49-F238E27FC236}">
                  <a16:creationId xmlns:a16="http://schemas.microsoft.com/office/drawing/2014/main" id="{6FF5E80A-5309-4AAA-83A1-78CC8E65794C}"/>
                </a:ext>
              </a:extLst>
            </p:cNvPr>
            <p:cNvGrpSpPr/>
            <p:nvPr/>
          </p:nvGrpSpPr>
          <p:grpSpPr>
            <a:xfrm>
              <a:off x="8887677" y="767409"/>
              <a:ext cx="1807794" cy="608652"/>
              <a:chOff x="9178223" y="328505"/>
              <a:chExt cx="1807794" cy="608652"/>
            </a:xfrm>
          </p:grpSpPr>
          <p:cxnSp>
            <p:nvCxnSpPr>
              <p:cNvPr id="148" name="直線單箭頭接點 147">
                <a:extLst>
                  <a:ext uri="{FF2B5EF4-FFF2-40B4-BE49-F238E27FC236}">
                    <a16:creationId xmlns:a16="http://schemas.microsoft.com/office/drawing/2014/main" id="{66B3D3E6-FE71-4BA1-BBDB-32A4064179EF}"/>
                  </a:ext>
                </a:extLst>
              </p:cNvPr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B5334AAC-3A8F-481F-BD9E-0E5722FFB62D}"/>
                  </a:ext>
                </a:extLst>
              </p:cNvPr>
              <p:cNvSpPr txBox="1"/>
              <p:nvPr/>
            </p:nvSpPr>
            <p:spPr>
              <a:xfrm>
                <a:off x="9866107" y="392007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物理防呆</a:t>
                </a:r>
                <a:endParaRPr lang="zh-TW" altLang="en-US" sz="1000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51" name="直線單箭頭接點 150">
                <a:extLst>
                  <a:ext uri="{FF2B5EF4-FFF2-40B4-BE49-F238E27FC236}">
                    <a16:creationId xmlns:a16="http://schemas.microsoft.com/office/drawing/2014/main" id="{F89CA0D0-5490-470F-B127-6767807909BB}"/>
                  </a:ext>
                </a:extLst>
              </p:cNvPr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74AEB4CA-F122-476E-BC2A-CF6858395930}"/>
                  </a:ext>
                </a:extLst>
              </p:cNvPr>
              <p:cNvSpPr txBox="1"/>
              <p:nvPr/>
            </p:nvSpPr>
            <p:spPr>
              <a:xfrm>
                <a:off x="9866107" y="613406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軟體防呆</a:t>
                </a:r>
                <a:endParaRPr lang="zh-TW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5D212958-5483-4C9D-93B6-9B8200BAA351}"/>
                  </a:ext>
                </a:extLst>
              </p:cNvPr>
              <p:cNvSpPr/>
              <p:nvPr/>
            </p:nvSpPr>
            <p:spPr>
              <a:xfrm>
                <a:off x="9178223" y="328505"/>
                <a:ext cx="1595518" cy="60865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F436344B-9FF2-49C2-AD73-422CD532886A}"/>
                </a:ext>
              </a:extLst>
            </p:cNvPr>
            <p:cNvSpPr/>
            <p:nvPr/>
          </p:nvSpPr>
          <p:spPr>
            <a:xfrm>
              <a:off x="10711417" y="1832256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3F17A4DF-0804-437B-9561-592FE0C0EE93}"/>
                </a:ext>
              </a:extLst>
            </p:cNvPr>
            <p:cNvSpPr/>
            <p:nvPr/>
          </p:nvSpPr>
          <p:spPr>
            <a:xfrm>
              <a:off x="10900203" y="1785347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5AFEAFB8-AACC-4D7E-9CEB-265F25BD2545}"/>
                </a:ext>
              </a:extLst>
            </p:cNvPr>
            <p:cNvSpPr/>
            <p:nvPr/>
          </p:nvSpPr>
          <p:spPr>
            <a:xfrm>
              <a:off x="10919148" y="2053545"/>
              <a:ext cx="11440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T0 or Tx only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7" name="矩形: 圓角 155">
              <a:extLst>
                <a:ext uri="{FF2B5EF4-FFF2-40B4-BE49-F238E27FC236}">
                  <a16:creationId xmlns:a16="http://schemas.microsoft.com/office/drawing/2014/main" id="{0517B70D-E5D2-4207-954B-08F25EEC19FD}"/>
                </a:ext>
              </a:extLst>
            </p:cNvPr>
            <p:cNvSpPr/>
            <p:nvPr/>
          </p:nvSpPr>
          <p:spPr>
            <a:xfrm>
              <a:off x="10711417" y="2089000"/>
              <a:ext cx="220836" cy="152525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155" name="矩形 154">
            <a:extLst>
              <a:ext uri="{FF2B5EF4-FFF2-40B4-BE49-F238E27FC236}">
                <a16:creationId xmlns:a16="http://schemas.microsoft.com/office/drawing/2014/main" id="{B694D95F-C669-A541-8A16-BD1617BF23F8}"/>
              </a:ext>
            </a:extLst>
          </p:cNvPr>
          <p:cNvSpPr/>
          <p:nvPr/>
        </p:nvSpPr>
        <p:spPr>
          <a:xfrm>
            <a:off x="10388965" y="2160018"/>
            <a:ext cx="98934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檢查報告數據與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Recon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數據是否一致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7" name="向右箭號 93">
            <a:extLst>
              <a:ext uri="{FF2B5EF4-FFF2-40B4-BE49-F238E27FC236}">
                <a16:creationId xmlns:a16="http://schemas.microsoft.com/office/drawing/2014/main" id="{25E55206-A45B-0A4C-B33C-3C8A6A68FCAF}"/>
              </a:ext>
            </a:extLst>
          </p:cNvPr>
          <p:cNvSpPr/>
          <p:nvPr/>
        </p:nvSpPr>
        <p:spPr>
          <a:xfrm rot="5400000">
            <a:off x="10406914" y="3684828"/>
            <a:ext cx="924485" cy="176834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8" name="橢圓 97">
            <a:extLst>
              <a:ext uri="{FF2B5EF4-FFF2-40B4-BE49-F238E27FC236}">
                <a16:creationId xmlns:a16="http://schemas.microsoft.com/office/drawing/2014/main" id="{CCB7F7F4-B995-2148-BE30-0563EF750342}"/>
              </a:ext>
            </a:extLst>
          </p:cNvPr>
          <p:cNvSpPr/>
          <p:nvPr/>
        </p:nvSpPr>
        <p:spPr>
          <a:xfrm>
            <a:off x="10783926" y="268543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9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0630201" y="2954173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60" name="文字方塊 159"/>
          <p:cNvSpPr txBox="1"/>
          <p:nvPr/>
        </p:nvSpPr>
        <p:spPr>
          <a:xfrm>
            <a:off x="9928975" y="2529551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1" name="文字方塊 160"/>
          <p:cNvSpPr txBox="1"/>
          <p:nvPr/>
        </p:nvSpPr>
        <p:spPr>
          <a:xfrm>
            <a:off x="10957575" y="3415217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2" name="向右箭號 52">
            <a:extLst>
              <a:ext uri="{FF2B5EF4-FFF2-40B4-BE49-F238E27FC236}">
                <a16:creationId xmlns:a16="http://schemas.microsoft.com/office/drawing/2014/main" id="{80582F6D-FE5B-4847-9DCD-219818594DC4}"/>
              </a:ext>
            </a:extLst>
          </p:cNvPr>
          <p:cNvSpPr/>
          <p:nvPr/>
        </p:nvSpPr>
        <p:spPr>
          <a:xfrm>
            <a:off x="9797777" y="275352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1207031" y="4265362"/>
            <a:ext cx="1075559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FA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處理</a:t>
            </a:r>
            <a:r>
              <a:rPr lang="en-US" altLang="zh-TW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Disposition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後通知投產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橢圓 112"/>
          <p:cNvSpPr/>
          <p:nvPr/>
        </p:nvSpPr>
        <p:spPr>
          <a:xfrm>
            <a:off x="1658841" y="496080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4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568319" y="5274647"/>
            <a:ext cx="32092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FA</a:t>
            </a:r>
          </a:p>
        </p:txBody>
      </p:sp>
      <p:sp>
        <p:nvSpPr>
          <p:cNvPr id="115" name="向右箭號 224">
            <a:extLst>
              <a:ext uri="{FF2B5EF4-FFF2-40B4-BE49-F238E27FC236}">
                <a16:creationId xmlns:a16="http://schemas.microsoft.com/office/drawing/2014/main" id="{1805105A-4061-F54C-868C-35527E847539}"/>
              </a:ext>
            </a:extLst>
          </p:cNvPr>
          <p:cNvSpPr/>
          <p:nvPr/>
        </p:nvSpPr>
        <p:spPr>
          <a:xfrm flipH="1">
            <a:off x="2050294" y="5026140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2153587" y="4804627"/>
            <a:ext cx="670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上彎箭號 4"/>
          <p:cNvSpPr/>
          <p:nvPr/>
        </p:nvSpPr>
        <p:spPr>
          <a:xfrm rot="5400000" flipV="1">
            <a:off x="5104172" y="5818405"/>
            <a:ext cx="775643" cy="395869"/>
          </a:xfrm>
          <a:prstGeom prst="bentUpArrow">
            <a:avLst/>
          </a:prstGeom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4181283" y="5680103"/>
            <a:ext cx="1075559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運行</a:t>
            </a:r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Recon VS </a:t>
            </a:r>
            <a:r>
              <a:rPr lang="en-US" altLang="zh-CN" sz="1000" dirty="0" err="1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RelRpeort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腳本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橢圓 125"/>
          <p:cNvSpPr/>
          <p:nvPr/>
        </p:nvSpPr>
        <p:spPr>
          <a:xfrm>
            <a:off x="4625987" y="622783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530344" y="6470670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Bole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28" name="向右箭號 224">
            <a:extLst>
              <a:ext uri="{FF2B5EF4-FFF2-40B4-BE49-F238E27FC236}">
                <a16:creationId xmlns:a16="http://schemas.microsoft.com/office/drawing/2014/main" id="{1805105A-4061-F54C-868C-35527E847539}"/>
              </a:ext>
            </a:extLst>
          </p:cNvPr>
          <p:cNvSpPr/>
          <p:nvPr/>
        </p:nvSpPr>
        <p:spPr>
          <a:xfrm flipH="1">
            <a:off x="3607177" y="6244113"/>
            <a:ext cx="739523" cy="1352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5735063" y="5825487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2662618" y="5594723"/>
            <a:ext cx="1239378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第二天早上從</a:t>
            </a:r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Dashboard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上下載</a:t>
            </a:r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Pass/Fail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數據，并修改為一致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" name="橢圓 131"/>
          <p:cNvSpPr/>
          <p:nvPr/>
        </p:nvSpPr>
        <p:spPr>
          <a:xfrm>
            <a:off x="3134653" y="623833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3040149" y="6477321"/>
            <a:ext cx="42191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+mn-lt"/>
              </a:rPr>
              <a:t>Bole</a:t>
            </a:r>
            <a:endParaRPr lang="en-US" altLang="zh-TW" sz="1000" dirty="0">
              <a:latin typeface="+mn-lt"/>
            </a:endParaRPr>
          </a:p>
        </p:txBody>
      </p:sp>
      <p:sp>
        <p:nvSpPr>
          <p:cNvPr id="137" name="文字方塊 54">
            <a:extLst>
              <a:ext uri="{FF2B5EF4-FFF2-40B4-BE49-F238E27FC236}">
                <a16:creationId xmlns:a16="http://schemas.microsoft.com/office/drawing/2014/main" id="{C2DC5C4A-3C6E-A74D-96C5-7EE4F29414A5}"/>
              </a:ext>
            </a:extLst>
          </p:cNvPr>
          <p:cNvSpPr txBox="1"/>
          <p:nvPr/>
        </p:nvSpPr>
        <p:spPr>
          <a:xfrm>
            <a:off x="1469387" y="3227426"/>
            <a:ext cx="103859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 err="1">
                <a:latin typeface="Calibri" panose="020F0502020204030204" pitchFamily="34" charset="0"/>
              </a:rPr>
              <a:t>Miniline</a:t>
            </a:r>
            <a:r>
              <a:rPr lang="zh-CN" altLang="en-US" sz="1000" dirty="0">
                <a:latin typeface="Calibri" panose="020F0502020204030204" pitchFamily="34" charset="0"/>
              </a:rPr>
              <a:t>發現</a:t>
            </a:r>
            <a:r>
              <a:rPr lang="en-US" altLang="zh-CN" sz="1000" dirty="0">
                <a:latin typeface="Calibri" panose="020F0502020204030204" pitchFamily="34" charset="0"/>
              </a:rPr>
              <a:t>12-9</a:t>
            </a:r>
            <a:r>
              <a:rPr lang="zh-CN" altLang="en-US" sz="1000" dirty="0">
                <a:latin typeface="Calibri" panose="020F0502020204030204" pitchFamily="34" charset="0"/>
              </a:rPr>
              <a:t>時會立刻通知</a:t>
            </a:r>
            <a:r>
              <a:rPr lang="en-US" altLang="zh-CN" sz="1000" dirty="0">
                <a:latin typeface="Calibri" panose="020F0502020204030204" pitchFamily="34" charset="0"/>
              </a:rPr>
              <a:t>Recon</a:t>
            </a:r>
            <a:r>
              <a:rPr lang="zh-CN" altLang="en-US" sz="1000" dirty="0">
                <a:latin typeface="Calibri" panose="020F0502020204030204" pitchFamily="34" charset="0"/>
              </a:rPr>
              <a:t>輸入</a:t>
            </a:r>
            <a:r>
              <a:rPr lang="en-US" altLang="zh-CN" sz="1000" dirty="0">
                <a:latin typeface="Calibri" panose="020F0502020204030204" pitchFamily="34" charset="0"/>
              </a:rPr>
              <a:t>Failure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30" name="圓角矩形 129"/>
          <p:cNvSpPr/>
          <p:nvPr/>
        </p:nvSpPr>
        <p:spPr>
          <a:xfrm>
            <a:off x="2507981" y="5608635"/>
            <a:ext cx="3668372" cy="11880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6147501" y="6159937"/>
            <a:ext cx="10811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New add P1</a:t>
            </a:r>
            <a:endParaRPr lang="zh-TW" altLang="en-US" sz="1000" b="1" dirty="0">
              <a:solidFill>
                <a:srgbClr val="FF0000"/>
              </a:solidFill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155B90A-5F8A-164A-AE8A-3A87131F1A37}"/>
              </a:ext>
            </a:extLst>
          </p:cNvPr>
          <p:cNvSpPr/>
          <p:nvPr/>
        </p:nvSpPr>
        <p:spPr>
          <a:xfrm>
            <a:off x="9393229" y="1307111"/>
            <a:ext cx="13022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New add P1</a:t>
            </a:r>
            <a:endParaRPr lang="zh-TW" altLang="en-US" sz="1000" b="1" dirty="0">
              <a:solidFill>
                <a:srgbClr val="FF0000"/>
              </a:solidFill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6" name="圓角矩形 135"/>
          <p:cNvSpPr/>
          <p:nvPr/>
        </p:nvSpPr>
        <p:spPr>
          <a:xfrm>
            <a:off x="8999358" y="1329028"/>
            <a:ext cx="653463" cy="2143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文字方塊 137"/>
          <p:cNvSpPr txBox="1"/>
          <p:nvPr/>
        </p:nvSpPr>
        <p:spPr>
          <a:xfrm>
            <a:off x="3777922" y="5961737"/>
            <a:ext cx="598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 Day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5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5090384" y="1026906"/>
            <a:ext cx="1511919" cy="277586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61592" y="93078"/>
            <a:ext cx="54405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center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T0 TX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8" name="向右箭號 117"/>
          <p:cNvSpPr/>
          <p:nvPr/>
        </p:nvSpPr>
        <p:spPr>
          <a:xfrm>
            <a:off x="990736" y="2463373"/>
            <a:ext cx="418137" cy="9542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182886" y="1961360"/>
            <a:ext cx="89375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T0</a:t>
            </a:r>
          </a:p>
          <a:p>
            <a:r>
              <a:rPr lang="zh-CN" altLang="en-US" sz="1000" dirty="0">
                <a:latin typeface="Calibri" panose="020F0502020204030204" pitchFamily="34" charset="0"/>
              </a:rPr>
              <a:t>接收機台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6809612" y="1949579"/>
            <a:ext cx="1260000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維護機台信息到測試記錄表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0" name="文字方塊 149"/>
          <p:cNvSpPr txBox="1"/>
          <p:nvPr/>
        </p:nvSpPr>
        <p:spPr>
          <a:xfrm>
            <a:off x="4293789" y="2697277"/>
            <a:ext cx="808991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Aiden/Cody</a:t>
            </a:r>
          </a:p>
        </p:txBody>
      </p:sp>
      <p:sp>
        <p:nvSpPr>
          <p:cNvPr id="186" name="文字方塊 185"/>
          <p:cNvSpPr txBox="1"/>
          <p:nvPr/>
        </p:nvSpPr>
        <p:spPr>
          <a:xfrm>
            <a:off x="6975478" y="2697277"/>
            <a:ext cx="8424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Operator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0" name="向右箭號 189"/>
          <p:cNvSpPr/>
          <p:nvPr/>
        </p:nvSpPr>
        <p:spPr>
          <a:xfrm rot="5400000">
            <a:off x="9876800" y="3336307"/>
            <a:ext cx="540000" cy="972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7" name="文字方塊 246"/>
          <p:cNvSpPr txBox="1"/>
          <p:nvPr/>
        </p:nvSpPr>
        <p:spPr>
          <a:xfrm>
            <a:off x="4199147" y="1954633"/>
            <a:ext cx="104193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刷測試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>
                <a:latin typeface="Calibri" panose="020F0502020204030204" pitchFamily="34" charset="0"/>
              </a:rPr>
              <a:t>T0/</a:t>
            </a:r>
            <a:r>
              <a:rPr lang="en-US" altLang="zh-CN" sz="1000" dirty="0" err="1">
                <a:latin typeface="Calibri" panose="020F0502020204030204" pitchFamily="34" charset="0"/>
              </a:rPr>
              <a:t>Tx</a:t>
            </a:r>
            <a:r>
              <a:rPr lang="en-US" altLang="zh-CN" sz="1000" dirty="0">
                <a:latin typeface="Calibri" panose="020F0502020204030204" pitchFamily="34" charset="0"/>
              </a:rPr>
              <a:t> Recon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53" name="文字方塊 252"/>
          <p:cNvSpPr txBox="1"/>
          <p:nvPr/>
        </p:nvSpPr>
        <p:spPr>
          <a:xfrm>
            <a:off x="5635080" y="2697276"/>
            <a:ext cx="81140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Aiden/Cody</a:t>
            </a:r>
          </a:p>
        </p:txBody>
      </p:sp>
      <p:sp>
        <p:nvSpPr>
          <p:cNvPr id="254" name="矩形 253"/>
          <p:cNvSpPr/>
          <p:nvPr/>
        </p:nvSpPr>
        <p:spPr>
          <a:xfrm>
            <a:off x="5383665" y="2032728"/>
            <a:ext cx="1260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檢查</a:t>
            </a:r>
            <a:r>
              <a:rPr lang="zh-TW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設備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測試參數是否正確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5" name="向右箭號 254"/>
          <p:cNvSpPr/>
          <p:nvPr/>
        </p:nvSpPr>
        <p:spPr>
          <a:xfrm>
            <a:off x="6569050" y="2461975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552361" y="2697277"/>
            <a:ext cx="8341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Aiden/Cody</a:t>
            </a:r>
          </a:p>
        </p:txBody>
      </p:sp>
      <p:sp>
        <p:nvSpPr>
          <p:cNvPr id="269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2407167" y="2461975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932264" y="2270755"/>
            <a:ext cx="565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2379590" y="2273831"/>
            <a:ext cx="5705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5157625" y="2232890"/>
            <a:ext cx="504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551038" y="2273197"/>
            <a:ext cx="586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188397" y="2697115"/>
            <a:ext cx="84063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Aiden/Cody</a:t>
            </a:r>
          </a:p>
        </p:txBody>
      </p:sp>
      <p:sp>
        <p:nvSpPr>
          <p:cNvPr id="132" name="文字方塊 131"/>
          <p:cNvSpPr txBox="1"/>
          <p:nvPr/>
        </p:nvSpPr>
        <p:spPr>
          <a:xfrm>
            <a:off x="6983655" y="4804966"/>
            <a:ext cx="83379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27529" y="3994152"/>
            <a:ext cx="1260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收集並複查測試和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Rootloader data,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并上傳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radar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向右箭號 133"/>
          <p:cNvSpPr/>
          <p:nvPr/>
        </p:nvSpPr>
        <p:spPr>
          <a:xfrm rot="10800000">
            <a:off x="6558636" y="4495332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5627332" y="4807485"/>
            <a:ext cx="84137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41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771420" y="2296914"/>
            <a:ext cx="351215" cy="43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文字方塊 148"/>
          <p:cNvSpPr txBox="1"/>
          <p:nvPr/>
        </p:nvSpPr>
        <p:spPr>
          <a:xfrm>
            <a:off x="6558647" y="4311637"/>
            <a:ext cx="570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5160974" y="4304254"/>
            <a:ext cx="668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1494174" y="913395"/>
            <a:ext cx="1076648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 err="1">
                <a:latin typeface="Calibri" panose="020F0502020204030204" pitchFamily="34" charset="0"/>
              </a:rPr>
              <a:t>Tx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>
                <a:latin typeface="Calibri" panose="020F0502020204030204" pitchFamily="34" charset="0"/>
              </a:rPr>
              <a:t>Disposition</a:t>
            </a:r>
            <a:r>
              <a:rPr lang="zh-CN" altLang="en-US" sz="1000" dirty="0">
                <a:latin typeface="Calibri" panose="020F0502020204030204" pitchFamily="34" charset="0"/>
              </a:rPr>
              <a:t>郵件通知接收機台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2024275" y="1691641"/>
            <a:ext cx="5763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215149" y="3840653"/>
            <a:ext cx="13629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測試結束檢查機台是否有嚴重失效問題，並記錄</a:t>
            </a:r>
            <a:r>
              <a:rPr lang="en-US" altLang="zh-CN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Travel Sheet</a:t>
            </a:r>
            <a:endParaRPr lang="zh-TW" altLang="en-US" sz="1000" b="1" dirty="0">
              <a:solidFill>
                <a:srgbClr val="0000FF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2" name="向右箭號 91"/>
          <p:cNvSpPr/>
          <p:nvPr/>
        </p:nvSpPr>
        <p:spPr>
          <a:xfrm rot="10800000">
            <a:off x="7927838" y="4490394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2919589" y="2697277"/>
            <a:ext cx="84287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Aiden/Cody</a:t>
            </a:r>
          </a:p>
        </p:txBody>
      </p:sp>
      <p:sp>
        <p:nvSpPr>
          <p:cNvPr id="96" name="文字方塊 95"/>
          <p:cNvSpPr txBox="1"/>
          <p:nvPr/>
        </p:nvSpPr>
        <p:spPr>
          <a:xfrm>
            <a:off x="2736246" y="1805031"/>
            <a:ext cx="1260000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228600" indent="-228600" algn="l">
              <a:buAutoNum type="arabicPeriod"/>
            </a:pPr>
            <a:r>
              <a:rPr lang="zh-CN" altLang="en-US" sz="1000" dirty="0">
                <a:latin typeface="Calibri" panose="020F0502020204030204" pitchFamily="34" charset="0"/>
              </a:rPr>
              <a:t>打印報告紙</a:t>
            </a:r>
            <a:r>
              <a:rPr lang="en-US" altLang="zh-TW" sz="1000" dirty="0">
                <a:latin typeface="Calibri" panose="020F0502020204030204" pitchFamily="34" charset="0"/>
              </a:rPr>
              <a:t> </a:t>
            </a:r>
          </a:p>
          <a:p>
            <a:pPr marL="228600" indent="-228600" algn="l">
              <a:buAutoNum type="arabicPeriod"/>
            </a:pPr>
            <a:r>
              <a:rPr lang="zh-CN" altLang="en-US" sz="1000" dirty="0">
                <a:latin typeface="Calibri" panose="020F0502020204030204" pitchFamily="34" charset="0"/>
              </a:rPr>
              <a:t>複查機台</a:t>
            </a:r>
            <a:endParaRPr lang="en-US" altLang="zh-TW" sz="1000" dirty="0">
              <a:latin typeface="Calibri" panose="020F0502020204030204" pitchFamily="34" charset="0"/>
            </a:endParaRPr>
          </a:p>
          <a:p>
            <a:pPr marL="228600" indent="-228600" algn="l">
              <a:buAutoNum type="arabicPeriod"/>
            </a:pPr>
            <a:r>
              <a:rPr lang="zh-CN" altLang="en-US" sz="1000" dirty="0">
                <a:latin typeface="Calibri" panose="020F0502020204030204" pitchFamily="34" charset="0"/>
              </a:rPr>
              <a:t>記錄外觀問題</a:t>
            </a:r>
            <a:endParaRPr lang="zh-TW" altLang="en-US" sz="1000" dirty="0">
              <a:latin typeface="Calibri" panose="020F0502020204030204" pitchFamily="34" charset="0"/>
            </a:endParaRPr>
          </a:p>
        </p:txBody>
      </p:sp>
      <p:sp>
        <p:nvSpPr>
          <p:cNvPr id="98" name="向右箭號 97"/>
          <p:cNvSpPr/>
          <p:nvPr/>
        </p:nvSpPr>
        <p:spPr>
          <a:xfrm>
            <a:off x="3770554" y="2461975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696162" y="2274388"/>
            <a:ext cx="565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7901013" y="4303207"/>
            <a:ext cx="625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9740096" y="4800846"/>
            <a:ext cx="85389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9543352" y="3828203"/>
            <a:ext cx="1261532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設備巡檢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記錄實時數據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確認設備運行狀態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1" name="向右箭號 110"/>
          <p:cNvSpPr/>
          <p:nvPr/>
        </p:nvSpPr>
        <p:spPr>
          <a:xfrm>
            <a:off x="7935299" y="2461975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5" name="向右箭號 114"/>
          <p:cNvSpPr/>
          <p:nvPr/>
        </p:nvSpPr>
        <p:spPr>
          <a:xfrm>
            <a:off x="9388458" y="2461975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46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63" y="1456075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1346350" y="1963401"/>
            <a:ext cx="1286978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lang="zh-TW" altLang="en-US" sz="1000" dirty="0">
                <a:solidFill>
                  <a:srgbClr val="00B0F0"/>
                </a:solidFill>
                <a:latin typeface="Calibri" panose="020F0502020204030204" pitchFamily="34" charset="0"/>
              </a:rPr>
              <a:t>刷 </a:t>
            </a:r>
            <a:r>
              <a:rPr lang="en-US" altLang="zh-TW" sz="1000" dirty="0">
                <a:solidFill>
                  <a:srgbClr val="00B0F0"/>
                </a:solidFill>
                <a:latin typeface="Calibri" panose="020F0502020204030204" pitchFamily="34" charset="0"/>
              </a:rPr>
              <a:t>IMES &amp; Summary I</a:t>
            </a:r>
            <a:r>
              <a:rPr lang="en-US" altLang="zh-CN" sz="1000" dirty="0">
                <a:solidFill>
                  <a:srgbClr val="00B0F0"/>
                </a:solidFill>
                <a:latin typeface="Calibri" panose="020F0502020204030204" pitchFamily="34" charset="0"/>
              </a:rPr>
              <a:t>n</a:t>
            </a:r>
            <a:r>
              <a:rPr lang="zh-TW" altLang="en-US" sz="1000" dirty="0">
                <a:solidFill>
                  <a:srgbClr val="00B0F0"/>
                </a:solidFill>
                <a:latin typeface="Calibri" panose="020F0502020204030204" pitchFamily="34" charset="0"/>
              </a:rPr>
              <a:t> </a:t>
            </a:r>
          </a:p>
        </p:txBody>
      </p:sp>
      <p:pic>
        <p:nvPicPr>
          <p:cNvPr id="156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4523257" y="2302818"/>
            <a:ext cx="351215" cy="43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5873837" y="4358594"/>
            <a:ext cx="351215" cy="43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04985" y="24566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0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3229395" y="24566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1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912343" y="24566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2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7295175" y="24566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4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8695594" y="24566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10061501" y="245662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4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8691635" y="450569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5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10061501" y="451484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7851256" y="2274388"/>
            <a:ext cx="593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7" name="文字方塊 176"/>
          <p:cNvSpPr txBox="1"/>
          <p:nvPr/>
        </p:nvSpPr>
        <p:spPr>
          <a:xfrm>
            <a:off x="9320820" y="2274388"/>
            <a:ext cx="593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9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7298285" y="4505694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19709" y="3992998"/>
            <a:ext cx="10172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 &amp;Summary Out</a:t>
            </a:r>
          </a:p>
        </p:txBody>
      </p:sp>
      <p:sp>
        <p:nvSpPr>
          <p:cNvPr id="99" name="矩形 98"/>
          <p:cNvSpPr/>
          <p:nvPr/>
        </p:nvSpPr>
        <p:spPr>
          <a:xfrm>
            <a:off x="5456470" y="1030869"/>
            <a:ext cx="2165640" cy="6176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4" name="矩形: 圓角 149">
            <a:extLst>
              <a:ext uri="{FF2B5EF4-FFF2-40B4-BE49-F238E27FC236}">
                <a16:creationId xmlns:a16="http://schemas.microsoft.com/office/drawing/2014/main" id="{25210754-E3B3-4208-911A-983199A285BB}"/>
              </a:ext>
            </a:extLst>
          </p:cNvPr>
          <p:cNvSpPr/>
          <p:nvPr/>
        </p:nvSpPr>
        <p:spPr>
          <a:xfrm>
            <a:off x="322460" y="5507374"/>
            <a:ext cx="4694256" cy="10522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sz="1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TW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P1 </a:t>
            </a:r>
            <a:r>
              <a:rPr lang="zh-CN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新增項</a:t>
            </a:r>
            <a:r>
              <a:rPr lang="en-US" altLang="zh-TW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1. C</a:t>
            </a:r>
            <a:r>
              <a:rPr lang="en-US" altLang="zh-CN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harging</a:t>
            </a:r>
            <a:r>
              <a:rPr lang="en-US" altLang="zh-TW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 : </a:t>
            </a:r>
            <a:r>
              <a:rPr lang="en-US" altLang="zh-CN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90min (P1 Sop new added SoC% requirement)</a:t>
            </a:r>
          </a:p>
          <a:p>
            <a:r>
              <a:rPr lang="en-US" altLang="zh-TW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2. </a:t>
            </a:r>
            <a:r>
              <a:rPr lang="en-US" altLang="zh-CN" sz="1000" b="1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Rootloader</a:t>
            </a:r>
            <a:r>
              <a:rPr lang="en-US" altLang="zh-TW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 : 2</a:t>
            </a:r>
            <a:r>
              <a:rPr lang="en-US" altLang="zh-CN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0min (P1 Sop new added rootloader requirement)</a:t>
            </a:r>
          </a:p>
          <a:p>
            <a:r>
              <a:rPr lang="en-US" altLang="zh-CN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3. Button </a:t>
            </a:r>
            <a:r>
              <a:rPr lang="en-US" altLang="zh-TW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T</a:t>
            </a:r>
            <a:r>
              <a:rPr lang="en-US" altLang="zh-CN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actility: 20min (P1 CP file new added requirement</a:t>
            </a:r>
            <a:r>
              <a:rPr lang="zh-CN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sz="1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r>
              <a:rPr lang="en-US" altLang="zh-CN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4. Disposition summary</a:t>
            </a:r>
            <a:r>
              <a:rPr lang="zh-CN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郵件（防止漏掉投產郵件，導致機台沒有及時投入）</a:t>
            </a:r>
            <a:endParaRPr lang="en-US" altLang="zh-TW" sz="1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4" name="向右箭號 143"/>
          <p:cNvSpPr/>
          <p:nvPr/>
        </p:nvSpPr>
        <p:spPr>
          <a:xfrm rot="16200000">
            <a:off x="5882676" y="3046828"/>
            <a:ext cx="249418" cy="8961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8" name="文字方塊 177"/>
          <p:cNvSpPr txBox="1"/>
          <p:nvPr/>
        </p:nvSpPr>
        <p:spPr>
          <a:xfrm>
            <a:off x="4931790" y="2946849"/>
            <a:ext cx="1117508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Charging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5450137" y="3402660"/>
            <a:ext cx="11721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檢查電量</a:t>
            </a:r>
            <a:endParaRPr lang="en-US" altLang="zh-CN" sz="1000" b="1" noProof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kumimoji="0" lang="en-US" altLang="zh-TW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40</a:t>
            </a:r>
            <a:r>
              <a:rPr kumimoji="0" lang="en-US" altLang="zh-CN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%</a:t>
            </a:r>
            <a:r>
              <a:rPr kumimoji="0" lang="en-US" altLang="zh-TW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-70</a:t>
            </a:r>
            <a:r>
              <a:rPr kumimoji="0" lang="en-US" altLang="zh-CN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%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5431679" y="1099247"/>
            <a:ext cx="11721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導入</a:t>
            </a:r>
            <a:br>
              <a:rPr lang="en-US" altLang="zh-CN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</a:br>
            <a:r>
              <a:rPr lang="en-US" altLang="zh-CN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Rootloader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1" name="向右箭號 190"/>
          <p:cNvSpPr/>
          <p:nvPr/>
        </p:nvSpPr>
        <p:spPr>
          <a:xfrm rot="5400000">
            <a:off x="5896079" y="1830467"/>
            <a:ext cx="249418" cy="8961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2" name="文字方塊 191"/>
          <p:cNvSpPr txBox="1"/>
          <p:nvPr/>
        </p:nvSpPr>
        <p:spPr>
          <a:xfrm>
            <a:off x="5009549" y="1703106"/>
            <a:ext cx="1117508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Operational </a:t>
            </a:r>
          </a:p>
        </p:txBody>
      </p:sp>
      <p:sp>
        <p:nvSpPr>
          <p:cNvPr id="196" name="文字方塊 195"/>
          <p:cNvSpPr txBox="1"/>
          <p:nvPr/>
        </p:nvSpPr>
        <p:spPr>
          <a:xfrm>
            <a:off x="1446377" y="3432405"/>
            <a:ext cx="1076648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FA/CT Return</a:t>
            </a:r>
            <a:r>
              <a:rPr lang="zh-CN" altLang="en-US" sz="1000" dirty="0">
                <a:latin typeface="Calibri" panose="020F0502020204030204" pitchFamily="34" charset="0"/>
              </a:rPr>
              <a:t>郵件通知倉庫領取機台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99" name="文字方塊 198"/>
          <p:cNvSpPr txBox="1"/>
          <p:nvPr/>
        </p:nvSpPr>
        <p:spPr>
          <a:xfrm>
            <a:off x="2115717" y="3228705"/>
            <a:ext cx="5763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200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490" y="3244420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910639" y="324610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2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913744" y="151877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3" name="文字方塊 202"/>
          <p:cNvSpPr txBox="1"/>
          <p:nvPr/>
        </p:nvSpPr>
        <p:spPr>
          <a:xfrm>
            <a:off x="5119109" y="3308954"/>
            <a:ext cx="603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90min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文字方塊 203"/>
          <p:cNvSpPr txBox="1"/>
          <p:nvPr/>
        </p:nvSpPr>
        <p:spPr>
          <a:xfrm>
            <a:off x="5096495" y="1369055"/>
            <a:ext cx="603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E438224C-F0A0-4BD2-902E-2D7F7F92C0FB}"/>
              </a:ext>
            </a:extLst>
          </p:cNvPr>
          <p:cNvSpPr txBox="1"/>
          <p:nvPr/>
        </p:nvSpPr>
        <p:spPr>
          <a:xfrm>
            <a:off x="5275043" y="739045"/>
            <a:ext cx="1142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ea typeface="Microsoft YaHei" panose="020B0503020204020204" pitchFamily="34" charset="-122"/>
              </a:rPr>
              <a:t>New add in P1</a:t>
            </a:r>
            <a:endParaRPr lang="zh-TW" altLang="en-US" sz="1000" b="1" dirty="0">
              <a:solidFill>
                <a:srgbClr val="FF0000"/>
              </a:solidFill>
              <a:ea typeface="Microsoft YaHei" panose="020B0503020204020204" pitchFamily="34" charset="-122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8051946" y="2063924"/>
            <a:ext cx="14925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測試設備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Audit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aphicFrame>
        <p:nvGraphicFramePr>
          <p:cNvPr id="209" name="物件 2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882246"/>
              </p:ext>
            </p:extLst>
          </p:nvPr>
        </p:nvGraphicFramePr>
        <p:xfrm>
          <a:off x="8400821" y="1576394"/>
          <a:ext cx="903440" cy="55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" name="Worksheet" showAsIcon="1" r:id="rId6" imgW="914400" imgH="771480" progId="Excel.Sheet.12">
                  <p:embed/>
                </p:oleObj>
              </mc:Choice>
              <mc:Fallback>
                <p:oleObj name="Worksheet" showAsIcon="1" r:id="rId6" imgW="914400" imgH="771480" progId="Excel.Sheet.12">
                  <p:embed/>
                  <p:pic>
                    <p:nvPicPr>
                      <p:cNvPr id="209" name="物件 2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00821" y="1576394"/>
                        <a:ext cx="903440" cy="554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" name="文字方塊 209"/>
          <p:cNvSpPr txBox="1"/>
          <p:nvPr/>
        </p:nvSpPr>
        <p:spPr>
          <a:xfrm>
            <a:off x="8362925" y="1104728"/>
            <a:ext cx="135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accent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Env : Monthly </a:t>
            </a:r>
            <a:r>
              <a:rPr lang="zh-CN" altLang="en-US" sz="900" b="1" dirty="0">
                <a:solidFill>
                  <a:schemeClr val="accent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CN" sz="900" b="1" dirty="0">
                <a:solidFill>
                  <a:schemeClr val="accent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audit</a:t>
            </a:r>
          </a:p>
          <a:p>
            <a:r>
              <a:rPr lang="en-US" altLang="zh-TW" sz="900" b="1" dirty="0">
                <a:solidFill>
                  <a:schemeClr val="accent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Mech : Weekly audit</a:t>
            </a:r>
            <a:endParaRPr lang="zh-TW" altLang="en-US" sz="900" b="1" dirty="0">
              <a:solidFill>
                <a:schemeClr val="accent1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11" name="直線單箭頭接點 210"/>
          <p:cNvCxnSpPr/>
          <p:nvPr/>
        </p:nvCxnSpPr>
        <p:spPr>
          <a:xfrm flipV="1">
            <a:off x="8399521" y="1252238"/>
            <a:ext cx="11578" cy="720000"/>
          </a:xfrm>
          <a:prstGeom prst="straightConnector1">
            <a:avLst/>
          </a:prstGeom>
          <a:ln>
            <a:solidFill>
              <a:srgbClr val="2E75B6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9513583" y="2054090"/>
            <a:ext cx="1260000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設備運行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4" name="文字方塊 213"/>
          <p:cNvSpPr txBox="1"/>
          <p:nvPr/>
        </p:nvSpPr>
        <p:spPr>
          <a:xfrm>
            <a:off x="9725492" y="2699684"/>
            <a:ext cx="85389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7" name="文字方塊 216"/>
          <p:cNvSpPr txBox="1"/>
          <p:nvPr/>
        </p:nvSpPr>
        <p:spPr>
          <a:xfrm>
            <a:off x="9661521" y="5659408"/>
            <a:ext cx="1117508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機台異常，無法繼續測試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5" name="文字方塊 224"/>
          <p:cNvSpPr txBox="1"/>
          <p:nvPr/>
        </p:nvSpPr>
        <p:spPr>
          <a:xfrm>
            <a:off x="8362925" y="6495176"/>
            <a:ext cx="81623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8374738" y="5640968"/>
            <a:ext cx="949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修改為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Dynamic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節點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22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8627903" y="6038807"/>
            <a:ext cx="351215" cy="43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8" name="向右箭號 227"/>
          <p:cNvSpPr/>
          <p:nvPr/>
        </p:nvSpPr>
        <p:spPr>
          <a:xfrm rot="16200000">
            <a:off x="8618518" y="5247221"/>
            <a:ext cx="4176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9" name="向右箭號 228"/>
          <p:cNvSpPr/>
          <p:nvPr/>
        </p:nvSpPr>
        <p:spPr>
          <a:xfrm rot="5400000">
            <a:off x="9932737" y="5239695"/>
            <a:ext cx="4176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0" name="向右箭號 229"/>
          <p:cNvSpPr/>
          <p:nvPr/>
        </p:nvSpPr>
        <p:spPr>
          <a:xfrm rot="10800000">
            <a:off x="9389546" y="6179667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1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10057526" y="617859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2" name="文字方塊 231"/>
          <p:cNvSpPr txBox="1"/>
          <p:nvPr/>
        </p:nvSpPr>
        <p:spPr>
          <a:xfrm>
            <a:off x="9732519" y="6498184"/>
            <a:ext cx="81623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6" name="向右箭號 235"/>
          <p:cNvSpPr/>
          <p:nvPr/>
        </p:nvSpPr>
        <p:spPr>
          <a:xfrm rot="5400000">
            <a:off x="7223286" y="5252759"/>
            <a:ext cx="4176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7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7293893" y="617968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8" name="文字方塊 237"/>
          <p:cNvSpPr txBox="1"/>
          <p:nvPr/>
        </p:nvSpPr>
        <p:spPr>
          <a:xfrm>
            <a:off x="6825801" y="5509619"/>
            <a:ext cx="1117508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Hinge torque &amp; Button tactility station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43" name="文字方塊 242"/>
          <p:cNvSpPr txBox="1"/>
          <p:nvPr/>
        </p:nvSpPr>
        <p:spPr>
          <a:xfrm>
            <a:off x="6991322" y="6490822"/>
            <a:ext cx="81623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5944779" y="5072350"/>
            <a:ext cx="1043741" cy="1212502"/>
            <a:chOff x="6057990" y="5046225"/>
            <a:chExt cx="1043741" cy="1212502"/>
          </a:xfrm>
        </p:grpSpPr>
        <p:sp>
          <p:nvSpPr>
            <p:cNvPr id="244" name="向右箭號 243"/>
            <p:cNvSpPr/>
            <p:nvPr/>
          </p:nvSpPr>
          <p:spPr>
            <a:xfrm rot="10800000">
              <a:off x="6093731" y="6161527"/>
              <a:ext cx="1008000" cy="9720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46" name="向右箭號 245"/>
            <p:cNvSpPr/>
            <p:nvPr/>
          </p:nvSpPr>
          <p:spPr>
            <a:xfrm rot="16200000">
              <a:off x="5512404" y="5591811"/>
              <a:ext cx="1188000" cy="96827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363" name="矩形 362"/>
          <p:cNvSpPr/>
          <p:nvPr/>
        </p:nvSpPr>
        <p:spPr>
          <a:xfrm>
            <a:off x="10914977" y="1200885"/>
            <a:ext cx="14480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 </a:t>
            </a:r>
          </a:p>
        </p:txBody>
      </p:sp>
      <p:pic>
        <p:nvPicPr>
          <p:cNvPr id="364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250" y="1200887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5" name="橢圓 364"/>
          <p:cNvSpPr/>
          <p:nvPr/>
        </p:nvSpPr>
        <p:spPr>
          <a:xfrm>
            <a:off x="10704761" y="715222"/>
            <a:ext cx="186152" cy="16582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6" name="矩形 365"/>
          <p:cNvSpPr/>
          <p:nvPr/>
        </p:nvSpPr>
        <p:spPr>
          <a:xfrm>
            <a:off x="10900203" y="660124"/>
            <a:ext cx="14480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基本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流程 </a:t>
            </a:r>
          </a:p>
        </p:txBody>
      </p:sp>
      <p:sp>
        <p:nvSpPr>
          <p:cNvPr id="367" name="橢圓 366"/>
          <p:cNvSpPr/>
          <p:nvPr/>
        </p:nvSpPr>
        <p:spPr>
          <a:xfrm>
            <a:off x="10704761" y="984308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8" name="矩形 367"/>
          <p:cNvSpPr/>
          <p:nvPr/>
        </p:nvSpPr>
        <p:spPr>
          <a:xfrm>
            <a:off x="10900203" y="929210"/>
            <a:ext cx="14480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使用腳本</a:t>
            </a:r>
          </a:p>
        </p:txBody>
      </p:sp>
      <p:sp>
        <p:nvSpPr>
          <p:cNvPr id="369" name="矩形 368"/>
          <p:cNvSpPr/>
          <p:nvPr/>
        </p:nvSpPr>
        <p:spPr>
          <a:xfrm>
            <a:off x="10900203" y="1457320"/>
            <a:ext cx="14480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</a:t>
            </a:r>
            <a:r>
              <a:rPr lang="en-US" altLang="zh-TW" sz="1000" b="1" dirty="0" err="1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IMES&amp;Summary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370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0656374" y="1434211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/>
          <p:cNvGrpSpPr/>
          <p:nvPr/>
        </p:nvGrpSpPr>
        <p:grpSpPr>
          <a:xfrm>
            <a:off x="10791807" y="2012121"/>
            <a:ext cx="1494780" cy="712028"/>
            <a:chOff x="10905019" y="2003412"/>
            <a:chExt cx="1494780" cy="712028"/>
          </a:xfrm>
        </p:grpSpPr>
        <p:grpSp>
          <p:nvGrpSpPr>
            <p:cNvPr id="124" name="群組 123"/>
            <p:cNvGrpSpPr/>
            <p:nvPr/>
          </p:nvGrpSpPr>
          <p:grpSpPr>
            <a:xfrm>
              <a:off x="10911100" y="2003412"/>
              <a:ext cx="1488699" cy="467620"/>
              <a:chOff x="9470107" y="392007"/>
              <a:chExt cx="1515910" cy="467620"/>
            </a:xfrm>
          </p:grpSpPr>
          <p:cxnSp>
            <p:nvCxnSpPr>
              <p:cNvPr id="125" name="直線單箭頭接點 124"/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文字方塊 125"/>
              <p:cNvSpPr txBox="1"/>
              <p:nvPr/>
            </p:nvSpPr>
            <p:spPr>
              <a:xfrm>
                <a:off x="9866107" y="392007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  <a:cs typeface="Calibri" panose="020F0502020204030204" pitchFamily="34" charset="0"/>
                  </a:rPr>
                  <a:t>流程防呆</a:t>
                </a:r>
                <a:endParaRPr lang="zh-TW" altLang="en-US" sz="1000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cxnSp>
            <p:nvCxnSpPr>
              <p:cNvPr id="127" name="直線單箭頭接點 126"/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文字方塊 127"/>
              <p:cNvSpPr txBox="1"/>
              <p:nvPr/>
            </p:nvSpPr>
            <p:spPr>
              <a:xfrm>
                <a:off x="9866107" y="613406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  <a:cs typeface="Calibri" panose="020F0502020204030204" pitchFamily="34" charset="0"/>
                  </a:rPr>
                  <a:t>軟體防呆</a:t>
                </a:r>
                <a:endParaRPr lang="zh-TW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373" name="直線單箭頭接點 372"/>
            <p:cNvCxnSpPr/>
            <p:nvPr/>
          </p:nvCxnSpPr>
          <p:spPr>
            <a:xfrm rot="5400000" flipV="1">
              <a:off x="11103019" y="2396981"/>
              <a:ext cx="0" cy="396000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文字方塊 373"/>
            <p:cNvSpPr txBox="1"/>
            <p:nvPr/>
          </p:nvSpPr>
          <p:spPr>
            <a:xfrm>
              <a:off x="11299992" y="2469219"/>
              <a:ext cx="8300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rgbClr val="7030A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工站測試</a:t>
              </a:r>
              <a:endParaRPr lang="zh-TW" altLang="en-US" sz="10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375" name="矩形 374"/>
          <p:cNvSpPr/>
          <p:nvPr/>
        </p:nvSpPr>
        <p:spPr>
          <a:xfrm>
            <a:off x="6774479" y="5533156"/>
            <a:ext cx="1260123" cy="474964"/>
          </a:xfrm>
          <a:prstGeom prst="rect">
            <a:avLst/>
          </a:prstGeom>
          <a:noFill/>
          <a:ln w="2222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6" name="矩形 375"/>
          <p:cNvSpPr/>
          <p:nvPr/>
        </p:nvSpPr>
        <p:spPr>
          <a:xfrm>
            <a:off x="9727360" y="1968593"/>
            <a:ext cx="836135" cy="397318"/>
          </a:xfrm>
          <a:prstGeom prst="rect">
            <a:avLst/>
          </a:prstGeom>
          <a:noFill/>
          <a:ln w="2222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77" name="直線單箭頭接點 376"/>
          <p:cNvCxnSpPr/>
          <p:nvPr/>
        </p:nvCxnSpPr>
        <p:spPr>
          <a:xfrm flipV="1">
            <a:off x="9721723" y="1263602"/>
            <a:ext cx="3737" cy="7200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文字方塊 377"/>
          <p:cNvSpPr txBox="1"/>
          <p:nvPr/>
        </p:nvSpPr>
        <p:spPr>
          <a:xfrm>
            <a:off x="9717415" y="1157806"/>
            <a:ext cx="94507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設備增加超限報警</a:t>
            </a:r>
            <a:endParaRPr lang="zh-TW" altLang="en-US" sz="9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9" name="向右箭號 378"/>
          <p:cNvSpPr/>
          <p:nvPr/>
        </p:nvSpPr>
        <p:spPr>
          <a:xfrm rot="16200000">
            <a:off x="1866723" y="3074941"/>
            <a:ext cx="249418" cy="8961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0" name="向右箭號 379"/>
          <p:cNvSpPr/>
          <p:nvPr/>
        </p:nvSpPr>
        <p:spPr>
          <a:xfrm rot="5400000">
            <a:off x="1859994" y="1789158"/>
            <a:ext cx="249418" cy="8961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2" name="文字方塊 381"/>
          <p:cNvSpPr txBox="1"/>
          <p:nvPr/>
        </p:nvSpPr>
        <p:spPr>
          <a:xfrm>
            <a:off x="2920194" y="4800425"/>
            <a:ext cx="84137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5" name="矩形 384"/>
          <p:cNvSpPr/>
          <p:nvPr/>
        </p:nvSpPr>
        <p:spPr>
          <a:xfrm>
            <a:off x="2644508" y="3919025"/>
            <a:ext cx="1260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第二天</a:t>
            </a:r>
            <a:r>
              <a:rPr lang="en-US" altLang="zh-TW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發送</a:t>
            </a:r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disposition summary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</a:t>
            </a:r>
            <a:endParaRPr lang="en-US" altLang="zh-TW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86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66" y="4480308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7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1852846" y="450340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9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9" name="矩形 388"/>
          <p:cNvSpPr/>
          <p:nvPr/>
        </p:nvSpPr>
        <p:spPr>
          <a:xfrm>
            <a:off x="1373328" y="4000718"/>
            <a:ext cx="1260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center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確認機台投入並回復郵件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0" name="文字方塊 389"/>
          <p:cNvSpPr txBox="1"/>
          <p:nvPr/>
        </p:nvSpPr>
        <p:spPr>
          <a:xfrm>
            <a:off x="1547456" y="4801736"/>
            <a:ext cx="84137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1" name="文字方塊 390"/>
          <p:cNvSpPr txBox="1"/>
          <p:nvPr/>
        </p:nvSpPr>
        <p:spPr>
          <a:xfrm>
            <a:off x="2337061" y="4305955"/>
            <a:ext cx="668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3" name="文字方塊 392"/>
          <p:cNvSpPr txBox="1"/>
          <p:nvPr/>
        </p:nvSpPr>
        <p:spPr>
          <a:xfrm>
            <a:off x="8888517" y="5186884"/>
            <a:ext cx="625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4129930" y="3983571"/>
            <a:ext cx="1260000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機台轉給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Cosmetic,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並同時發郵件通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知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5" name="文字方塊 394"/>
          <p:cNvSpPr txBox="1"/>
          <p:nvPr/>
        </p:nvSpPr>
        <p:spPr>
          <a:xfrm>
            <a:off x="4289663" y="4805923"/>
            <a:ext cx="83379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Aiden/Cody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96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181" y="4478416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7" name="文字方塊 396"/>
          <p:cNvSpPr txBox="1"/>
          <p:nvPr/>
        </p:nvSpPr>
        <p:spPr>
          <a:xfrm>
            <a:off x="7521102" y="5186038"/>
            <a:ext cx="625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8" name="文字方塊 397"/>
          <p:cNvSpPr txBox="1"/>
          <p:nvPr/>
        </p:nvSpPr>
        <p:spPr>
          <a:xfrm>
            <a:off x="6241294" y="6017746"/>
            <a:ext cx="625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9" name="向右箭號 398"/>
          <p:cNvSpPr/>
          <p:nvPr/>
        </p:nvSpPr>
        <p:spPr>
          <a:xfrm rot="10800000">
            <a:off x="5171331" y="4495648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0" name="向右箭號 399"/>
          <p:cNvSpPr/>
          <p:nvPr/>
        </p:nvSpPr>
        <p:spPr>
          <a:xfrm rot="10800000">
            <a:off x="3760543" y="4498913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1" name="向右箭號 400"/>
          <p:cNvSpPr/>
          <p:nvPr/>
        </p:nvSpPr>
        <p:spPr>
          <a:xfrm rot="10800000">
            <a:off x="2405272" y="4503267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3" name="向右箭號 402"/>
          <p:cNvSpPr/>
          <p:nvPr/>
        </p:nvSpPr>
        <p:spPr>
          <a:xfrm rot="10800000">
            <a:off x="9397166" y="4488027"/>
            <a:ext cx="419000" cy="96827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5135575" y="1563462"/>
            <a:ext cx="453477" cy="1796074"/>
            <a:chOff x="5135575" y="1563462"/>
            <a:chExt cx="453477" cy="1796074"/>
          </a:xfrm>
        </p:grpSpPr>
        <p:grpSp>
          <p:nvGrpSpPr>
            <p:cNvPr id="12" name="群組 11"/>
            <p:cNvGrpSpPr/>
            <p:nvPr/>
          </p:nvGrpSpPr>
          <p:grpSpPr>
            <a:xfrm>
              <a:off x="5159882" y="1563462"/>
              <a:ext cx="429170" cy="1796074"/>
              <a:chOff x="5159882" y="1563462"/>
              <a:chExt cx="429170" cy="1796074"/>
            </a:xfrm>
          </p:grpSpPr>
          <p:sp>
            <p:nvSpPr>
              <p:cNvPr id="151" name="向右箭號 150"/>
              <p:cNvSpPr/>
              <p:nvPr/>
            </p:nvSpPr>
            <p:spPr>
              <a:xfrm>
                <a:off x="5170052" y="2461975"/>
                <a:ext cx="419000" cy="96827"/>
              </a:xfrm>
              <a:prstGeom prst="rightArrow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194" name="向右箭號 193"/>
              <p:cNvSpPr/>
              <p:nvPr/>
            </p:nvSpPr>
            <p:spPr>
              <a:xfrm>
                <a:off x="5164403" y="1563462"/>
                <a:ext cx="419000" cy="96827"/>
              </a:xfrm>
              <a:prstGeom prst="rightArrow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195" name="向右箭號 194"/>
              <p:cNvSpPr/>
              <p:nvPr/>
            </p:nvSpPr>
            <p:spPr>
              <a:xfrm>
                <a:off x="5159882" y="3262709"/>
                <a:ext cx="419000" cy="96827"/>
              </a:xfrm>
              <a:prstGeom prst="rightArrow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04" name="向右箭號 403"/>
            <p:cNvSpPr/>
            <p:nvPr/>
          </p:nvSpPr>
          <p:spPr>
            <a:xfrm rot="5400000">
              <a:off x="4316358" y="2413976"/>
              <a:ext cx="1728000" cy="89566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407" name="文字方塊 406"/>
          <p:cNvSpPr txBox="1"/>
          <p:nvPr/>
        </p:nvSpPr>
        <p:spPr>
          <a:xfrm>
            <a:off x="8355786" y="2692924"/>
            <a:ext cx="8424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Operator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9" name="文字方塊 408"/>
          <p:cNvSpPr txBox="1"/>
          <p:nvPr/>
        </p:nvSpPr>
        <p:spPr>
          <a:xfrm>
            <a:off x="8347078" y="4800397"/>
            <a:ext cx="8424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Operator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6673844" y="5415807"/>
            <a:ext cx="1494796" cy="13768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8399303" y="1999073"/>
            <a:ext cx="836135" cy="397318"/>
          </a:xfrm>
          <a:prstGeom prst="rect">
            <a:avLst/>
          </a:prstGeom>
          <a:noFill/>
          <a:ln w="22225">
            <a:solidFill>
              <a:srgbClr val="2E75B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6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1119814" y="3931204"/>
            <a:ext cx="2736599" cy="125483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E438224C-F0A0-4BD2-902E-2D7F7F92C0FB}"/>
              </a:ext>
            </a:extLst>
          </p:cNvPr>
          <p:cNvSpPr txBox="1"/>
          <p:nvPr/>
        </p:nvSpPr>
        <p:spPr>
          <a:xfrm>
            <a:off x="193078" y="4453273"/>
            <a:ext cx="986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ea typeface="Microsoft YaHei" panose="020B0503020204020204" pitchFamily="34" charset="-122"/>
              </a:rPr>
              <a:t>New add in P1</a:t>
            </a:r>
            <a:endParaRPr lang="zh-TW" altLang="en-US" sz="1000" b="1" dirty="0">
              <a:solidFill>
                <a:srgbClr val="FF0000"/>
              </a:solidFill>
              <a:ea typeface="Microsoft YaHei" panose="020B0503020204020204" pitchFamily="34" charset="-122"/>
            </a:endParaRP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E438224C-F0A0-4BD2-902E-2D7F7F92C0FB}"/>
              </a:ext>
            </a:extLst>
          </p:cNvPr>
          <p:cNvSpPr txBox="1"/>
          <p:nvPr/>
        </p:nvSpPr>
        <p:spPr>
          <a:xfrm>
            <a:off x="10706848" y="1759342"/>
            <a:ext cx="1350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紅色字體：重要步驟</a:t>
            </a:r>
            <a:endParaRPr lang="zh-TW" altLang="en-US" sz="1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0B5A3B0B-887B-472D-A63F-821106A466D4}"/>
              </a:ext>
            </a:extLst>
          </p:cNvPr>
          <p:cNvSpPr txBox="1"/>
          <p:nvPr/>
        </p:nvSpPr>
        <p:spPr>
          <a:xfrm>
            <a:off x="5572043" y="6371630"/>
            <a:ext cx="1142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ea typeface="Microsoft YaHei" panose="020B0503020204020204" pitchFamily="34" charset="-122"/>
              </a:rPr>
              <a:t>New add in P1</a:t>
            </a:r>
            <a:endParaRPr lang="zh-TW" altLang="en-US" sz="1000" b="1" dirty="0">
              <a:solidFill>
                <a:srgbClr val="FF0000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57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15998" y="75958"/>
            <a:ext cx="70600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 line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 </a:t>
            </a:r>
            <a:r>
              <a:rPr kumimoji="1" lang="en-US" altLang="zh-CN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Co-Work</a:t>
            </a:r>
            <a:r>
              <a:rPr kumimoji="1" lang="en-US" altLang="zh-CN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kumimoji="1" lang="zh-CN" altLang="en-US" sz="28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63371" y="4307490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4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1224242" y="403516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723491" y="3627595"/>
            <a:ext cx="1187652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測試環境準備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6" name="向右箭號 5"/>
          <p:cNvSpPr/>
          <p:nvPr/>
        </p:nvSpPr>
        <p:spPr>
          <a:xfrm>
            <a:off x="1657791" y="4064189"/>
            <a:ext cx="976333" cy="13415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697519" y="4307490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8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2950679" y="402100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2318337" y="3290929"/>
            <a:ext cx="1532499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設備預算</a:t>
            </a:r>
            <a:r>
              <a:rPr lang="en-US" altLang="zh-CN" sz="1000" dirty="0">
                <a:latin typeface="Calibri" panose="020F0502020204030204" pitchFamily="34" charset="0"/>
              </a:rPr>
              <a:t>/</a:t>
            </a:r>
            <a:r>
              <a:rPr lang="zh-CN" altLang="en-US" sz="1000" dirty="0">
                <a:latin typeface="Calibri" panose="020F0502020204030204" pitchFamily="34" charset="0"/>
              </a:rPr>
              <a:t>請購</a:t>
            </a:r>
            <a:r>
              <a:rPr lang="en-US" altLang="zh-CN" sz="1000" dirty="0">
                <a:latin typeface="Calibri" panose="020F0502020204030204" pitchFamily="34" charset="0"/>
              </a:rPr>
              <a:t>/</a:t>
            </a:r>
            <a:r>
              <a:rPr lang="zh-CN" altLang="en-US" sz="1000" dirty="0">
                <a:latin typeface="Calibri" panose="020F0502020204030204" pitchFamily="34" charset="0"/>
              </a:rPr>
              <a:t>進口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>
                <a:latin typeface="Calibri" panose="020F0502020204030204" pitchFamily="34" charset="0"/>
              </a:rPr>
              <a:t>Common-DQE</a:t>
            </a:r>
          </a:p>
          <a:p>
            <a:r>
              <a:rPr lang="en-US" altLang="zh-CN" sz="1000" dirty="0">
                <a:latin typeface="Calibri" panose="020F0502020204030204" pitchFamily="34" charset="0"/>
              </a:rPr>
              <a:t>Reimburse/Consign-HWTE&amp;RF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1" name="向右箭號 10"/>
          <p:cNvSpPr/>
          <p:nvPr/>
        </p:nvSpPr>
        <p:spPr>
          <a:xfrm>
            <a:off x="3457264" y="4059506"/>
            <a:ext cx="976333" cy="13415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441520" y="4299177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3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4702391" y="402685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4137124" y="3538491"/>
            <a:ext cx="131668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工站架設</a:t>
            </a:r>
          </a:p>
          <a:p>
            <a:r>
              <a:rPr lang="en-US" altLang="zh-CN" sz="1000" dirty="0" err="1">
                <a:latin typeface="Calibri" panose="020F0502020204030204" pitchFamily="34" charset="0"/>
              </a:rPr>
              <a:t>Miniline</a:t>
            </a:r>
            <a:r>
              <a:rPr lang="en-US" altLang="zh-CN" sz="1000" dirty="0">
                <a:latin typeface="Calibri" panose="020F0502020204030204" pitchFamily="34" charset="0"/>
              </a:rPr>
              <a:t> + </a:t>
            </a:r>
            <a:r>
              <a:rPr lang="en-US" altLang="zh-CN" sz="1000" dirty="0" err="1">
                <a:latin typeface="Calibri" panose="020F0502020204030204" pitchFamily="34" charset="0"/>
              </a:rPr>
              <a:t>xFN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5" name="向右箭號 14"/>
          <p:cNvSpPr/>
          <p:nvPr/>
        </p:nvSpPr>
        <p:spPr>
          <a:xfrm>
            <a:off x="5183454" y="4052197"/>
            <a:ext cx="976333" cy="13415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157750" y="4299177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8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6421250" y="402685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5819904" y="3396443"/>
            <a:ext cx="1316685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工站</a:t>
            </a:r>
            <a:r>
              <a:rPr lang="en-US" altLang="zh-CN" sz="1000" dirty="0" err="1">
                <a:latin typeface="Calibri" panose="020F0502020204030204" pitchFamily="34" charset="0"/>
              </a:rPr>
              <a:t>Calibration&amp;GRR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 err="1">
                <a:latin typeface="Calibri" panose="020F0502020204030204" pitchFamily="34" charset="0"/>
              </a:rPr>
              <a:t>Miniline</a:t>
            </a:r>
            <a:r>
              <a:rPr lang="en-US" altLang="zh-CN" sz="1000" dirty="0">
                <a:latin typeface="Calibri" panose="020F0502020204030204" pitchFamily="34" charset="0"/>
              </a:rPr>
              <a:t> + </a:t>
            </a:r>
            <a:r>
              <a:rPr lang="en-US" altLang="zh-CN" sz="1000" dirty="0" err="1">
                <a:latin typeface="Calibri" panose="020F0502020204030204" pitchFamily="34" charset="0"/>
              </a:rPr>
              <a:t>xFN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0" name="向右箭號 19"/>
          <p:cNvSpPr/>
          <p:nvPr/>
        </p:nvSpPr>
        <p:spPr>
          <a:xfrm>
            <a:off x="6888859" y="4065509"/>
            <a:ext cx="976333" cy="13415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866148" y="4302643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3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7534101" y="3547288"/>
            <a:ext cx="131668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工站日常</a:t>
            </a:r>
            <a:r>
              <a:rPr lang="en-US" altLang="zh-CN" sz="1000" dirty="0">
                <a:latin typeface="Calibri" panose="020F0502020204030204" pitchFamily="34" charset="0"/>
              </a:rPr>
              <a:t>Audit</a:t>
            </a:r>
          </a:p>
          <a:p>
            <a:r>
              <a:rPr lang="en-US" altLang="zh-TW" sz="1000" dirty="0" err="1">
                <a:latin typeface="Calibri" panose="020F0502020204030204" pitchFamily="34" charset="0"/>
              </a:rPr>
              <a:t>Miniline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8105623" y="4024207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4" name="向右箭號 63"/>
          <p:cNvSpPr/>
          <p:nvPr/>
        </p:nvSpPr>
        <p:spPr>
          <a:xfrm>
            <a:off x="8560569" y="4052197"/>
            <a:ext cx="976333" cy="13415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5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536902" y="4299177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66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9225769" y="3538491"/>
            <a:ext cx="131668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工站日常維護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 err="1">
                <a:latin typeface="Calibri" panose="020F0502020204030204" pitchFamily="34" charset="0"/>
              </a:rPr>
              <a:t>Miniline+xFN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68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9791035" y="402065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18" name="群組 117"/>
          <p:cNvGrpSpPr/>
          <p:nvPr/>
        </p:nvGrpSpPr>
        <p:grpSpPr>
          <a:xfrm>
            <a:off x="10656374" y="702459"/>
            <a:ext cx="1706622" cy="1108041"/>
            <a:chOff x="10656374" y="702459"/>
            <a:chExt cx="1706622" cy="1108041"/>
          </a:xfrm>
        </p:grpSpPr>
        <p:sp>
          <p:nvSpPr>
            <p:cNvPr id="122" name="矩形 121"/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123" name="Picture 1" descr="C:\Users\28243\AppData\Local\SuperNotes\a.nina.yh.huang@mail.foxconn.com\mid\B3FCFAA1-3FB0-4647-906A-2B0D9963BB36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橢圓 123"/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26" name="橢圓 125"/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28" name="矩形 127"/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29" name="Picture 2" descr="C:\Users\28243\AppData\Local\SuperNotes\a.nina.yh.huang@mail.foxconn.com\mid\873A1660-8BE1-4A64-B5AD-E45092EAA33A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2" name="物件 21"/>
          <p:cNvGraphicFramePr>
            <a:graphicFrameLocks noChangeAspect="1"/>
          </p:cNvGraphicFramePr>
          <p:nvPr/>
        </p:nvGraphicFramePr>
        <p:xfrm>
          <a:off x="2634124" y="260618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Worksheet" showAsIcon="1" r:id="rId5" imgW="914400" imgH="771480" progId="Excel.Sheet.12">
                  <p:embed/>
                </p:oleObj>
              </mc:Choice>
              <mc:Fallback>
                <p:oleObj name="Worksheet" showAsIcon="1" r:id="rId5" imgW="914400" imgH="771480" progId="Excel.Sheet.12">
                  <p:embed/>
                  <p:pic>
                    <p:nvPicPr>
                      <p:cNvPr id="22" name="物件 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4124" y="260618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10491" y="752093"/>
            <a:ext cx="588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15000"/>
              <a:buFont typeface="微軟正黑體" panose="020B0604030504040204" pitchFamily="34" charset="-120"/>
              <a:buChar char="›"/>
            </a:pPr>
            <a:r>
              <a:rPr lang="en-US" altLang="zh-CN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Mini line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CN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xFN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對於工站相關工作的合作方式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957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/>
          <p:cNvGrpSpPr/>
          <p:nvPr/>
        </p:nvGrpSpPr>
        <p:grpSpPr>
          <a:xfrm>
            <a:off x="8887677" y="708686"/>
            <a:ext cx="1807794" cy="573229"/>
            <a:chOff x="8887677" y="767409"/>
            <a:chExt cx="1807794" cy="573229"/>
          </a:xfrm>
        </p:grpSpPr>
        <p:sp>
          <p:nvSpPr>
            <p:cNvPr id="31" name="文字方塊 30"/>
            <p:cNvSpPr txBox="1"/>
            <p:nvPr/>
          </p:nvSpPr>
          <p:spPr>
            <a:xfrm>
              <a:off x="9575561" y="830911"/>
              <a:ext cx="11199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物理防呆</a:t>
              </a:r>
              <a:endParaRPr lang="zh-TW" altLang="en-US" sz="1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33" name="直線單箭頭接點 32"/>
            <p:cNvCxnSpPr/>
            <p:nvPr/>
          </p:nvCxnSpPr>
          <p:spPr>
            <a:xfrm rot="5400000" flipV="1">
              <a:off x="9377561" y="740213"/>
              <a:ext cx="0" cy="3960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8887677" y="767409"/>
              <a:ext cx="1595518" cy="57322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36" name="直線單箭頭接點 35"/>
            <p:cNvCxnSpPr/>
            <p:nvPr/>
          </p:nvCxnSpPr>
          <p:spPr>
            <a:xfrm rot="5400000" flipV="1">
              <a:off x="9377561" y="966174"/>
              <a:ext cx="0" cy="396000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9575561" y="1048079"/>
              <a:ext cx="8300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工站測試</a:t>
              </a:r>
              <a:endParaRPr lang="zh-TW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" name="群組 3"/>
          <p:cNvGrpSpPr/>
          <p:nvPr/>
        </p:nvGrpSpPr>
        <p:grpSpPr>
          <a:xfrm>
            <a:off x="10656374" y="626958"/>
            <a:ext cx="1706622" cy="1108041"/>
            <a:chOff x="10656374" y="702459"/>
            <a:chExt cx="1706622" cy="1108041"/>
          </a:xfrm>
        </p:grpSpPr>
        <p:sp>
          <p:nvSpPr>
            <p:cNvPr id="26" name="矩形 25"/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27" name="Picture 1" descr="C:\Users\28243\AppData\Local\SuperNotes\a.nina.yh.huang@mail.foxconn.com\mid\B3FCFAA1-3FB0-4647-906A-2B0D9963BB36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橢圓 27"/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38" name="橢圓 37"/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41" name="Picture 2" descr="C:\Users\28243\AppData\Local\SuperNotes\a.nina.yh.huang@mail.foxconn.com\mid\873A1660-8BE1-4A64-B5AD-E45092EAA33A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15998" y="75958"/>
            <a:ext cx="8139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 line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 </a:t>
            </a:r>
            <a:r>
              <a:rPr kumimoji="1" lang="en-US" altLang="zh-CN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Station Testing</a:t>
            </a:r>
            <a:r>
              <a:rPr kumimoji="1" lang="en-US" altLang="zh-CN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kumimoji="1" lang="zh-CN" altLang="en-US" sz="28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8" name="文字方塊 165">
            <a:extLst>
              <a:ext uri="{FF2B5EF4-FFF2-40B4-BE49-F238E27FC236}">
                <a16:creationId xmlns:a16="http://schemas.microsoft.com/office/drawing/2014/main" id="{C97D59F6-CA30-41BA-9365-B7E52F7373EA}"/>
              </a:ext>
            </a:extLst>
          </p:cNvPr>
          <p:cNvSpPr txBox="1"/>
          <p:nvPr/>
        </p:nvSpPr>
        <p:spPr>
          <a:xfrm>
            <a:off x="398870" y="2640190"/>
            <a:ext cx="67037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Cosmetic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49" name="橢圓 149">
            <a:extLst>
              <a:ext uri="{FF2B5EF4-FFF2-40B4-BE49-F238E27FC236}">
                <a16:creationId xmlns:a16="http://schemas.microsoft.com/office/drawing/2014/main" id="{9193EEC8-41A5-4FAF-B34A-9843A854C523}"/>
              </a:ext>
            </a:extLst>
          </p:cNvPr>
          <p:cNvSpPr/>
          <p:nvPr/>
        </p:nvSpPr>
        <p:spPr>
          <a:xfrm>
            <a:off x="609339" y="238227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E53A161E-02B7-4900-97B8-EA1D802DFACE}"/>
              </a:ext>
            </a:extLst>
          </p:cNvPr>
          <p:cNvSpPr txBox="1"/>
          <p:nvPr/>
        </p:nvSpPr>
        <p:spPr>
          <a:xfrm>
            <a:off x="262263" y="1805874"/>
            <a:ext cx="1344225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altLang="zh-CN" sz="1000" dirty="0">
                <a:latin typeface="Calibri" panose="020F0502020204030204" pitchFamily="34" charset="0"/>
              </a:rPr>
              <a:t>Cosmetic</a:t>
            </a:r>
            <a:r>
              <a:rPr lang="zh-TW" altLang="en-US" sz="1000" dirty="0">
                <a:latin typeface="Calibri" panose="020F0502020204030204" pitchFamily="34" charset="0"/>
              </a:rPr>
              <a:t>將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機台與</a:t>
            </a:r>
            <a:r>
              <a:rPr lang="en-US" altLang="zh-TW" sz="1000" dirty="0">
                <a:solidFill>
                  <a:schemeClr val="tx1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放置在</a:t>
            </a:r>
            <a:r>
              <a:rPr lang="en-US" altLang="zh-CN" sz="1000" dirty="0">
                <a:latin typeface="Calibri" panose="020F0502020204030204" pitchFamily="34" charset="0"/>
              </a:rPr>
              <a:t>&lt;</a:t>
            </a:r>
            <a:r>
              <a:rPr lang="zh-CN" altLang="en-US" sz="1000" dirty="0">
                <a:latin typeface="Calibri" panose="020F0502020204030204" pitchFamily="34" charset="0"/>
              </a:rPr>
              <a:t>待掃進</a:t>
            </a:r>
            <a:r>
              <a:rPr lang="en-US" altLang="zh-CN" sz="1000" dirty="0">
                <a:latin typeface="Calibri" panose="020F0502020204030204" pitchFamily="34" charset="0"/>
              </a:rPr>
              <a:t>&gt;</a:t>
            </a:r>
            <a:r>
              <a:rPr lang="zh-CN" altLang="en-US" sz="1000" dirty="0">
                <a:latin typeface="Calibri" panose="020F0502020204030204" pitchFamily="34" charset="0"/>
              </a:rPr>
              <a:t>貨架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52" name="向右箭號 139">
            <a:extLst>
              <a:ext uri="{FF2B5EF4-FFF2-40B4-BE49-F238E27FC236}">
                <a16:creationId xmlns:a16="http://schemas.microsoft.com/office/drawing/2014/main" id="{473F8E74-725C-4E9C-BE59-A85545DDEDAC}"/>
              </a:ext>
            </a:extLst>
          </p:cNvPr>
          <p:cNvSpPr/>
          <p:nvPr/>
        </p:nvSpPr>
        <p:spPr>
          <a:xfrm>
            <a:off x="1220819" y="2382278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538B642D-8663-4343-8296-890FD773B94D}"/>
              </a:ext>
            </a:extLst>
          </p:cNvPr>
          <p:cNvSpPr txBox="1"/>
          <p:nvPr/>
        </p:nvSpPr>
        <p:spPr>
          <a:xfrm>
            <a:off x="1381235" y="1819947"/>
            <a:ext cx="1063882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 err="1">
                <a:latin typeface="Calibri" panose="020F0502020204030204" pitchFamily="34" charset="0"/>
              </a:rPr>
              <a:t>iMES</a:t>
            </a:r>
            <a:r>
              <a:rPr lang="en-US" altLang="zh-CN" sz="1000" dirty="0">
                <a:latin typeface="Calibri" panose="020F0502020204030204" pitchFamily="34" charset="0"/>
              </a:rPr>
              <a:t> &amp; Summary</a:t>
            </a:r>
          </a:p>
          <a:p>
            <a:r>
              <a:rPr lang="en-US" altLang="zh-CN" sz="1000" dirty="0">
                <a:latin typeface="Calibri" panose="020F0502020204030204" pitchFamily="34" charset="0"/>
              </a:rPr>
              <a:t>IN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202959DA-8617-4BC9-9DEE-49096448765B}"/>
              </a:ext>
            </a:extLst>
          </p:cNvPr>
          <p:cNvSpPr txBox="1"/>
          <p:nvPr/>
        </p:nvSpPr>
        <p:spPr>
          <a:xfrm>
            <a:off x="1630999" y="2654663"/>
            <a:ext cx="543464" cy="246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pic>
        <p:nvPicPr>
          <p:cNvPr id="162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7B309B18-206E-4EF3-AAB0-B41578DF0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737401" y="2276563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BC0C6482-F944-482E-A301-1503CE90F519}"/>
              </a:ext>
            </a:extLst>
          </p:cNvPr>
          <p:cNvSpPr txBox="1"/>
          <p:nvPr/>
        </p:nvSpPr>
        <p:spPr>
          <a:xfrm>
            <a:off x="2535195" y="2671119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CD7C0A24-BBA4-4421-AC9B-E1A795479E8D}"/>
              </a:ext>
            </a:extLst>
          </p:cNvPr>
          <p:cNvSpPr/>
          <p:nvPr/>
        </p:nvSpPr>
        <p:spPr>
          <a:xfrm>
            <a:off x="2737918" y="237394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C764C0CE-8515-49B5-93FC-78A2D2D674CA}"/>
              </a:ext>
            </a:extLst>
          </p:cNvPr>
          <p:cNvSpPr/>
          <p:nvPr/>
        </p:nvSpPr>
        <p:spPr>
          <a:xfrm>
            <a:off x="3711021" y="2391769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DBE24B46-EBDA-4305-843A-D567B92C9937}"/>
              </a:ext>
            </a:extLst>
          </p:cNvPr>
          <p:cNvSpPr txBox="1"/>
          <p:nvPr/>
        </p:nvSpPr>
        <p:spPr>
          <a:xfrm>
            <a:off x="4161252" y="1974203"/>
            <a:ext cx="1160175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Charging</a:t>
            </a:r>
          </a:p>
        </p:txBody>
      </p:sp>
      <p:sp>
        <p:nvSpPr>
          <p:cNvPr id="172" name="橢圓 171">
            <a:extLst>
              <a:ext uri="{FF2B5EF4-FFF2-40B4-BE49-F238E27FC236}">
                <a16:creationId xmlns:a16="http://schemas.microsoft.com/office/drawing/2014/main" id="{9B76E753-36E5-403B-8C10-BE02E77BECDF}"/>
              </a:ext>
            </a:extLst>
          </p:cNvPr>
          <p:cNvSpPr/>
          <p:nvPr/>
        </p:nvSpPr>
        <p:spPr>
          <a:xfrm>
            <a:off x="4660082" y="238227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BB8F9E3D-58F8-4B04-A280-6700CB0F3597}"/>
              </a:ext>
            </a:extLst>
          </p:cNvPr>
          <p:cNvGrpSpPr/>
          <p:nvPr/>
        </p:nvGrpSpPr>
        <p:grpSpPr>
          <a:xfrm>
            <a:off x="5260117" y="816580"/>
            <a:ext cx="1887285" cy="1487804"/>
            <a:chOff x="7312952" y="1586156"/>
            <a:chExt cx="1887285" cy="1487804"/>
          </a:xfrm>
        </p:grpSpPr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8833EBB6-451E-4BF3-B316-D43ACC58C391}"/>
                </a:ext>
              </a:extLst>
            </p:cNvPr>
            <p:cNvSpPr txBox="1"/>
            <p:nvPr/>
          </p:nvSpPr>
          <p:spPr>
            <a:xfrm>
              <a:off x="7312952" y="2755785"/>
              <a:ext cx="1160175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OTA Function</a:t>
              </a: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21D2EB64-E039-4A09-A7E7-743F82F51561}"/>
                </a:ext>
              </a:extLst>
            </p:cNvPr>
            <p:cNvSpPr/>
            <p:nvPr/>
          </p:nvSpPr>
          <p:spPr>
            <a:xfrm>
              <a:off x="7372920" y="2710946"/>
              <a:ext cx="1074170" cy="363014"/>
            </a:xfrm>
            <a:prstGeom prst="rect">
              <a:avLst/>
            </a:prstGeom>
            <a:noFill/>
            <a:ln w="22225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181" name="直線單箭頭接點 180">
              <a:extLst>
                <a:ext uri="{FF2B5EF4-FFF2-40B4-BE49-F238E27FC236}">
                  <a16:creationId xmlns:a16="http://schemas.microsoft.com/office/drawing/2014/main" id="{7564B71C-6A93-4805-8E9F-3A6FA1775BBA}"/>
                </a:ext>
              </a:extLst>
            </p:cNvPr>
            <p:cNvCxnSpPr/>
            <p:nvPr/>
          </p:nvCxnSpPr>
          <p:spPr>
            <a:xfrm flipV="1">
              <a:off x="7356708" y="1796545"/>
              <a:ext cx="5145" cy="916983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0138D5C2-C4B8-45D8-918D-623A7FFC5FD5}"/>
                </a:ext>
              </a:extLst>
            </p:cNvPr>
            <p:cNvSpPr/>
            <p:nvPr/>
          </p:nvSpPr>
          <p:spPr>
            <a:xfrm>
              <a:off x="7356708" y="1586156"/>
              <a:ext cx="1843529" cy="108147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Stations</a:t>
              </a:r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：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RF Prep-IN</a:t>
              </a:r>
              <a:endPara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OTA-DL-REL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OTA-Combo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Rel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WIFI-BT-OTA-REL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OTA-UL-REL</a:t>
              </a:r>
            </a:p>
          </p:txBody>
        </p:sp>
      </p:grpSp>
      <p:sp>
        <p:nvSpPr>
          <p:cNvPr id="191" name="橢圓 190">
            <a:extLst>
              <a:ext uri="{FF2B5EF4-FFF2-40B4-BE49-F238E27FC236}">
                <a16:creationId xmlns:a16="http://schemas.microsoft.com/office/drawing/2014/main" id="{4B08F849-2F3E-4594-8E5A-C00358067603}"/>
              </a:ext>
            </a:extLst>
          </p:cNvPr>
          <p:cNvSpPr/>
          <p:nvPr/>
        </p:nvSpPr>
        <p:spPr>
          <a:xfrm>
            <a:off x="5784709" y="239987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93" name="群組 192">
            <a:extLst>
              <a:ext uri="{FF2B5EF4-FFF2-40B4-BE49-F238E27FC236}">
                <a16:creationId xmlns:a16="http://schemas.microsoft.com/office/drawing/2014/main" id="{7B4D049E-C45C-4AD3-B571-9C8C28D7396B}"/>
              </a:ext>
            </a:extLst>
          </p:cNvPr>
          <p:cNvGrpSpPr/>
          <p:nvPr/>
        </p:nvGrpSpPr>
        <p:grpSpPr>
          <a:xfrm>
            <a:off x="7626389" y="1266766"/>
            <a:ext cx="1715254" cy="1012248"/>
            <a:chOff x="5055023" y="1459720"/>
            <a:chExt cx="1715254" cy="1012248"/>
          </a:xfrm>
        </p:grpSpPr>
        <p:sp>
          <p:nvSpPr>
            <p:cNvPr id="194" name="文字方塊 193">
              <a:extLst>
                <a:ext uri="{FF2B5EF4-FFF2-40B4-BE49-F238E27FC236}">
                  <a16:creationId xmlns:a16="http://schemas.microsoft.com/office/drawing/2014/main" id="{8FA751D0-4380-4786-95D4-C463F90ED751}"/>
                </a:ext>
              </a:extLst>
            </p:cNvPr>
            <p:cNvSpPr txBox="1"/>
            <p:nvPr/>
          </p:nvSpPr>
          <p:spPr>
            <a:xfrm>
              <a:off x="5055023" y="2138178"/>
              <a:ext cx="1160175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QT Function</a:t>
              </a:r>
            </a:p>
          </p:txBody>
        </p:sp>
        <p:grpSp>
          <p:nvGrpSpPr>
            <p:cNvPr id="195" name="群組 194">
              <a:extLst>
                <a:ext uri="{FF2B5EF4-FFF2-40B4-BE49-F238E27FC236}">
                  <a16:creationId xmlns:a16="http://schemas.microsoft.com/office/drawing/2014/main" id="{5D2CFFE0-90F2-4DBB-B287-9A69586E074F}"/>
                </a:ext>
              </a:extLst>
            </p:cNvPr>
            <p:cNvGrpSpPr/>
            <p:nvPr/>
          </p:nvGrpSpPr>
          <p:grpSpPr>
            <a:xfrm>
              <a:off x="5082527" y="1459720"/>
              <a:ext cx="1687750" cy="1012248"/>
              <a:chOff x="10149050" y="2084871"/>
              <a:chExt cx="1687750" cy="1012248"/>
            </a:xfrm>
          </p:grpSpPr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E0CC0934-5BB0-4507-97FB-14CECD4231BF}"/>
                  </a:ext>
                </a:extLst>
              </p:cNvPr>
              <p:cNvSpPr/>
              <p:nvPr/>
            </p:nvSpPr>
            <p:spPr>
              <a:xfrm>
                <a:off x="10177174" y="2713518"/>
                <a:ext cx="1141869" cy="383601"/>
              </a:xfrm>
              <a:prstGeom prst="rect">
                <a:avLst/>
              </a:prstGeom>
              <a:noFill/>
              <a:ln w="22225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99" name="直線單箭頭接點 198">
                <a:extLst>
                  <a:ext uri="{FF2B5EF4-FFF2-40B4-BE49-F238E27FC236}">
                    <a16:creationId xmlns:a16="http://schemas.microsoft.com/office/drawing/2014/main" id="{60280130-8C82-465E-B8A0-EBE4332563D6}"/>
                  </a:ext>
                </a:extLst>
              </p:cNvPr>
              <p:cNvCxnSpPr/>
              <p:nvPr/>
            </p:nvCxnSpPr>
            <p:spPr>
              <a:xfrm flipH="1" flipV="1">
                <a:off x="10168707" y="2084871"/>
                <a:ext cx="3364" cy="629390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4BBC7B22-2B83-4799-BFD7-9BD6674CDF59}"/>
                  </a:ext>
                </a:extLst>
              </p:cNvPr>
              <p:cNvSpPr/>
              <p:nvPr/>
            </p:nvSpPr>
            <p:spPr>
              <a:xfrm>
                <a:off x="10149050" y="2095817"/>
                <a:ext cx="1687750" cy="57322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b="1" dirty="0">
                    <a:solidFill>
                      <a:srgbClr val="7030A0"/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Stations</a:t>
                </a:r>
                <a:r>
                  <a:rPr lang="zh-CN" altLang="en-US" sz="1000" b="1" dirty="0">
                    <a:solidFill>
                      <a:srgbClr val="7030A0"/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：</a:t>
                </a:r>
                <a:endPara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 marL="228600" indent="-2286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zh-CN" sz="1000" b="1" dirty="0">
                    <a:solidFill>
                      <a:srgbClr val="7030A0"/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System Test</a:t>
                </a:r>
              </a:p>
              <a:p>
                <a:pPr marL="228600" indent="-2286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zh-CN" sz="1000" b="1" dirty="0">
                    <a:solidFill>
                      <a:srgbClr val="7030A0"/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System Test Fixtureless</a:t>
                </a:r>
                <a:endParaRPr lang="en-US" altLang="zh-CN" sz="1000" b="1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BD3250CA-C170-42B8-85F0-A590CD0F88EB}"/>
              </a:ext>
            </a:extLst>
          </p:cNvPr>
          <p:cNvSpPr txBox="1"/>
          <p:nvPr/>
        </p:nvSpPr>
        <p:spPr>
          <a:xfrm>
            <a:off x="4477458" y="2664294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3" name="橢圓 149">
            <a:extLst>
              <a:ext uri="{FF2B5EF4-FFF2-40B4-BE49-F238E27FC236}">
                <a16:creationId xmlns:a16="http://schemas.microsoft.com/office/drawing/2014/main" id="{8D8A905D-B993-48A5-A23C-1E6E0F1F2030}"/>
              </a:ext>
            </a:extLst>
          </p:cNvPr>
          <p:cNvSpPr/>
          <p:nvPr/>
        </p:nvSpPr>
        <p:spPr>
          <a:xfrm>
            <a:off x="6989838" y="239849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4" name="文字方塊 121">
            <a:extLst>
              <a:ext uri="{FF2B5EF4-FFF2-40B4-BE49-F238E27FC236}">
                <a16:creationId xmlns:a16="http://schemas.microsoft.com/office/drawing/2014/main" id="{7AEFBDCF-8CE4-4E31-8972-56741BB68AF7}"/>
              </a:ext>
            </a:extLst>
          </p:cNvPr>
          <p:cNvSpPr txBox="1"/>
          <p:nvPr/>
        </p:nvSpPr>
        <p:spPr>
          <a:xfrm>
            <a:off x="6490567" y="2102920"/>
            <a:ext cx="1187652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SWDL</a:t>
            </a:r>
            <a:endParaRPr lang="en-US" altLang="zh-TW" sz="10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AB980F8C-4CEA-4CEC-B5C0-C382C776400C}"/>
              </a:ext>
            </a:extLst>
          </p:cNvPr>
          <p:cNvSpPr txBox="1"/>
          <p:nvPr/>
        </p:nvSpPr>
        <p:spPr>
          <a:xfrm>
            <a:off x="2254217" y="2004477"/>
            <a:ext cx="1160175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SWDL-RF</a:t>
            </a: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EA21BD0C-169D-42A1-99D2-F92CFC6D9204}"/>
              </a:ext>
            </a:extLst>
          </p:cNvPr>
          <p:cNvSpPr/>
          <p:nvPr/>
        </p:nvSpPr>
        <p:spPr>
          <a:xfrm>
            <a:off x="3456728" y="1968927"/>
            <a:ext cx="7360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Laser Scan</a:t>
            </a:r>
            <a:endParaRPr lang="en-US" altLang="zh-TW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REL</a:t>
            </a:r>
            <a:r>
              <a:rPr lang="en-US" altLang="zh-TW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endParaRPr lang="zh-TW" altLang="en-US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4F739159-931A-4C14-B882-D2F532572FC1}"/>
              </a:ext>
            </a:extLst>
          </p:cNvPr>
          <p:cNvSpPr txBox="1"/>
          <p:nvPr/>
        </p:nvSpPr>
        <p:spPr>
          <a:xfrm>
            <a:off x="3517379" y="2671367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8" name="文字方塊 227">
            <a:extLst>
              <a:ext uri="{FF2B5EF4-FFF2-40B4-BE49-F238E27FC236}">
                <a16:creationId xmlns:a16="http://schemas.microsoft.com/office/drawing/2014/main" id="{6026FEB2-BB11-4C15-8865-5C1F42E4FBE3}"/>
              </a:ext>
            </a:extLst>
          </p:cNvPr>
          <p:cNvSpPr txBox="1"/>
          <p:nvPr/>
        </p:nvSpPr>
        <p:spPr>
          <a:xfrm>
            <a:off x="5565712" y="2664294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542111E4-4D7A-4163-AAF1-43B697AB7F8A}"/>
              </a:ext>
            </a:extLst>
          </p:cNvPr>
          <p:cNvSpPr txBox="1"/>
          <p:nvPr/>
        </p:nvSpPr>
        <p:spPr>
          <a:xfrm>
            <a:off x="6800494" y="2671119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30" name="文字方塊 229">
            <a:extLst>
              <a:ext uri="{FF2B5EF4-FFF2-40B4-BE49-F238E27FC236}">
                <a16:creationId xmlns:a16="http://schemas.microsoft.com/office/drawing/2014/main" id="{074E5ACA-A67C-447D-B3B3-83710E25DA16}"/>
              </a:ext>
            </a:extLst>
          </p:cNvPr>
          <p:cNvSpPr txBox="1"/>
          <p:nvPr/>
        </p:nvSpPr>
        <p:spPr>
          <a:xfrm>
            <a:off x="7940158" y="2644845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dirty="0">
                <a:latin typeface="Calibri" panose="020F0502020204030204" pitchFamily="34" charset="0"/>
              </a:rPr>
              <a:t>Jackson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231" name="向右箭號 139">
            <a:extLst>
              <a:ext uri="{FF2B5EF4-FFF2-40B4-BE49-F238E27FC236}">
                <a16:creationId xmlns:a16="http://schemas.microsoft.com/office/drawing/2014/main" id="{AD515B10-61A1-4CAF-82CC-B85ED8E28CA2}"/>
              </a:ext>
            </a:extLst>
          </p:cNvPr>
          <p:cNvSpPr/>
          <p:nvPr/>
        </p:nvSpPr>
        <p:spPr>
          <a:xfrm>
            <a:off x="2176369" y="2393663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2" name="向右箭號 139">
            <a:extLst>
              <a:ext uri="{FF2B5EF4-FFF2-40B4-BE49-F238E27FC236}">
                <a16:creationId xmlns:a16="http://schemas.microsoft.com/office/drawing/2014/main" id="{4302E30D-3916-4D27-8922-B5A6641ECD74}"/>
              </a:ext>
            </a:extLst>
          </p:cNvPr>
          <p:cNvSpPr/>
          <p:nvPr/>
        </p:nvSpPr>
        <p:spPr>
          <a:xfrm>
            <a:off x="3127589" y="2382278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3" name="向右箭號 139">
            <a:extLst>
              <a:ext uri="{FF2B5EF4-FFF2-40B4-BE49-F238E27FC236}">
                <a16:creationId xmlns:a16="http://schemas.microsoft.com/office/drawing/2014/main" id="{AA4021A7-64C3-4DB0-8B41-E5BA8032FC13}"/>
              </a:ext>
            </a:extLst>
          </p:cNvPr>
          <p:cNvSpPr/>
          <p:nvPr/>
        </p:nvSpPr>
        <p:spPr>
          <a:xfrm>
            <a:off x="4148487" y="2391769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4" name="向右箭號 139">
            <a:extLst>
              <a:ext uri="{FF2B5EF4-FFF2-40B4-BE49-F238E27FC236}">
                <a16:creationId xmlns:a16="http://schemas.microsoft.com/office/drawing/2014/main" id="{2AED4130-F03A-472A-8D71-1DDEE617F801}"/>
              </a:ext>
            </a:extLst>
          </p:cNvPr>
          <p:cNvSpPr/>
          <p:nvPr/>
        </p:nvSpPr>
        <p:spPr>
          <a:xfrm>
            <a:off x="5070216" y="2388829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5" name="向右箭號 139">
            <a:extLst>
              <a:ext uri="{FF2B5EF4-FFF2-40B4-BE49-F238E27FC236}">
                <a16:creationId xmlns:a16="http://schemas.microsoft.com/office/drawing/2014/main" id="{A2EEB997-DB41-444B-9DB1-06C05A0B383F}"/>
              </a:ext>
            </a:extLst>
          </p:cNvPr>
          <p:cNvSpPr/>
          <p:nvPr/>
        </p:nvSpPr>
        <p:spPr>
          <a:xfrm>
            <a:off x="6395057" y="2396880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6" name="向右箭號 139">
            <a:extLst>
              <a:ext uri="{FF2B5EF4-FFF2-40B4-BE49-F238E27FC236}">
                <a16:creationId xmlns:a16="http://schemas.microsoft.com/office/drawing/2014/main" id="{29F537F3-01C3-49A2-8E75-34D6701F673D}"/>
              </a:ext>
            </a:extLst>
          </p:cNvPr>
          <p:cNvSpPr/>
          <p:nvPr/>
        </p:nvSpPr>
        <p:spPr>
          <a:xfrm>
            <a:off x="7458921" y="2413233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7" name="向右箭號 166">
            <a:extLst>
              <a:ext uri="{FF2B5EF4-FFF2-40B4-BE49-F238E27FC236}">
                <a16:creationId xmlns:a16="http://schemas.microsoft.com/office/drawing/2014/main" id="{12A01BCE-44AB-452C-9AE2-5F61E106E888}"/>
              </a:ext>
            </a:extLst>
          </p:cNvPr>
          <p:cNvSpPr/>
          <p:nvPr/>
        </p:nvSpPr>
        <p:spPr>
          <a:xfrm rot="5400000">
            <a:off x="10879505" y="3192319"/>
            <a:ext cx="468000" cy="10197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8" name="橢圓 149">
            <a:extLst>
              <a:ext uri="{FF2B5EF4-FFF2-40B4-BE49-F238E27FC236}">
                <a16:creationId xmlns:a16="http://schemas.microsoft.com/office/drawing/2014/main" id="{FBA2D3C2-FFCE-4813-8ED6-D5B8F5C2E7F8}"/>
              </a:ext>
            </a:extLst>
          </p:cNvPr>
          <p:cNvSpPr/>
          <p:nvPr/>
        </p:nvSpPr>
        <p:spPr>
          <a:xfrm>
            <a:off x="8142996" y="2355229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9" name="向右箭號 139">
            <a:extLst>
              <a:ext uri="{FF2B5EF4-FFF2-40B4-BE49-F238E27FC236}">
                <a16:creationId xmlns:a16="http://schemas.microsoft.com/office/drawing/2014/main" id="{D40EDB8B-E466-45C7-A0E7-173DC8A190E4}"/>
              </a:ext>
            </a:extLst>
          </p:cNvPr>
          <p:cNvSpPr/>
          <p:nvPr/>
        </p:nvSpPr>
        <p:spPr>
          <a:xfrm>
            <a:off x="8864679" y="2396880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4B16E6AC-A7B4-4A71-A90E-EAE3C944227A}"/>
              </a:ext>
            </a:extLst>
          </p:cNvPr>
          <p:cNvSpPr/>
          <p:nvPr/>
        </p:nvSpPr>
        <p:spPr>
          <a:xfrm>
            <a:off x="9334953" y="1911768"/>
            <a:ext cx="1141869" cy="383601"/>
          </a:xfrm>
          <a:prstGeom prst="rect">
            <a:avLst/>
          </a:prstGeom>
          <a:noFill/>
          <a:ln w="2222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89A7865-25E0-4A96-9EA7-89616EF5A43D}"/>
              </a:ext>
            </a:extLst>
          </p:cNvPr>
          <p:cNvSpPr/>
          <p:nvPr/>
        </p:nvSpPr>
        <p:spPr>
          <a:xfrm>
            <a:off x="9349600" y="1293931"/>
            <a:ext cx="1687750" cy="5732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Stations</a:t>
            </a:r>
            <a:r>
              <a:rPr lang="zh-CN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：</a:t>
            </a:r>
            <a:endParaRPr lang="en-US" altLang="zh-CN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IMU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IMU Folded</a:t>
            </a:r>
            <a:endParaRPr lang="en-US" altLang="zh-CN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242" name="直線單箭頭接點 241">
            <a:extLst>
              <a:ext uri="{FF2B5EF4-FFF2-40B4-BE49-F238E27FC236}">
                <a16:creationId xmlns:a16="http://schemas.microsoft.com/office/drawing/2014/main" id="{7EA2B984-6F57-4F3E-8316-2F79905BA4C6}"/>
              </a:ext>
            </a:extLst>
          </p:cNvPr>
          <p:cNvCxnSpPr/>
          <p:nvPr/>
        </p:nvCxnSpPr>
        <p:spPr>
          <a:xfrm flipH="1" flipV="1">
            <a:off x="9325361" y="1339537"/>
            <a:ext cx="3364" cy="629390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2B37E692-C6DE-4801-A105-73181E6F22D5}"/>
              </a:ext>
            </a:extLst>
          </p:cNvPr>
          <p:cNvSpPr txBox="1"/>
          <p:nvPr/>
        </p:nvSpPr>
        <p:spPr>
          <a:xfrm>
            <a:off x="9284133" y="1974203"/>
            <a:ext cx="1160175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IMU Function</a:t>
            </a:r>
          </a:p>
        </p:txBody>
      </p:sp>
      <p:sp>
        <p:nvSpPr>
          <p:cNvPr id="244" name="文字方塊 243">
            <a:extLst>
              <a:ext uri="{FF2B5EF4-FFF2-40B4-BE49-F238E27FC236}">
                <a16:creationId xmlns:a16="http://schemas.microsoft.com/office/drawing/2014/main" id="{F402552D-E2C4-40CF-ABE7-4539B3AF493D}"/>
              </a:ext>
            </a:extLst>
          </p:cNvPr>
          <p:cNvSpPr txBox="1"/>
          <p:nvPr/>
        </p:nvSpPr>
        <p:spPr>
          <a:xfrm>
            <a:off x="9539831" y="2649145"/>
            <a:ext cx="591829" cy="246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Vincent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45" name="橢圓 96">
            <a:extLst>
              <a:ext uri="{FF2B5EF4-FFF2-40B4-BE49-F238E27FC236}">
                <a16:creationId xmlns:a16="http://schemas.microsoft.com/office/drawing/2014/main" id="{0C1CFD85-CB62-4B8D-9736-E0FC26304877}"/>
              </a:ext>
            </a:extLst>
          </p:cNvPr>
          <p:cNvSpPr/>
          <p:nvPr/>
        </p:nvSpPr>
        <p:spPr>
          <a:xfrm>
            <a:off x="9737735" y="238227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6" name="文字方塊 245">
            <a:extLst>
              <a:ext uri="{FF2B5EF4-FFF2-40B4-BE49-F238E27FC236}">
                <a16:creationId xmlns:a16="http://schemas.microsoft.com/office/drawing/2014/main" id="{AE74C71B-9568-444C-A5D3-591C64A2A288}"/>
              </a:ext>
            </a:extLst>
          </p:cNvPr>
          <p:cNvSpPr txBox="1"/>
          <p:nvPr/>
        </p:nvSpPr>
        <p:spPr>
          <a:xfrm>
            <a:off x="10722579" y="2642645"/>
            <a:ext cx="718213" cy="2539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 err="1">
                <a:latin typeface="Calibri" panose="020F0502020204030204" pitchFamily="34" charset="0"/>
              </a:rPr>
              <a:t>Jakcson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47" name="橢圓 96">
            <a:extLst>
              <a:ext uri="{FF2B5EF4-FFF2-40B4-BE49-F238E27FC236}">
                <a16:creationId xmlns:a16="http://schemas.microsoft.com/office/drawing/2014/main" id="{95E89D37-589A-4034-94DB-8D1FDD691402}"/>
              </a:ext>
            </a:extLst>
          </p:cNvPr>
          <p:cNvSpPr/>
          <p:nvPr/>
        </p:nvSpPr>
        <p:spPr>
          <a:xfrm>
            <a:off x="11021235" y="236407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25FCD08B-2FBF-4467-80E2-6C53C51243CF}"/>
              </a:ext>
            </a:extLst>
          </p:cNvPr>
          <p:cNvSpPr/>
          <p:nvPr/>
        </p:nvSpPr>
        <p:spPr>
          <a:xfrm>
            <a:off x="10373632" y="1929468"/>
            <a:ext cx="13735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System Test </a:t>
            </a:r>
            <a:br>
              <a:rPr lang="en-US" altLang="zh-TW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</a:br>
            <a:r>
              <a:rPr lang="en-US" altLang="zh-TW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Folded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1" name="橢圓 96">
            <a:extLst>
              <a:ext uri="{FF2B5EF4-FFF2-40B4-BE49-F238E27FC236}">
                <a16:creationId xmlns:a16="http://schemas.microsoft.com/office/drawing/2014/main" id="{F5C1660A-F4C0-4044-98DB-62FB219116E2}"/>
              </a:ext>
            </a:extLst>
          </p:cNvPr>
          <p:cNvSpPr/>
          <p:nvPr/>
        </p:nvSpPr>
        <p:spPr>
          <a:xfrm>
            <a:off x="11087555" y="441244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252" name="群組 251">
            <a:extLst>
              <a:ext uri="{FF2B5EF4-FFF2-40B4-BE49-F238E27FC236}">
                <a16:creationId xmlns:a16="http://schemas.microsoft.com/office/drawing/2014/main" id="{11AA1B20-7978-4F64-9F27-BA695086C35E}"/>
              </a:ext>
            </a:extLst>
          </p:cNvPr>
          <p:cNvGrpSpPr/>
          <p:nvPr/>
        </p:nvGrpSpPr>
        <p:grpSpPr>
          <a:xfrm>
            <a:off x="10593991" y="3359921"/>
            <a:ext cx="1688300" cy="975462"/>
            <a:chOff x="9650871" y="2089362"/>
            <a:chExt cx="1688300" cy="975462"/>
          </a:xfrm>
        </p:grpSpPr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1DB3AA10-13DB-45D9-B64B-0E2BAC501463}"/>
                </a:ext>
              </a:extLst>
            </p:cNvPr>
            <p:cNvSpPr txBox="1"/>
            <p:nvPr/>
          </p:nvSpPr>
          <p:spPr>
            <a:xfrm>
              <a:off x="9650871" y="2764027"/>
              <a:ext cx="129120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Display Function</a:t>
              </a:r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127B37D6-2074-492E-88F8-7193E5857097}"/>
                </a:ext>
              </a:extLst>
            </p:cNvPr>
            <p:cNvSpPr/>
            <p:nvPr/>
          </p:nvSpPr>
          <p:spPr>
            <a:xfrm>
              <a:off x="9673588" y="2761610"/>
              <a:ext cx="1260123" cy="303214"/>
            </a:xfrm>
            <a:prstGeom prst="rect">
              <a:avLst/>
            </a:prstGeom>
            <a:noFill/>
            <a:ln w="22225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255" name="直線單箭頭接點 254">
              <a:extLst>
                <a:ext uri="{FF2B5EF4-FFF2-40B4-BE49-F238E27FC236}">
                  <a16:creationId xmlns:a16="http://schemas.microsoft.com/office/drawing/2014/main" id="{6E2748B2-B6AC-4722-9707-82EDD99035C7}"/>
                </a:ext>
              </a:extLst>
            </p:cNvPr>
            <p:cNvCxnSpPr/>
            <p:nvPr/>
          </p:nvCxnSpPr>
          <p:spPr>
            <a:xfrm flipV="1">
              <a:off x="9673588" y="2089362"/>
              <a:ext cx="0" cy="633270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A054B245-5F40-4066-9980-E89DBA4A44E4}"/>
                </a:ext>
              </a:extLst>
            </p:cNvPr>
            <p:cNvSpPr/>
            <p:nvPr/>
          </p:nvSpPr>
          <p:spPr>
            <a:xfrm>
              <a:off x="9651421" y="2119418"/>
              <a:ext cx="1687750" cy="57322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Stations</a:t>
              </a:r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：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Cosmetic DVI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OTS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Lensometer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257" name="橢圓 96">
            <a:extLst>
              <a:ext uri="{FF2B5EF4-FFF2-40B4-BE49-F238E27FC236}">
                <a16:creationId xmlns:a16="http://schemas.microsoft.com/office/drawing/2014/main" id="{383EB11C-EFC1-4263-AEBF-E6BD9C147E6A}"/>
              </a:ext>
            </a:extLst>
          </p:cNvPr>
          <p:cNvSpPr/>
          <p:nvPr/>
        </p:nvSpPr>
        <p:spPr>
          <a:xfrm>
            <a:off x="9746560" y="440046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178D5F64-F390-45F9-A111-201B11EECAE4}"/>
              </a:ext>
            </a:extLst>
          </p:cNvPr>
          <p:cNvSpPr/>
          <p:nvPr/>
        </p:nvSpPr>
        <p:spPr>
          <a:xfrm>
            <a:off x="9547527" y="3955188"/>
            <a:ext cx="7360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Laser Scan</a:t>
            </a:r>
            <a:endParaRPr lang="en-US" altLang="zh-TW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REL2</a:t>
            </a:r>
          </a:p>
        </p:txBody>
      </p:sp>
      <p:sp>
        <p:nvSpPr>
          <p:cNvPr id="259" name="文字方塊 258">
            <a:extLst>
              <a:ext uri="{FF2B5EF4-FFF2-40B4-BE49-F238E27FC236}">
                <a16:creationId xmlns:a16="http://schemas.microsoft.com/office/drawing/2014/main" id="{769E266D-68B9-49EC-88C6-BB70859BC302}"/>
              </a:ext>
            </a:extLst>
          </p:cNvPr>
          <p:cNvSpPr txBox="1"/>
          <p:nvPr/>
        </p:nvSpPr>
        <p:spPr>
          <a:xfrm>
            <a:off x="9570609" y="4678525"/>
            <a:ext cx="718213" cy="2539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60" name="橢圓 96">
            <a:extLst>
              <a:ext uri="{FF2B5EF4-FFF2-40B4-BE49-F238E27FC236}">
                <a16:creationId xmlns:a16="http://schemas.microsoft.com/office/drawing/2014/main" id="{2DD66028-EC54-40FD-9774-0BE14E0D04FA}"/>
              </a:ext>
            </a:extLst>
          </p:cNvPr>
          <p:cNvSpPr/>
          <p:nvPr/>
        </p:nvSpPr>
        <p:spPr>
          <a:xfrm>
            <a:off x="7739492" y="440014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39648AF0-5EEA-452D-9B0C-414DCD2D750C}"/>
              </a:ext>
            </a:extLst>
          </p:cNvPr>
          <p:cNvSpPr/>
          <p:nvPr/>
        </p:nvSpPr>
        <p:spPr>
          <a:xfrm>
            <a:off x="7469587" y="3973245"/>
            <a:ext cx="7088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000" b="1" dirty="0" err="1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Prox</a:t>
            </a: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 Test</a:t>
            </a:r>
            <a:endParaRPr lang="zh-TW" altLang="en-US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C3EB29EE-F31D-4F78-8F4A-F275AD754A82}"/>
              </a:ext>
            </a:extLst>
          </p:cNvPr>
          <p:cNvSpPr/>
          <p:nvPr/>
        </p:nvSpPr>
        <p:spPr>
          <a:xfrm>
            <a:off x="8281255" y="4042899"/>
            <a:ext cx="1260123" cy="292961"/>
          </a:xfrm>
          <a:prstGeom prst="rect">
            <a:avLst/>
          </a:prstGeom>
          <a:noFill/>
          <a:ln w="2222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36D60F59-320C-4CB5-B7B4-1C02890AFC78}"/>
              </a:ext>
            </a:extLst>
          </p:cNvPr>
          <p:cNvSpPr/>
          <p:nvPr/>
        </p:nvSpPr>
        <p:spPr>
          <a:xfrm>
            <a:off x="8289950" y="3444078"/>
            <a:ext cx="2195780" cy="5732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Stations</a:t>
            </a:r>
            <a:r>
              <a:rPr lang="zh-CN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：</a:t>
            </a:r>
            <a:endParaRPr lang="en-US" altLang="zh-CN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LED Compliance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 err="1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Prox</a:t>
            </a: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Compliance Test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endParaRPr lang="en-US" altLang="zh-CN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64" name="文字方塊 263">
            <a:extLst>
              <a:ext uri="{FF2B5EF4-FFF2-40B4-BE49-F238E27FC236}">
                <a16:creationId xmlns:a16="http://schemas.microsoft.com/office/drawing/2014/main" id="{CC7E09B1-C0A4-4F9B-99A4-2EC8E6756447}"/>
              </a:ext>
            </a:extLst>
          </p:cNvPr>
          <p:cNvSpPr txBox="1"/>
          <p:nvPr/>
        </p:nvSpPr>
        <p:spPr>
          <a:xfrm>
            <a:off x="8222630" y="4033378"/>
            <a:ext cx="1347979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Compliance Function</a:t>
            </a:r>
          </a:p>
        </p:txBody>
      </p:sp>
      <p:sp>
        <p:nvSpPr>
          <p:cNvPr id="265" name="橢圓 96">
            <a:extLst>
              <a:ext uri="{FF2B5EF4-FFF2-40B4-BE49-F238E27FC236}">
                <a16:creationId xmlns:a16="http://schemas.microsoft.com/office/drawing/2014/main" id="{F2F2DEB8-42C7-4E5A-A404-089CFBFC4E3E}"/>
              </a:ext>
            </a:extLst>
          </p:cNvPr>
          <p:cNvSpPr/>
          <p:nvPr/>
        </p:nvSpPr>
        <p:spPr>
          <a:xfrm>
            <a:off x="8721085" y="441365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6" name="文字方塊 265">
            <a:extLst>
              <a:ext uri="{FF2B5EF4-FFF2-40B4-BE49-F238E27FC236}">
                <a16:creationId xmlns:a16="http://schemas.microsoft.com/office/drawing/2014/main" id="{525E0407-E1A7-4B51-BCA0-94C3EE10E7C3}"/>
              </a:ext>
            </a:extLst>
          </p:cNvPr>
          <p:cNvSpPr txBox="1"/>
          <p:nvPr/>
        </p:nvSpPr>
        <p:spPr>
          <a:xfrm>
            <a:off x="8544721" y="4677127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67" name="文字方塊 165">
            <a:extLst>
              <a:ext uri="{FF2B5EF4-FFF2-40B4-BE49-F238E27FC236}">
                <a16:creationId xmlns:a16="http://schemas.microsoft.com/office/drawing/2014/main" id="{712D3F94-E84B-4599-9181-3DD06E9713B7}"/>
              </a:ext>
            </a:extLst>
          </p:cNvPr>
          <p:cNvSpPr txBox="1"/>
          <p:nvPr/>
        </p:nvSpPr>
        <p:spPr>
          <a:xfrm>
            <a:off x="6603129" y="4677127"/>
            <a:ext cx="643903" cy="246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Vincent</a:t>
            </a:r>
          </a:p>
        </p:txBody>
      </p:sp>
      <p:sp>
        <p:nvSpPr>
          <p:cNvPr id="268" name="文字方塊 121">
            <a:extLst>
              <a:ext uri="{FF2B5EF4-FFF2-40B4-BE49-F238E27FC236}">
                <a16:creationId xmlns:a16="http://schemas.microsoft.com/office/drawing/2014/main" id="{90F74E69-A1FC-45A8-82D5-2E3AB55CDAB4}"/>
              </a:ext>
            </a:extLst>
          </p:cNvPr>
          <p:cNvSpPr txBox="1"/>
          <p:nvPr/>
        </p:nvSpPr>
        <p:spPr>
          <a:xfrm>
            <a:off x="6171067" y="4003831"/>
            <a:ext cx="1539104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FACT21</a:t>
            </a:r>
            <a:endParaRPr lang="en-US" altLang="zh-TW" sz="10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269" name="橢圓 149">
            <a:extLst>
              <a:ext uri="{FF2B5EF4-FFF2-40B4-BE49-F238E27FC236}">
                <a16:creationId xmlns:a16="http://schemas.microsoft.com/office/drawing/2014/main" id="{983E45C4-960A-4862-9B5C-4834CF319A8A}"/>
              </a:ext>
            </a:extLst>
          </p:cNvPr>
          <p:cNvSpPr/>
          <p:nvPr/>
        </p:nvSpPr>
        <p:spPr>
          <a:xfrm>
            <a:off x="6833334" y="441365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270" name="群組 269">
            <a:extLst>
              <a:ext uri="{FF2B5EF4-FFF2-40B4-BE49-F238E27FC236}">
                <a16:creationId xmlns:a16="http://schemas.microsoft.com/office/drawing/2014/main" id="{D425BA54-51AA-4222-83B9-8998B4E1AFCB}"/>
              </a:ext>
            </a:extLst>
          </p:cNvPr>
          <p:cNvGrpSpPr/>
          <p:nvPr/>
        </p:nvGrpSpPr>
        <p:grpSpPr>
          <a:xfrm>
            <a:off x="3930050" y="2839421"/>
            <a:ext cx="1879824" cy="1493585"/>
            <a:chOff x="1064238" y="1838964"/>
            <a:chExt cx="1643954" cy="1234955"/>
          </a:xfrm>
        </p:grpSpPr>
        <p:sp>
          <p:nvSpPr>
            <p:cNvPr id="271" name="文字方塊 270">
              <a:extLst>
                <a:ext uri="{FF2B5EF4-FFF2-40B4-BE49-F238E27FC236}">
                  <a16:creationId xmlns:a16="http://schemas.microsoft.com/office/drawing/2014/main" id="{3E330D5D-E20C-43B6-A106-24557AAD6757}"/>
                </a:ext>
              </a:extLst>
            </p:cNvPr>
            <p:cNvSpPr txBox="1"/>
            <p:nvPr/>
          </p:nvSpPr>
          <p:spPr>
            <a:xfrm>
              <a:off x="1125890" y="2864846"/>
              <a:ext cx="1265185" cy="20358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Camera Function</a:t>
              </a:r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5B5021D1-240F-4328-A45E-CC904EB1A9CD}"/>
                </a:ext>
              </a:extLst>
            </p:cNvPr>
            <p:cNvSpPr/>
            <p:nvPr/>
          </p:nvSpPr>
          <p:spPr>
            <a:xfrm>
              <a:off x="1068896" y="2826175"/>
              <a:ext cx="1447779" cy="247744"/>
            </a:xfrm>
            <a:prstGeom prst="rect">
              <a:avLst/>
            </a:prstGeom>
            <a:noFill/>
            <a:ln w="22225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273" name="直線單箭頭接點 272">
              <a:extLst>
                <a:ext uri="{FF2B5EF4-FFF2-40B4-BE49-F238E27FC236}">
                  <a16:creationId xmlns:a16="http://schemas.microsoft.com/office/drawing/2014/main" id="{72C9DD56-DAD6-405A-A152-80EF9AC2116A}"/>
                </a:ext>
              </a:extLst>
            </p:cNvPr>
            <p:cNvCxnSpPr/>
            <p:nvPr/>
          </p:nvCxnSpPr>
          <p:spPr>
            <a:xfrm flipV="1">
              <a:off x="1064238" y="1975031"/>
              <a:ext cx="2429" cy="834309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71ABDE57-B8B8-47A1-BCA9-8904DD35AB01}"/>
                </a:ext>
              </a:extLst>
            </p:cNvPr>
            <p:cNvSpPr/>
            <p:nvPr/>
          </p:nvSpPr>
          <p:spPr>
            <a:xfrm>
              <a:off x="1122753" y="1838964"/>
              <a:ext cx="1585439" cy="104686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Stations</a:t>
              </a:r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：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WCAM Test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CCAM Test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WCAM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Gridflare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OFC WCAM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Instrinsics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275" name="橢圓 96">
            <a:extLst>
              <a:ext uri="{FF2B5EF4-FFF2-40B4-BE49-F238E27FC236}">
                <a16:creationId xmlns:a16="http://schemas.microsoft.com/office/drawing/2014/main" id="{6905B1A2-8A04-4D94-BCD3-793C3C596F23}"/>
              </a:ext>
            </a:extLst>
          </p:cNvPr>
          <p:cNvSpPr/>
          <p:nvPr/>
        </p:nvSpPr>
        <p:spPr>
          <a:xfrm>
            <a:off x="4642166" y="441365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6" name="文字方塊 275">
            <a:extLst>
              <a:ext uri="{FF2B5EF4-FFF2-40B4-BE49-F238E27FC236}">
                <a16:creationId xmlns:a16="http://schemas.microsoft.com/office/drawing/2014/main" id="{FA4DDA82-41A5-4183-9778-4712EFAA4EE3}"/>
              </a:ext>
            </a:extLst>
          </p:cNvPr>
          <p:cNvSpPr txBox="1"/>
          <p:nvPr/>
        </p:nvSpPr>
        <p:spPr>
          <a:xfrm>
            <a:off x="4436356" y="4677127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77" name="文字方塊 121">
            <a:extLst>
              <a:ext uri="{FF2B5EF4-FFF2-40B4-BE49-F238E27FC236}">
                <a16:creationId xmlns:a16="http://schemas.microsoft.com/office/drawing/2014/main" id="{00ACD088-9E59-47F8-81E6-098EDDD65FC8}"/>
              </a:ext>
            </a:extLst>
          </p:cNvPr>
          <p:cNvSpPr txBox="1"/>
          <p:nvPr/>
        </p:nvSpPr>
        <p:spPr>
          <a:xfrm>
            <a:off x="3194291" y="4133960"/>
            <a:ext cx="643903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Vader</a:t>
            </a:r>
            <a:endParaRPr lang="en-US" altLang="zh-TW" sz="10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278" name="文字方塊 165">
            <a:extLst>
              <a:ext uri="{FF2B5EF4-FFF2-40B4-BE49-F238E27FC236}">
                <a16:creationId xmlns:a16="http://schemas.microsoft.com/office/drawing/2014/main" id="{9E8E6429-04AA-4561-B734-55D530AB1B76}"/>
              </a:ext>
            </a:extLst>
          </p:cNvPr>
          <p:cNvSpPr txBox="1"/>
          <p:nvPr/>
        </p:nvSpPr>
        <p:spPr>
          <a:xfrm>
            <a:off x="3183608" y="4669487"/>
            <a:ext cx="643903" cy="246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Vincent</a:t>
            </a:r>
          </a:p>
        </p:txBody>
      </p:sp>
      <p:cxnSp>
        <p:nvCxnSpPr>
          <p:cNvPr id="279" name="直線單箭頭接點 278">
            <a:extLst>
              <a:ext uri="{FF2B5EF4-FFF2-40B4-BE49-F238E27FC236}">
                <a16:creationId xmlns:a16="http://schemas.microsoft.com/office/drawing/2014/main" id="{91670EE1-4755-41EE-8EFB-FEFEE34EC308}"/>
              </a:ext>
            </a:extLst>
          </p:cNvPr>
          <p:cNvCxnSpPr>
            <a:cxnSpLocks/>
          </p:cNvCxnSpPr>
          <p:nvPr/>
        </p:nvCxnSpPr>
        <p:spPr>
          <a:xfrm flipV="1">
            <a:off x="8276925" y="3301716"/>
            <a:ext cx="2778" cy="773097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文字方塊 279">
            <a:extLst>
              <a:ext uri="{FF2B5EF4-FFF2-40B4-BE49-F238E27FC236}">
                <a16:creationId xmlns:a16="http://schemas.microsoft.com/office/drawing/2014/main" id="{518FD7CA-F511-400F-9E81-6277DE8E47B7}"/>
              </a:ext>
            </a:extLst>
          </p:cNvPr>
          <p:cNvSpPr txBox="1"/>
          <p:nvPr/>
        </p:nvSpPr>
        <p:spPr>
          <a:xfrm>
            <a:off x="1713568" y="4071736"/>
            <a:ext cx="1291207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Camera Function</a:t>
            </a: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C8DD0257-30C5-448C-B7AA-3E5124B4871C}"/>
              </a:ext>
            </a:extLst>
          </p:cNvPr>
          <p:cNvSpPr/>
          <p:nvPr/>
        </p:nvSpPr>
        <p:spPr>
          <a:xfrm>
            <a:off x="1854221" y="4037029"/>
            <a:ext cx="1260123" cy="310191"/>
          </a:xfrm>
          <a:prstGeom prst="rect">
            <a:avLst/>
          </a:prstGeom>
          <a:noFill/>
          <a:ln w="2222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282" name="直線單箭頭接點 281">
            <a:extLst>
              <a:ext uri="{FF2B5EF4-FFF2-40B4-BE49-F238E27FC236}">
                <a16:creationId xmlns:a16="http://schemas.microsoft.com/office/drawing/2014/main" id="{04FD90C8-BB73-4796-884A-27F413F1B3F1}"/>
              </a:ext>
            </a:extLst>
          </p:cNvPr>
          <p:cNvCxnSpPr>
            <a:cxnSpLocks/>
          </p:cNvCxnSpPr>
          <p:nvPr/>
        </p:nvCxnSpPr>
        <p:spPr>
          <a:xfrm flipV="1">
            <a:off x="1854221" y="3122126"/>
            <a:ext cx="0" cy="924701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矩形 282">
            <a:extLst>
              <a:ext uri="{FF2B5EF4-FFF2-40B4-BE49-F238E27FC236}">
                <a16:creationId xmlns:a16="http://schemas.microsoft.com/office/drawing/2014/main" id="{2EF7E515-6CE7-4DA2-A25C-A4EE20C92786}"/>
              </a:ext>
            </a:extLst>
          </p:cNvPr>
          <p:cNvSpPr/>
          <p:nvPr/>
        </p:nvSpPr>
        <p:spPr>
          <a:xfrm>
            <a:off x="1840504" y="3298582"/>
            <a:ext cx="1687750" cy="5732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Stations</a:t>
            </a:r>
            <a:r>
              <a:rPr lang="zh-CN" altLang="en-US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：</a:t>
            </a:r>
            <a:endParaRPr lang="en-US" altLang="zh-CN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CCAM </a:t>
            </a:r>
            <a:r>
              <a:rPr lang="en-US" altLang="zh-CN" sz="1000" b="1" dirty="0" err="1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Gridflare</a:t>
            </a:r>
            <a:endParaRPr lang="en-US" altLang="zh-CN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OFC CCAM </a:t>
            </a:r>
            <a:r>
              <a:rPr lang="en-US" altLang="zh-CN" sz="1000" b="1" dirty="0" err="1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Instrinsics</a:t>
            </a:r>
            <a:endParaRPr lang="en-US" altLang="zh-CN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OFC </a:t>
            </a:r>
            <a:r>
              <a:rPr lang="en-US" altLang="zh-CN" sz="1000" b="1" dirty="0" err="1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Extrinsics</a:t>
            </a: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 Cal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OFC RACK</a:t>
            </a:r>
          </a:p>
        </p:txBody>
      </p:sp>
      <p:sp>
        <p:nvSpPr>
          <p:cNvPr id="284" name="橢圓 96">
            <a:extLst>
              <a:ext uri="{FF2B5EF4-FFF2-40B4-BE49-F238E27FC236}">
                <a16:creationId xmlns:a16="http://schemas.microsoft.com/office/drawing/2014/main" id="{9794DB90-756D-4CA3-B465-DD99810C9968}"/>
              </a:ext>
            </a:extLst>
          </p:cNvPr>
          <p:cNvSpPr/>
          <p:nvPr/>
        </p:nvSpPr>
        <p:spPr>
          <a:xfrm>
            <a:off x="2338105" y="443228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C1E943F2-57A1-4416-9D69-BCF394568E72}"/>
              </a:ext>
            </a:extLst>
          </p:cNvPr>
          <p:cNvSpPr txBox="1"/>
          <p:nvPr/>
        </p:nvSpPr>
        <p:spPr>
          <a:xfrm>
            <a:off x="2153832" y="4689539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86" name="向右箭號 52">
            <a:extLst>
              <a:ext uri="{FF2B5EF4-FFF2-40B4-BE49-F238E27FC236}">
                <a16:creationId xmlns:a16="http://schemas.microsoft.com/office/drawing/2014/main" id="{052896B3-6801-43BA-95C0-67BB2D2E8A3F}"/>
              </a:ext>
            </a:extLst>
          </p:cNvPr>
          <p:cNvSpPr/>
          <p:nvPr/>
        </p:nvSpPr>
        <p:spPr>
          <a:xfrm flipH="1">
            <a:off x="7124260" y="4413654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7" name="向右箭號 52">
            <a:extLst>
              <a:ext uri="{FF2B5EF4-FFF2-40B4-BE49-F238E27FC236}">
                <a16:creationId xmlns:a16="http://schemas.microsoft.com/office/drawing/2014/main" id="{B782BA17-836C-4F15-84B9-6D3DD8217975}"/>
              </a:ext>
            </a:extLst>
          </p:cNvPr>
          <p:cNvSpPr/>
          <p:nvPr/>
        </p:nvSpPr>
        <p:spPr>
          <a:xfrm flipH="1">
            <a:off x="8093004" y="4420408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8" name="向右箭號 52">
            <a:extLst>
              <a:ext uri="{FF2B5EF4-FFF2-40B4-BE49-F238E27FC236}">
                <a16:creationId xmlns:a16="http://schemas.microsoft.com/office/drawing/2014/main" id="{ED1E099F-0728-432D-9B7F-571F8A8E3615}"/>
              </a:ext>
            </a:extLst>
          </p:cNvPr>
          <p:cNvSpPr/>
          <p:nvPr/>
        </p:nvSpPr>
        <p:spPr>
          <a:xfrm flipH="1">
            <a:off x="9063987" y="4420408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9" name="向右箭號 52">
            <a:extLst>
              <a:ext uri="{FF2B5EF4-FFF2-40B4-BE49-F238E27FC236}">
                <a16:creationId xmlns:a16="http://schemas.microsoft.com/office/drawing/2014/main" id="{A38F8343-9E02-4E28-A48A-B36DC167EE3D}"/>
              </a:ext>
            </a:extLst>
          </p:cNvPr>
          <p:cNvSpPr/>
          <p:nvPr/>
        </p:nvSpPr>
        <p:spPr>
          <a:xfrm flipH="1">
            <a:off x="10172290" y="4415087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0" name="向右箭號 52">
            <a:extLst>
              <a:ext uri="{FF2B5EF4-FFF2-40B4-BE49-F238E27FC236}">
                <a16:creationId xmlns:a16="http://schemas.microsoft.com/office/drawing/2014/main" id="{30B701F1-5715-466D-B807-776CAA9A2B19}"/>
              </a:ext>
            </a:extLst>
          </p:cNvPr>
          <p:cNvSpPr/>
          <p:nvPr/>
        </p:nvSpPr>
        <p:spPr>
          <a:xfrm flipH="1">
            <a:off x="6267423" y="4426460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1" name="向右箭號 52">
            <a:extLst>
              <a:ext uri="{FF2B5EF4-FFF2-40B4-BE49-F238E27FC236}">
                <a16:creationId xmlns:a16="http://schemas.microsoft.com/office/drawing/2014/main" id="{C783297C-1808-47AF-A52F-1E47DE77832E}"/>
              </a:ext>
            </a:extLst>
          </p:cNvPr>
          <p:cNvSpPr/>
          <p:nvPr/>
        </p:nvSpPr>
        <p:spPr>
          <a:xfrm flipH="1">
            <a:off x="5112267" y="4427165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2" name="向右箭號 52">
            <a:extLst>
              <a:ext uri="{FF2B5EF4-FFF2-40B4-BE49-F238E27FC236}">
                <a16:creationId xmlns:a16="http://schemas.microsoft.com/office/drawing/2014/main" id="{FF7DA444-31A3-4771-AD5E-B29735E43EDD}"/>
              </a:ext>
            </a:extLst>
          </p:cNvPr>
          <p:cNvSpPr/>
          <p:nvPr/>
        </p:nvSpPr>
        <p:spPr>
          <a:xfrm flipH="1">
            <a:off x="3845700" y="4427165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3" name="橢圓 96">
            <a:extLst>
              <a:ext uri="{FF2B5EF4-FFF2-40B4-BE49-F238E27FC236}">
                <a16:creationId xmlns:a16="http://schemas.microsoft.com/office/drawing/2014/main" id="{0FEAD8AA-9771-4ED4-AC4A-465CDEE9C0FC}"/>
              </a:ext>
            </a:extLst>
          </p:cNvPr>
          <p:cNvSpPr/>
          <p:nvPr/>
        </p:nvSpPr>
        <p:spPr>
          <a:xfrm>
            <a:off x="3409474" y="441847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4" name="向右箭號 52">
            <a:extLst>
              <a:ext uri="{FF2B5EF4-FFF2-40B4-BE49-F238E27FC236}">
                <a16:creationId xmlns:a16="http://schemas.microsoft.com/office/drawing/2014/main" id="{6ADCF848-53B1-4890-BEA5-0C2E82FF3242}"/>
              </a:ext>
            </a:extLst>
          </p:cNvPr>
          <p:cNvSpPr/>
          <p:nvPr/>
        </p:nvSpPr>
        <p:spPr>
          <a:xfrm flipH="1">
            <a:off x="2714437" y="4432109"/>
            <a:ext cx="468654" cy="152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5" name="向右箭號 52">
            <a:extLst>
              <a:ext uri="{FF2B5EF4-FFF2-40B4-BE49-F238E27FC236}">
                <a16:creationId xmlns:a16="http://schemas.microsoft.com/office/drawing/2014/main" id="{5588A244-1D89-46C7-8981-6181826AF87F}"/>
              </a:ext>
            </a:extLst>
          </p:cNvPr>
          <p:cNvSpPr/>
          <p:nvPr/>
        </p:nvSpPr>
        <p:spPr>
          <a:xfrm flipH="1">
            <a:off x="1683489" y="4408664"/>
            <a:ext cx="468654" cy="156071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6" name="文字方塊 165">
            <a:extLst>
              <a:ext uri="{FF2B5EF4-FFF2-40B4-BE49-F238E27FC236}">
                <a16:creationId xmlns:a16="http://schemas.microsoft.com/office/drawing/2014/main" id="{D39FA912-1269-431A-BD42-366EBC8A8F0F}"/>
              </a:ext>
            </a:extLst>
          </p:cNvPr>
          <p:cNvSpPr txBox="1"/>
          <p:nvPr/>
        </p:nvSpPr>
        <p:spPr>
          <a:xfrm>
            <a:off x="7518388" y="4680047"/>
            <a:ext cx="643903" cy="246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Vincent</a:t>
            </a:r>
          </a:p>
        </p:txBody>
      </p:sp>
      <p:sp>
        <p:nvSpPr>
          <p:cNvPr id="297" name="文字方塊 165">
            <a:extLst>
              <a:ext uri="{FF2B5EF4-FFF2-40B4-BE49-F238E27FC236}">
                <a16:creationId xmlns:a16="http://schemas.microsoft.com/office/drawing/2014/main" id="{9C56ED49-C5DC-4B50-8299-1AED18C24BDB}"/>
              </a:ext>
            </a:extLst>
          </p:cNvPr>
          <p:cNvSpPr txBox="1"/>
          <p:nvPr/>
        </p:nvSpPr>
        <p:spPr>
          <a:xfrm>
            <a:off x="10849580" y="4672070"/>
            <a:ext cx="643903" cy="246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Vincent</a:t>
            </a:r>
          </a:p>
        </p:txBody>
      </p:sp>
      <p:sp>
        <p:nvSpPr>
          <p:cNvPr id="299" name="橢圓 149">
            <a:extLst>
              <a:ext uri="{FF2B5EF4-FFF2-40B4-BE49-F238E27FC236}">
                <a16:creationId xmlns:a16="http://schemas.microsoft.com/office/drawing/2014/main" id="{4FA51FDB-5C29-4E79-A10C-BFFA49A9430C}"/>
              </a:ext>
            </a:extLst>
          </p:cNvPr>
          <p:cNvSpPr/>
          <p:nvPr/>
        </p:nvSpPr>
        <p:spPr>
          <a:xfrm>
            <a:off x="1384871" y="441365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48888597-9480-4EED-8EBD-6E4490B81663}"/>
              </a:ext>
            </a:extLst>
          </p:cNvPr>
          <p:cNvSpPr/>
          <p:nvPr/>
        </p:nvSpPr>
        <p:spPr>
          <a:xfrm>
            <a:off x="1222609" y="4170170"/>
            <a:ext cx="3818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SRT</a:t>
            </a:r>
            <a:endParaRPr lang="zh-TW" altLang="en-US" sz="1000" b="1" dirty="0">
              <a:solidFill>
                <a:srgbClr val="7030A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1" name="文字方塊 300">
            <a:extLst>
              <a:ext uri="{FF2B5EF4-FFF2-40B4-BE49-F238E27FC236}">
                <a16:creationId xmlns:a16="http://schemas.microsoft.com/office/drawing/2014/main" id="{7C1FA7E7-86C7-4204-9473-BCB0EE4047B3}"/>
              </a:ext>
            </a:extLst>
          </p:cNvPr>
          <p:cNvSpPr txBox="1"/>
          <p:nvPr/>
        </p:nvSpPr>
        <p:spPr>
          <a:xfrm>
            <a:off x="1179573" y="4664295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dirty="0">
                <a:latin typeface="Calibri" panose="020F0502020204030204" pitchFamily="34" charset="0"/>
              </a:rPr>
              <a:t>Jackson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302" name="文字方塊 121">
            <a:extLst>
              <a:ext uri="{FF2B5EF4-FFF2-40B4-BE49-F238E27FC236}">
                <a16:creationId xmlns:a16="http://schemas.microsoft.com/office/drawing/2014/main" id="{A7D80DB3-8B51-4122-86BC-3FDDCD13AF60}"/>
              </a:ext>
            </a:extLst>
          </p:cNvPr>
          <p:cNvSpPr txBox="1"/>
          <p:nvPr/>
        </p:nvSpPr>
        <p:spPr>
          <a:xfrm>
            <a:off x="393268" y="4130789"/>
            <a:ext cx="575280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Cosmo</a:t>
            </a:r>
            <a:endParaRPr lang="en-US" altLang="zh-TW" sz="10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303" name="橢圓 149">
            <a:extLst>
              <a:ext uri="{FF2B5EF4-FFF2-40B4-BE49-F238E27FC236}">
                <a16:creationId xmlns:a16="http://schemas.microsoft.com/office/drawing/2014/main" id="{708BAE5B-91F5-4A31-91D0-E0158B5AE27B}"/>
              </a:ext>
            </a:extLst>
          </p:cNvPr>
          <p:cNvSpPr/>
          <p:nvPr/>
        </p:nvSpPr>
        <p:spPr>
          <a:xfrm>
            <a:off x="616345" y="438470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4" name="文字方塊 303">
            <a:extLst>
              <a:ext uri="{FF2B5EF4-FFF2-40B4-BE49-F238E27FC236}">
                <a16:creationId xmlns:a16="http://schemas.microsoft.com/office/drawing/2014/main" id="{44C18F3A-6316-4529-A0C3-3C00C82E6CA1}"/>
              </a:ext>
            </a:extLst>
          </p:cNvPr>
          <p:cNvSpPr txBox="1"/>
          <p:nvPr/>
        </p:nvSpPr>
        <p:spPr>
          <a:xfrm>
            <a:off x="376901" y="4670115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dirty="0">
                <a:latin typeface="Calibri" panose="020F0502020204030204" pitchFamily="34" charset="0"/>
              </a:rPr>
              <a:t>Jackson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305" name="向右箭號 52">
            <a:extLst>
              <a:ext uri="{FF2B5EF4-FFF2-40B4-BE49-F238E27FC236}">
                <a16:creationId xmlns:a16="http://schemas.microsoft.com/office/drawing/2014/main" id="{0D4A07A2-6BCD-4754-8043-A67F21D8241E}"/>
              </a:ext>
            </a:extLst>
          </p:cNvPr>
          <p:cNvSpPr/>
          <p:nvPr/>
        </p:nvSpPr>
        <p:spPr>
          <a:xfrm flipH="1">
            <a:off x="863485" y="4423443"/>
            <a:ext cx="468654" cy="156071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6" name="文字方塊 305">
            <a:extLst>
              <a:ext uri="{FF2B5EF4-FFF2-40B4-BE49-F238E27FC236}">
                <a16:creationId xmlns:a16="http://schemas.microsoft.com/office/drawing/2014/main" id="{D1C72E86-BCF7-4F83-AF02-034277BEB2EF}"/>
              </a:ext>
            </a:extLst>
          </p:cNvPr>
          <p:cNvSpPr txBox="1"/>
          <p:nvPr/>
        </p:nvSpPr>
        <p:spPr>
          <a:xfrm>
            <a:off x="276811" y="764556"/>
            <a:ext cx="4307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15000"/>
              <a:buFont typeface="微軟正黑體" panose="020B0604030504040204" pitchFamily="34" charset="-120"/>
              <a:buChar char="›"/>
            </a:pPr>
            <a:r>
              <a:rPr lang="en-US" altLang="zh-CN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Mini line</a:t>
            </a:r>
            <a:r>
              <a:rPr lang="zh-CN" altLang="en-US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工站測試</a:t>
            </a:r>
            <a:r>
              <a:rPr lang="en-US" altLang="zh-CN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--</a:t>
            </a:r>
            <a:r>
              <a:rPr lang="zh-CN" altLang="en-US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詳細作業順序</a:t>
            </a:r>
            <a:endParaRPr lang="en-US" altLang="zh-CN" sz="16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07" name="橢圓 149">
            <a:extLst>
              <a:ext uri="{FF2B5EF4-FFF2-40B4-BE49-F238E27FC236}">
                <a16:creationId xmlns:a16="http://schemas.microsoft.com/office/drawing/2014/main" id="{FF485FE0-B22C-43CA-A54B-CC9C41D88781}"/>
              </a:ext>
            </a:extLst>
          </p:cNvPr>
          <p:cNvSpPr/>
          <p:nvPr/>
        </p:nvSpPr>
        <p:spPr>
          <a:xfrm>
            <a:off x="5869997" y="442344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8" name="文字方塊 165">
            <a:extLst>
              <a:ext uri="{FF2B5EF4-FFF2-40B4-BE49-F238E27FC236}">
                <a16:creationId xmlns:a16="http://schemas.microsoft.com/office/drawing/2014/main" id="{4C8F7586-7903-465A-8D5E-E6124E73A15C}"/>
              </a:ext>
            </a:extLst>
          </p:cNvPr>
          <p:cNvSpPr txBox="1"/>
          <p:nvPr/>
        </p:nvSpPr>
        <p:spPr>
          <a:xfrm>
            <a:off x="5656570" y="4678525"/>
            <a:ext cx="643903" cy="246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Vincent</a:t>
            </a:r>
          </a:p>
        </p:txBody>
      </p:sp>
      <p:sp>
        <p:nvSpPr>
          <p:cNvPr id="309" name="文字方塊 121">
            <a:extLst>
              <a:ext uri="{FF2B5EF4-FFF2-40B4-BE49-F238E27FC236}">
                <a16:creationId xmlns:a16="http://schemas.microsoft.com/office/drawing/2014/main" id="{ED75EACE-7F08-4040-9195-55F560AEF8CE}"/>
              </a:ext>
            </a:extLst>
          </p:cNvPr>
          <p:cNvSpPr txBox="1"/>
          <p:nvPr/>
        </p:nvSpPr>
        <p:spPr>
          <a:xfrm>
            <a:off x="5390612" y="3963136"/>
            <a:ext cx="1251248" cy="4493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Combo LED  Cal/Test</a:t>
            </a:r>
          </a:p>
        </p:txBody>
      </p:sp>
      <p:sp>
        <p:nvSpPr>
          <p:cNvPr id="310" name="文字方塊 165">
            <a:extLst>
              <a:ext uri="{FF2B5EF4-FFF2-40B4-BE49-F238E27FC236}">
                <a16:creationId xmlns:a16="http://schemas.microsoft.com/office/drawing/2014/main" id="{785B148B-A153-461C-BD95-54FBC13FA0B5}"/>
              </a:ext>
            </a:extLst>
          </p:cNvPr>
          <p:cNvSpPr txBox="1"/>
          <p:nvPr/>
        </p:nvSpPr>
        <p:spPr>
          <a:xfrm>
            <a:off x="3312754" y="6447114"/>
            <a:ext cx="608327" cy="2539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Vincent</a:t>
            </a:r>
          </a:p>
        </p:txBody>
      </p:sp>
      <p:sp>
        <p:nvSpPr>
          <p:cNvPr id="311" name="橢圓 149">
            <a:extLst>
              <a:ext uri="{FF2B5EF4-FFF2-40B4-BE49-F238E27FC236}">
                <a16:creationId xmlns:a16="http://schemas.microsoft.com/office/drawing/2014/main" id="{13C181DD-8872-47DD-87AC-35495336F8E1}"/>
              </a:ext>
            </a:extLst>
          </p:cNvPr>
          <p:cNvSpPr/>
          <p:nvPr/>
        </p:nvSpPr>
        <p:spPr>
          <a:xfrm>
            <a:off x="3505491" y="623274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2" name="橢圓 96">
            <a:extLst>
              <a:ext uri="{FF2B5EF4-FFF2-40B4-BE49-F238E27FC236}">
                <a16:creationId xmlns:a16="http://schemas.microsoft.com/office/drawing/2014/main" id="{1DA52F97-0BAB-4DCB-AB5F-F1DC47910190}"/>
              </a:ext>
            </a:extLst>
          </p:cNvPr>
          <p:cNvSpPr/>
          <p:nvPr/>
        </p:nvSpPr>
        <p:spPr>
          <a:xfrm>
            <a:off x="2431180" y="618483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3" name="向右箭號 52">
            <a:extLst>
              <a:ext uri="{FF2B5EF4-FFF2-40B4-BE49-F238E27FC236}">
                <a16:creationId xmlns:a16="http://schemas.microsoft.com/office/drawing/2014/main" id="{B24D2509-BDF6-4D8C-ABF5-FD0E0EBD4646}"/>
              </a:ext>
            </a:extLst>
          </p:cNvPr>
          <p:cNvSpPr/>
          <p:nvPr/>
        </p:nvSpPr>
        <p:spPr>
          <a:xfrm rot="10800000" flipH="1">
            <a:off x="2722303" y="6212131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4" name="橢圓 313">
            <a:extLst>
              <a:ext uri="{FF2B5EF4-FFF2-40B4-BE49-F238E27FC236}">
                <a16:creationId xmlns:a16="http://schemas.microsoft.com/office/drawing/2014/main" id="{08FDE742-5151-4E7A-B26A-AB5491A1B371}"/>
              </a:ext>
            </a:extLst>
          </p:cNvPr>
          <p:cNvSpPr/>
          <p:nvPr/>
        </p:nvSpPr>
        <p:spPr>
          <a:xfrm>
            <a:off x="1418292" y="618483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5" name="文字方塊 121">
            <a:extLst>
              <a:ext uri="{FF2B5EF4-FFF2-40B4-BE49-F238E27FC236}">
                <a16:creationId xmlns:a16="http://schemas.microsoft.com/office/drawing/2014/main" id="{04564F75-F30F-41AB-8276-2772F8B3CC7C}"/>
              </a:ext>
            </a:extLst>
          </p:cNvPr>
          <p:cNvSpPr txBox="1"/>
          <p:nvPr/>
        </p:nvSpPr>
        <p:spPr>
          <a:xfrm>
            <a:off x="-81280" y="5782035"/>
            <a:ext cx="1539104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 err="1">
                <a:solidFill>
                  <a:srgbClr val="7030A0"/>
                </a:solidFill>
                <a:latin typeface="Calibri" panose="020F0502020204030204" pitchFamily="34" charset="0"/>
              </a:rPr>
              <a:t>Isengard</a:t>
            </a:r>
            <a:endParaRPr lang="en-US" altLang="zh-TW" sz="10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316" name="向右箭號 52">
            <a:extLst>
              <a:ext uri="{FF2B5EF4-FFF2-40B4-BE49-F238E27FC236}">
                <a16:creationId xmlns:a16="http://schemas.microsoft.com/office/drawing/2014/main" id="{C83E2195-5BB1-47D5-A977-E085657114D1}"/>
              </a:ext>
            </a:extLst>
          </p:cNvPr>
          <p:cNvSpPr/>
          <p:nvPr/>
        </p:nvSpPr>
        <p:spPr>
          <a:xfrm rot="10800000" flipH="1">
            <a:off x="1706481" y="6223062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7" name="文字方塊 316">
            <a:extLst>
              <a:ext uri="{FF2B5EF4-FFF2-40B4-BE49-F238E27FC236}">
                <a16:creationId xmlns:a16="http://schemas.microsoft.com/office/drawing/2014/main" id="{42721949-1B5F-44DA-9812-771E3D18AD76}"/>
              </a:ext>
            </a:extLst>
          </p:cNvPr>
          <p:cNvSpPr txBox="1"/>
          <p:nvPr/>
        </p:nvSpPr>
        <p:spPr>
          <a:xfrm>
            <a:off x="2246907" y="6439007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18" name="橢圓 96">
            <a:extLst>
              <a:ext uri="{FF2B5EF4-FFF2-40B4-BE49-F238E27FC236}">
                <a16:creationId xmlns:a16="http://schemas.microsoft.com/office/drawing/2014/main" id="{F4C72343-4DC0-4388-BA67-EFC907BED267}"/>
              </a:ext>
            </a:extLst>
          </p:cNvPr>
          <p:cNvSpPr/>
          <p:nvPr/>
        </p:nvSpPr>
        <p:spPr>
          <a:xfrm>
            <a:off x="579740" y="621427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9" name="向右箭號 52">
            <a:extLst>
              <a:ext uri="{FF2B5EF4-FFF2-40B4-BE49-F238E27FC236}">
                <a16:creationId xmlns:a16="http://schemas.microsoft.com/office/drawing/2014/main" id="{5A0E298A-8382-4391-A75A-14C1E51FE8FD}"/>
              </a:ext>
            </a:extLst>
          </p:cNvPr>
          <p:cNvSpPr/>
          <p:nvPr/>
        </p:nvSpPr>
        <p:spPr>
          <a:xfrm rot="10800000" flipH="1">
            <a:off x="862195" y="6213860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0" name="文字方塊 319">
            <a:extLst>
              <a:ext uri="{FF2B5EF4-FFF2-40B4-BE49-F238E27FC236}">
                <a16:creationId xmlns:a16="http://schemas.microsoft.com/office/drawing/2014/main" id="{77CC5574-99B9-47C4-9CFB-534B28A4C647}"/>
              </a:ext>
            </a:extLst>
          </p:cNvPr>
          <p:cNvSpPr txBox="1"/>
          <p:nvPr/>
        </p:nvSpPr>
        <p:spPr>
          <a:xfrm>
            <a:off x="1203818" y="6430816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dirty="0">
                <a:latin typeface="Calibri" panose="020F0502020204030204" pitchFamily="34" charset="0"/>
              </a:rPr>
              <a:t>Jackson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321" name="文字方塊 320">
            <a:extLst>
              <a:ext uri="{FF2B5EF4-FFF2-40B4-BE49-F238E27FC236}">
                <a16:creationId xmlns:a16="http://schemas.microsoft.com/office/drawing/2014/main" id="{5AC225FE-CCC5-4E14-B81A-F6BE3F2F8BA3}"/>
              </a:ext>
            </a:extLst>
          </p:cNvPr>
          <p:cNvSpPr txBox="1"/>
          <p:nvPr/>
        </p:nvSpPr>
        <p:spPr>
          <a:xfrm>
            <a:off x="376901" y="6430815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Jackson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22" name="文字方塊 121">
            <a:extLst>
              <a:ext uri="{FF2B5EF4-FFF2-40B4-BE49-F238E27FC236}">
                <a16:creationId xmlns:a16="http://schemas.microsoft.com/office/drawing/2014/main" id="{A5250EE0-9268-4EA8-BBF0-F9BDCEB35C5C}"/>
              </a:ext>
            </a:extLst>
          </p:cNvPr>
          <p:cNvSpPr txBox="1"/>
          <p:nvPr/>
        </p:nvSpPr>
        <p:spPr>
          <a:xfrm>
            <a:off x="1960615" y="5691178"/>
            <a:ext cx="1075980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Rigel Illegal Drive</a:t>
            </a:r>
          </a:p>
        </p:txBody>
      </p:sp>
      <p:sp>
        <p:nvSpPr>
          <p:cNvPr id="323" name="文字方塊 121">
            <a:extLst>
              <a:ext uri="{FF2B5EF4-FFF2-40B4-BE49-F238E27FC236}">
                <a16:creationId xmlns:a16="http://schemas.microsoft.com/office/drawing/2014/main" id="{0BAC63F1-FF03-4A57-BA81-E6FAFD4391F5}"/>
              </a:ext>
            </a:extLst>
          </p:cNvPr>
          <p:cNvSpPr txBox="1"/>
          <p:nvPr/>
        </p:nvSpPr>
        <p:spPr>
          <a:xfrm>
            <a:off x="1042981" y="5735042"/>
            <a:ext cx="992774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Rigel Illegal Polling</a:t>
            </a:r>
          </a:p>
        </p:txBody>
      </p:sp>
      <p:sp>
        <p:nvSpPr>
          <p:cNvPr id="324" name="文字方塊 323">
            <a:extLst>
              <a:ext uri="{FF2B5EF4-FFF2-40B4-BE49-F238E27FC236}">
                <a16:creationId xmlns:a16="http://schemas.microsoft.com/office/drawing/2014/main" id="{0CC62EC0-0B16-4BD1-BFF2-5A9D5537A974}"/>
              </a:ext>
            </a:extLst>
          </p:cNvPr>
          <p:cNvSpPr txBox="1"/>
          <p:nvPr/>
        </p:nvSpPr>
        <p:spPr>
          <a:xfrm>
            <a:off x="3004248" y="5670857"/>
            <a:ext cx="1291207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Resolving Power Tester</a:t>
            </a:r>
          </a:p>
        </p:txBody>
      </p:sp>
      <p:sp>
        <p:nvSpPr>
          <p:cNvPr id="325" name="向右箭號 139">
            <a:extLst>
              <a:ext uri="{FF2B5EF4-FFF2-40B4-BE49-F238E27FC236}">
                <a16:creationId xmlns:a16="http://schemas.microsoft.com/office/drawing/2014/main" id="{DBB65C9C-151B-445B-9A0B-6CC40A6D5122}"/>
              </a:ext>
            </a:extLst>
          </p:cNvPr>
          <p:cNvSpPr/>
          <p:nvPr/>
        </p:nvSpPr>
        <p:spPr>
          <a:xfrm>
            <a:off x="10302829" y="2387545"/>
            <a:ext cx="370322" cy="12289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6" name="向右箭號 166">
            <a:extLst>
              <a:ext uri="{FF2B5EF4-FFF2-40B4-BE49-F238E27FC236}">
                <a16:creationId xmlns:a16="http://schemas.microsoft.com/office/drawing/2014/main" id="{8E78EE2B-69BD-48D3-8D97-913FDF9DBF37}"/>
              </a:ext>
            </a:extLst>
          </p:cNvPr>
          <p:cNvSpPr/>
          <p:nvPr/>
        </p:nvSpPr>
        <p:spPr>
          <a:xfrm rot="5400000">
            <a:off x="454272" y="5174602"/>
            <a:ext cx="468000" cy="10197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7" name="橢圓 96">
            <a:extLst>
              <a:ext uri="{FF2B5EF4-FFF2-40B4-BE49-F238E27FC236}">
                <a16:creationId xmlns:a16="http://schemas.microsoft.com/office/drawing/2014/main" id="{D6B0E628-589C-4C2F-B826-88AABE6137E1}"/>
              </a:ext>
            </a:extLst>
          </p:cNvPr>
          <p:cNvSpPr/>
          <p:nvPr/>
        </p:nvSpPr>
        <p:spPr>
          <a:xfrm>
            <a:off x="5720873" y="6171959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9" name="文字方塊 328">
            <a:extLst>
              <a:ext uri="{FF2B5EF4-FFF2-40B4-BE49-F238E27FC236}">
                <a16:creationId xmlns:a16="http://schemas.microsoft.com/office/drawing/2014/main" id="{D8307180-C115-45E4-B5F3-AE3B810B7B03}"/>
              </a:ext>
            </a:extLst>
          </p:cNvPr>
          <p:cNvSpPr txBox="1"/>
          <p:nvPr/>
        </p:nvSpPr>
        <p:spPr>
          <a:xfrm>
            <a:off x="5571484" y="6450599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grpSp>
        <p:nvGrpSpPr>
          <p:cNvPr id="330" name="群組 329">
            <a:extLst>
              <a:ext uri="{FF2B5EF4-FFF2-40B4-BE49-F238E27FC236}">
                <a16:creationId xmlns:a16="http://schemas.microsoft.com/office/drawing/2014/main" id="{4857FD36-D9D6-48EC-A6FD-6D99DC791FE4}"/>
              </a:ext>
            </a:extLst>
          </p:cNvPr>
          <p:cNvGrpSpPr/>
          <p:nvPr/>
        </p:nvGrpSpPr>
        <p:grpSpPr>
          <a:xfrm>
            <a:off x="5101728" y="5014823"/>
            <a:ext cx="1809607" cy="1070952"/>
            <a:chOff x="478090" y="2644184"/>
            <a:chExt cx="1809607" cy="355300"/>
          </a:xfrm>
        </p:grpSpPr>
        <p:sp>
          <p:nvSpPr>
            <p:cNvPr id="331" name="文字方塊 330">
              <a:extLst>
                <a:ext uri="{FF2B5EF4-FFF2-40B4-BE49-F238E27FC236}">
                  <a16:creationId xmlns:a16="http://schemas.microsoft.com/office/drawing/2014/main" id="{CA9403DB-E390-47FD-9294-97DBA4B1C984}"/>
                </a:ext>
              </a:extLst>
            </p:cNvPr>
            <p:cNvSpPr txBox="1"/>
            <p:nvPr/>
          </p:nvSpPr>
          <p:spPr>
            <a:xfrm>
              <a:off x="620260" y="2896849"/>
              <a:ext cx="1192612" cy="890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 err="1">
                  <a:latin typeface="Calibri" panose="020F0502020204030204" pitchFamily="34" charset="0"/>
                </a:rPr>
                <a:t>Burnin</a:t>
              </a:r>
              <a:r>
                <a:rPr lang="en-US" altLang="zh-CN" sz="1000" dirty="0">
                  <a:latin typeface="Calibri" panose="020F0502020204030204" pitchFamily="34" charset="0"/>
                </a:rPr>
                <a:t> Function</a:t>
              </a:r>
            </a:p>
          </p:txBody>
        </p:sp>
        <p:sp>
          <p:nvSpPr>
            <p:cNvPr id="332" name="矩形 331">
              <a:extLst>
                <a:ext uri="{FF2B5EF4-FFF2-40B4-BE49-F238E27FC236}">
                  <a16:creationId xmlns:a16="http://schemas.microsoft.com/office/drawing/2014/main" id="{43B34CF5-C3ED-442F-8976-0EB67E2DCEEC}"/>
                </a:ext>
              </a:extLst>
            </p:cNvPr>
            <p:cNvSpPr/>
            <p:nvPr/>
          </p:nvSpPr>
          <p:spPr>
            <a:xfrm>
              <a:off x="478090" y="2888155"/>
              <a:ext cx="1515910" cy="111329"/>
            </a:xfrm>
            <a:prstGeom prst="rect">
              <a:avLst/>
            </a:prstGeom>
            <a:noFill/>
            <a:ln w="22225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333" name="直線單箭頭接點 332">
              <a:extLst>
                <a:ext uri="{FF2B5EF4-FFF2-40B4-BE49-F238E27FC236}">
                  <a16:creationId xmlns:a16="http://schemas.microsoft.com/office/drawing/2014/main" id="{6553EB14-D5F2-41A7-AC0D-B25A9547C0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090" y="2651457"/>
              <a:ext cx="3584" cy="228697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矩形 333">
              <a:extLst>
                <a:ext uri="{FF2B5EF4-FFF2-40B4-BE49-F238E27FC236}">
                  <a16:creationId xmlns:a16="http://schemas.microsoft.com/office/drawing/2014/main" id="{47F6DDAA-521E-4D29-9DDC-801D6DA3FBFF}"/>
                </a:ext>
              </a:extLst>
            </p:cNvPr>
            <p:cNvSpPr/>
            <p:nvPr/>
          </p:nvSpPr>
          <p:spPr>
            <a:xfrm>
              <a:off x="530432" y="2644184"/>
              <a:ext cx="1757265" cy="24193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Stations</a:t>
              </a:r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：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REL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BurnIn</a:t>
              </a: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Miniline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REL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BurnIn</a:t>
              </a: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 Untethered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Long Time </a:t>
              </a:r>
              <a:r>
                <a:rPr lang="en-US" altLang="zh-CN" sz="1000" b="1" dirty="0" err="1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BurnIn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35" name="群組 334">
            <a:extLst>
              <a:ext uri="{FF2B5EF4-FFF2-40B4-BE49-F238E27FC236}">
                <a16:creationId xmlns:a16="http://schemas.microsoft.com/office/drawing/2014/main" id="{F45866C6-DF4C-466D-8760-FEA508106AF9}"/>
              </a:ext>
            </a:extLst>
          </p:cNvPr>
          <p:cNvGrpSpPr/>
          <p:nvPr/>
        </p:nvGrpSpPr>
        <p:grpSpPr>
          <a:xfrm>
            <a:off x="7626389" y="5061845"/>
            <a:ext cx="1875527" cy="1049614"/>
            <a:chOff x="385387" y="1565336"/>
            <a:chExt cx="1875527" cy="1472602"/>
          </a:xfrm>
        </p:grpSpPr>
        <p:sp>
          <p:nvSpPr>
            <p:cNvPr id="336" name="文字方塊 335">
              <a:extLst>
                <a:ext uri="{FF2B5EF4-FFF2-40B4-BE49-F238E27FC236}">
                  <a16:creationId xmlns:a16="http://schemas.microsoft.com/office/drawing/2014/main" id="{48795BD7-863A-425E-A68C-E3888E80E49B}"/>
                </a:ext>
              </a:extLst>
            </p:cNvPr>
            <p:cNvSpPr txBox="1"/>
            <p:nvPr/>
          </p:nvSpPr>
          <p:spPr>
            <a:xfrm>
              <a:off x="385387" y="2720813"/>
              <a:ext cx="161361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/>
                <a:t>IT Function</a:t>
              </a:r>
            </a:p>
          </p:txBody>
        </p:sp>
        <p:sp>
          <p:nvSpPr>
            <p:cNvPr id="337" name="矩形 336">
              <a:extLst>
                <a:ext uri="{FF2B5EF4-FFF2-40B4-BE49-F238E27FC236}">
                  <a16:creationId xmlns:a16="http://schemas.microsoft.com/office/drawing/2014/main" id="{2C9A9188-CCD2-4D25-9229-3B5A1ED0838F}"/>
                </a:ext>
              </a:extLst>
            </p:cNvPr>
            <p:cNvSpPr/>
            <p:nvPr/>
          </p:nvSpPr>
          <p:spPr>
            <a:xfrm>
              <a:off x="478090" y="2668556"/>
              <a:ext cx="1515910" cy="369382"/>
            </a:xfrm>
            <a:prstGeom prst="rect">
              <a:avLst/>
            </a:prstGeom>
            <a:noFill/>
            <a:ln w="22225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38" name="直線單箭頭接點 337">
              <a:extLst>
                <a:ext uri="{FF2B5EF4-FFF2-40B4-BE49-F238E27FC236}">
                  <a16:creationId xmlns:a16="http://schemas.microsoft.com/office/drawing/2014/main" id="{B1669B52-9AEE-4237-A565-2A5D5DD1540F}"/>
                </a:ext>
              </a:extLst>
            </p:cNvPr>
            <p:cNvCxnSpPr/>
            <p:nvPr/>
          </p:nvCxnSpPr>
          <p:spPr>
            <a:xfrm flipV="1">
              <a:off x="464101" y="1642188"/>
              <a:ext cx="2430" cy="964942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矩形 338">
              <a:extLst>
                <a:ext uri="{FF2B5EF4-FFF2-40B4-BE49-F238E27FC236}">
                  <a16:creationId xmlns:a16="http://schemas.microsoft.com/office/drawing/2014/main" id="{B4D406D2-C51A-4F7A-B61A-6DD8889D1C54}"/>
                </a:ext>
              </a:extLst>
            </p:cNvPr>
            <p:cNvSpPr/>
            <p:nvPr/>
          </p:nvSpPr>
          <p:spPr>
            <a:xfrm>
              <a:off x="531742" y="1565336"/>
              <a:ext cx="1729172" cy="1060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Stations</a:t>
              </a:r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：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IT-Main-Front-L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IT-Main-Front-R</a:t>
              </a:r>
            </a:p>
          </p:txBody>
        </p:sp>
      </p:grpSp>
      <p:grpSp>
        <p:nvGrpSpPr>
          <p:cNvPr id="340" name="群組 339">
            <a:extLst>
              <a:ext uri="{FF2B5EF4-FFF2-40B4-BE49-F238E27FC236}">
                <a16:creationId xmlns:a16="http://schemas.microsoft.com/office/drawing/2014/main" id="{227FB430-C24D-434A-96BC-8E6951047BC0}"/>
              </a:ext>
            </a:extLst>
          </p:cNvPr>
          <p:cNvGrpSpPr/>
          <p:nvPr/>
        </p:nvGrpSpPr>
        <p:grpSpPr>
          <a:xfrm>
            <a:off x="10435148" y="6450600"/>
            <a:ext cx="1102131" cy="246221"/>
            <a:chOff x="253150" y="4694895"/>
            <a:chExt cx="1102131" cy="246221"/>
          </a:xfrm>
        </p:grpSpPr>
        <p:sp>
          <p:nvSpPr>
            <p:cNvPr id="341" name="五角星形 99">
              <a:extLst>
                <a:ext uri="{FF2B5EF4-FFF2-40B4-BE49-F238E27FC236}">
                  <a16:creationId xmlns:a16="http://schemas.microsoft.com/office/drawing/2014/main" id="{7F256A1C-502D-43F8-A4BD-60BFC0966FA9}"/>
                </a:ext>
              </a:extLst>
            </p:cNvPr>
            <p:cNvSpPr/>
            <p:nvPr/>
          </p:nvSpPr>
          <p:spPr>
            <a:xfrm>
              <a:off x="253150" y="4694895"/>
              <a:ext cx="220282" cy="21345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2" name="文字方塊 341">
              <a:extLst>
                <a:ext uri="{FF2B5EF4-FFF2-40B4-BE49-F238E27FC236}">
                  <a16:creationId xmlns:a16="http://schemas.microsoft.com/office/drawing/2014/main" id="{8CEBEC98-CC25-455B-A04D-A6B6A193B5EA}"/>
                </a:ext>
              </a:extLst>
            </p:cNvPr>
            <p:cNvSpPr txBox="1"/>
            <p:nvPr/>
          </p:nvSpPr>
          <p:spPr>
            <a:xfrm>
              <a:off x="467207" y="4694895"/>
              <a:ext cx="888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Last station</a:t>
              </a:r>
            </a:p>
          </p:txBody>
        </p:sp>
      </p:grpSp>
      <p:sp>
        <p:nvSpPr>
          <p:cNvPr id="343" name="文字方塊 342">
            <a:extLst>
              <a:ext uri="{FF2B5EF4-FFF2-40B4-BE49-F238E27FC236}">
                <a16:creationId xmlns:a16="http://schemas.microsoft.com/office/drawing/2014/main" id="{4F6E1A26-595F-4223-A254-DB86DEFF66C9}"/>
              </a:ext>
            </a:extLst>
          </p:cNvPr>
          <p:cNvSpPr txBox="1"/>
          <p:nvPr/>
        </p:nvSpPr>
        <p:spPr>
          <a:xfrm>
            <a:off x="8067619" y="6450600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dirty="0">
                <a:latin typeface="Calibri" panose="020F0502020204030204" pitchFamily="34" charset="0"/>
              </a:rPr>
              <a:t>Jackson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344" name="橢圓 96">
            <a:extLst>
              <a:ext uri="{FF2B5EF4-FFF2-40B4-BE49-F238E27FC236}">
                <a16:creationId xmlns:a16="http://schemas.microsoft.com/office/drawing/2014/main" id="{F19839C3-6FD7-4455-ABEC-FC38B241B439}"/>
              </a:ext>
            </a:extLst>
          </p:cNvPr>
          <p:cNvSpPr/>
          <p:nvPr/>
        </p:nvSpPr>
        <p:spPr>
          <a:xfrm>
            <a:off x="4679787" y="619058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5" name="向右箭號 52">
            <a:extLst>
              <a:ext uri="{FF2B5EF4-FFF2-40B4-BE49-F238E27FC236}">
                <a16:creationId xmlns:a16="http://schemas.microsoft.com/office/drawing/2014/main" id="{B2CACE9D-F4FD-4279-A4F3-0A5EAC4F1991}"/>
              </a:ext>
            </a:extLst>
          </p:cNvPr>
          <p:cNvSpPr/>
          <p:nvPr/>
        </p:nvSpPr>
        <p:spPr>
          <a:xfrm rot="10800000" flipH="1">
            <a:off x="4970910" y="6217879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6" name="向右箭號 52">
            <a:extLst>
              <a:ext uri="{FF2B5EF4-FFF2-40B4-BE49-F238E27FC236}">
                <a16:creationId xmlns:a16="http://schemas.microsoft.com/office/drawing/2014/main" id="{205EA27B-CE8E-49D4-A6C3-9DDE73090173}"/>
              </a:ext>
            </a:extLst>
          </p:cNvPr>
          <p:cNvSpPr/>
          <p:nvPr/>
        </p:nvSpPr>
        <p:spPr>
          <a:xfrm rot="10800000" flipH="1">
            <a:off x="3955088" y="6228810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7" name="文字方塊 346">
            <a:extLst>
              <a:ext uri="{FF2B5EF4-FFF2-40B4-BE49-F238E27FC236}">
                <a16:creationId xmlns:a16="http://schemas.microsoft.com/office/drawing/2014/main" id="{D3B6443E-FA26-4474-B636-027A84F8D33F}"/>
              </a:ext>
            </a:extLst>
          </p:cNvPr>
          <p:cNvSpPr txBox="1"/>
          <p:nvPr/>
        </p:nvSpPr>
        <p:spPr>
          <a:xfrm>
            <a:off x="4505142" y="6450599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48" name="文字方塊 121">
            <a:extLst>
              <a:ext uri="{FF2B5EF4-FFF2-40B4-BE49-F238E27FC236}">
                <a16:creationId xmlns:a16="http://schemas.microsoft.com/office/drawing/2014/main" id="{D678C4B3-D193-49A9-802E-F788BCF5F64F}"/>
              </a:ext>
            </a:extLst>
          </p:cNvPr>
          <p:cNvSpPr txBox="1"/>
          <p:nvPr/>
        </p:nvSpPr>
        <p:spPr>
          <a:xfrm>
            <a:off x="4209222" y="5696926"/>
            <a:ext cx="10759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SWDL-RB</a:t>
            </a:r>
          </a:p>
        </p:txBody>
      </p:sp>
      <p:sp>
        <p:nvSpPr>
          <p:cNvPr id="349" name="橢圓 96">
            <a:extLst>
              <a:ext uri="{FF2B5EF4-FFF2-40B4-BE49-F238E27FC236}">
                <a16:creationId xmlns:a16="http://schemas.microsoft.com/office/drawing/2014/main" id="{0304FD3D-79F7-4C18-90DA-AA653FDFE812}"/>
              </a:ext>
            </a:extLst>
          </p:cNvPr>
          <p:cNvSpPr/>
          <p:nvPr/>
        </p:nvSpPr>
        <p:spPr>
          <a:xfrm>
            <a:off x="6945655" y="6213587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0" name="向右箭號 52">
            <a:extLst>
              <a:ext uri="{FF2B5EF4-FFF2-40B4-BE49-F238E27FC236}">
                <a16:creationId xmlns:a16="http://schemas.microsoft.com/office/drawing/2014/main" id="{02430B62-A723-4145-9934-B252F5AF5CBE}"/>
              </a:ext>
            </a:extLst>
          </p:cNvPr>
          <p:cNvSpPr/>
          <p:nvPr/>
        </p:nvSpPr>
        <p:spPr>
          <a:xfrm rot="10800000" flipH="1">
            <a:off x="7245215" y="6206980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1" name="文字方塊 350">
            <a:extLst>
              <a:ext uri="{FF2B5EF4-FFF2-40B4-BE49-F238E27FC236}">
                <a16:creationId xmlns:a16="http://schemas.microsoft.com/office/drawing/2014/main" id="{76B3CCE6-34F1-4EDA-8183-EA163E9C419A}"/>
              </a:ext>
            </a:extLst>
          </p:cNvPr>
          <p:cNvSpPr txBox="1"/>
          <p:nvPr/>
        </p:nvSpPr>
        <p:spPr>
          <a:xfrm>
            <a:off x="6765379" y="6450599"/>
            <a:ext cx="554697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sz="1000" dirty="0">
                <a:latin typeface="Calibri" panose="020F0502020204030204" pitchFamily="34" charset="0"/>
              </a:rPr>
              <a:t>Grant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352" name="文字方塊 121">
            <a:extLst>
              <a:ext uri="{FF2B5EF4-FFF2-40B4-BE49-F238E27FC236}">
                <a16:creationId xmlns:a16="http://schemas.microsoft.com/office/drawing/2014/main" id="{51BC0370-D946-4A12-8694-2BCD7AE5807B}"/>
              </a:ext>
            </a:extLst>
          </p:cNvPr>
          <p:cNvSpPr txBox="1"/>
          <p:nvPr/>
        </p:nvSpPr>
        <p:spPr>
          <a:xfrm>
            <a:off x="6554643" y="5712997"/>
            <a:ext cx="10759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rgbClr val="7030A0"/>
                </a:solidFill>
                <a:latin typeface="Calibri" panose="020F0502020204030204" pitchFamily="34" charset="0"/>
              </a:rPr>
              <a:t>Log-Collection</a:t>
            </a:r>
          </a:p>
        </p:txBody>
      </p:sp>
      <p:sp>
        <p:nvSpPr>
          <p:cNvPr id="353" name="向右箭號 52">
            <a:extLst>
              <a:ext uri="{FF2B5EF4-FFF2-40B4-BE49-F238E27FC236}">
                <a16:creationId xmlns:a16="http://schemas.microsoft.com/office/drawing/2014/main" id="{35D4AAAD-84A5-4E3D-B372-E233EE9041D4}"/>
              </a:ext>
            </a:extLst>
          </p:cNvPr>
          <p:cNvSpPr/>
          <p:nvPr/>
        </p:nvSpPr>
        <p:spPr>
          <a:xfrm rot="10800000" flipH="1">
            <a:off x="6218786" y="6212131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54" name="橢圓 96">
            <a:extLst>
              <a:ext uri="{FF2B5EF4-FFF2-40B4-BE49-F238E27FC236}">
                <a16:creationId xmlns:a16="http://schemas.microsoft.com/office/drawing/2014/main" id="{DE648286-9C4F-4BFA-8DFE-60B5B0BB41EC}"/>
              </a:ext>
            </a:extLst>
          </p:cNvPr>
          <p:cNvSpPr/>
          <p:nvPr/>
        </p:nvSpPr>
        <p:spPr>
          <a:xfrm>
            <a:off x="8276925" y="620195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355" name="群組 354">
            <a:extLst>
              <a:ext uri="{FF2B5EF4-FFF2-40B4-BE49-F238E27FC236}">
                <a16:creationId xmlns:a16="http://schemas.microsoft.com/office/drawing/2014/main" id="{10272642-F783-4476-A550-A538EE005C70}"/>
              </a:ext>
            </a:extLst>
          </p:cNvPr>
          <p:cNvGrpSpPr/>
          <p:nvPr/>
        </p:nvGrpSpPr>
        <p:grpSpPr>
          <a:xfrm>
            <a:off x="9349600" y="5036745"/>
            <a:ext cx="1887587" cy="1084468"/>
            <a:chOff x="373327" y="1565336"/>
            <a:chExt cx="1887587" cy="1472602"/>
          </a:xfrm>
        </p:grpSpPr>
        <p:sp>
          <p:nvSpPr>
            <p:cNvPr id="356" name="文字方塊 355">
              <a:extLst>
                <a:ext uri="{FF2B5EF4-FFF2-40B4-BE49-F238E27FC236}">
                  <a16:creationId xmlns:a16="http://schemas.microsoft.com/office/drawing/2014/main" id="{1B5EED35-4176-48E3-BEEC-06FA13DE491D}"/>
                </a:ext>
              </a:extLst>
            </p:cNvPr>
            <p:cNvSpPr txBox="1"/>
            <p:nvPr/>
          </p:nvSpPr>
          <p:spPr>
            <a:xfrm>
              <a:off x="373327" y="2714875"/>
              <a:ext cx="161361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sz="1000" dirty="0"/>
                <a:t>IT Function</a:t>
              </a:r>
            </a:p>
          </p:txBody>
        </p:sp>
        <p:sp>
          <p:nvSpPr>
            <p:cNvPr id="357" name="矩形 356">
              <a:extLst>
                <a:ext uri="{FF2B5EF4-FFF2-40B4-BE49-F238E27FC236}">
                  <a16:creationId xmlns:a16="http://schemas.microsoft.com/office/drawing/2014/main" id="{5EBF39D8-2F6F-4214-9180-16EE3BDAE63E}"/>
                </a:ext>
              </a:extLst>
            </p:cNvPr>
            <p:cNvSpPr/>
            <p:nvPr/>
          </p:nvSpPr>
          <p:spPr>
            <a:xfrm>
              <a:off x="478090" y="2668556"/>
              <a:ext cx="1515910" cy="369382"/>
            </a:xfrm>
            <a:prstGeom prst="rect">
              <a:avLst/>
            </a:prstGeom>
            <a:noFill/>
            <a:ln w="22225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58" name="直線單箭頭接點 357">
              <a:extLst>
                <a:ext uri="{FF2B5EF4-FFF2-40B4-BE49-F238E27FC236}">
                  <a16:creationId xmlns:a16="http://schemas.microsoft.com/office/drawing/2014/main" id="{BD053E1F-2FB5-4C19-8B71-DC6CA3FFCFE5}"/>
                </a:ext>
              </a:extLst>
            </p:cNvPr>
            <p:cNvCxnSpPr/>
            <p:nvPr/>
          </p:nvCxnSpPr>
          <p:spPr>
            <a:xfrm flipV="1">
              <a:off x="464101" y="1642188"/>
              <a:ext cx="2430" cy="964942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id="{D025B6B4-906E-4345-9744-8A8B870A7307}"/>
                </a:ext>
              </a:extLst>
            </p:cNvPr>
            <p:cNvSpPr/>
            <p:nvPr/>
          </p:nvSpPr>
          <p:spPr>
            <a:xfrm>
              <a:off x="531742" y="1565336"/>
              <a:ext cx="1729172" cy="106009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Stations</a:t>
              </a:r>
              <a:r>
                <a:rPr lang="zh-CN" altLang="en-US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：</a:t>
              </a:r>
              <a:endParaRPr lang="en-US" altLang="zh-CN" sz="1000" b="1" dirty="0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IT-Main-Rear-L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IT-Main-Rear-R</a:t>
              </a:r>
            </a:p>
            <a:p>
              <a:pPr marL="228600" indent="-228600">
                <a:lnSpc>
                  <a:spcPct val="120000"/>
                </a:lnSpc>
                <a:buFont typeface="+mj-lt"/>
                <a:buAutoNum type="arabicPeriod"/>
              </a:pPr>
              <a:r>
                <a:rPr lang="en-US" altLang="zh-CN" sz="1000" b="1" dirty="0">
                  <a:solidFill>
                    <a:srgbClr val="7030A0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IT-Frame-Front-L&amp;R</a:t>
              </a:r>
            </a:p>
          </p:txBody>
        </p:sp>
      </p:grpSp>
      <p:sp>
        <p:nvSpPr>
          <p:cNvPr id="360" name="文字方塊 359">
            <a:extLst>
              <a:ext uri="{FF2B5EF4-FFF2-40B4-BE49-F238E27FC236}">
                <a16:creationId xmlns:a16="http://schemas.microsoft.com/office/drawing/2014/main" id="{BDE2C83F-AECE-4D11-A036-3E33F798007F}"/>
              </a:ext>
            </a:extLst>
          </p:cNvPr>
          <p:cNvSpPr txBox="1"/>
          <p:nvPr/>
        </p:nvSpPr>
        <p:spPr>
          <a:xfrm>
            <a:off x="9813750" y="6453005"/>
            <a:ext cx="591829" cy="246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CN" dirty="0">
                <a:latin typeface="Calibri" panose="020F0502020204030204" pitchFamily="34" charset="0"/>
              </a:rPr>
              <a:t>Jackson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361" name="橢圓 96">
            <a:extLst>
              <a:ext uri="{FF2B5EF4-FFF2-40B4-BE49-F238E27FC236}">
                <a16:creationId xmlns:a16="http://schemas.microsoft.com/office/drawing/2014/main" id="{3BC8F875-7EF7-4D10-A131-B52F4A2A0B63}"/>
              </a:ext>
            </a:extLst>
          </p:cNvPr>
          <p:cNvSpPr/>
          <p:nvPr/>
        </p:nvSpPr>
        <p:spPr>
          <a:xfrm>
            <a:off x="9970256" y="620855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2" name="矩形: 圓角 2">
            <a:extLst>
              <a:ext uri="{FF2B5EF4-FFF2-40B4-BE49-F238E27FC236}">
                <a16:creationId xmlns:a16="http://schemas.microsoft.com/office/drawing/2014/main" id="{EE899BAE-ABF1-4A6C-9DCC-0A95395C49B9}"/>
              </a:ext>
            </a:extLst>
          </p:cNvPr>
          <p:cNvSpPr/>
          <p:nvPr/>
        </p:nvSpPr>
        <p:spPr>
          <a:xfrm>
            <a:off x="207708" y="5592327"/>
            <a:ext cx="2749290" cy="116470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3" name="文字方塊 362">
            <a:extLst>
              <a:ext uri="{FF2B5EF4-FFF2-40B4-BE49-F238E27FC236}">
                <a16:creationId xmlns:a16="http://schemas.microsoft.com/office/drawing/2014/main" id="{60CE40E0-0B46-4DD5-8F1E-E4CE4BCC2D2A}"/>
              </a:ext>
            </a:extLst>
          </p:cNvPr>
          <p:cNvSpPr txBox="1"/>
          <p:nvPr/>
        </p:nvSpPr>
        <p:spPr>
          <a:xfrm>
            <a:off x="997504" y="5357047"/>
            <a:ext cx="1147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New in pEVT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4" name="矩形: 圓角 2">
            <a:extLst>
              <a:ext uri="{FF2B5EF4-FFF2-40B4-BE49-F238E27FC236}">
                <a16:creationId xmlns:a16="http://schemas.microsoft.com/office/drawing/2014/main" id="{E224F9D5-4C34-4543-8971-804FA26FFB4C}"/>
              </a:ext>
            </a:extLst>
          </p:cNvPr>
          <p:cNvSpPr/>
          <p:nvPr/>
        </p:nvSpPr>
        <p:spPr>
          <a:xfrm>
            <a:off x="7451405" y="5042360"/>
            <a:ext cx="4103311" cy="169734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5" name="向右箭號 52">
            <a:extLst>
              <a:ext uri="{FF2B5EF4-FFF2-40B4-BE49-F238E27FC236}">
                <a16:creationId xmlns:a16="http://schemas.microsoft.com/office/drawing/2014/main" id="{1002C7B2-6334-4CEB-ABC4-7D7D467CC77D}"/>
              </a:ext>
            </a:extLst>
          </p:cNvPr>
          <p:cNvSpPr/>
          <p:nvPr/>
        </p:nvSpPr>
        <p:spPr>
          <a:xfrm rot="10800000" flipH="1">
            <a:off x="9088407" y="6228811"/>
            <a:ext cx="468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6" name="文字方塊 365">
            <a:extLst>
              <a:ext uri="{FF2B5EF4-FFF2-40B4-BE49-F238E27FC236}">
                <a16:creationId xmlns:a16="http://schemas.microsoft.com/office/drawing/2014/main" id="{7D163887-F16D-4BCE-AB91-28117428CA41}"/>
              </a:ext>
            </a:extLst>
          </p:cNvPr>
          <p:cNvSpPr txBox="1"/>
          <p:nvPr/>
        </p:nvSpPr>
        <p:spPr>
          <a:xfrm>
            <a:off x="8737309" y="4855684"/>
            <a:ext cx="1147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New in pEVT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9390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8887677" y="767409"/>
            <a:ext cx="1807794" cy="603100"/>
            <a:chOff x="8887677" y="767409"/>
            <a:chExt cx="1807794" cy="671762"/>
          </a:xfrm>
        </p:grpSpPr>
        <p:sp>
          <p:nvSpPr>
            <p:cNvPr id="3" name="文字方塊 2"/>
            <p:cNvSpPr txBox="1"/>
            <p:nvPr/>
          </p:nvSpPr>
          <p:spPr>
            <a:xfrm>
              <a:off x="9575561" y="830911"/>
              <a:ext cx="1119910" cy="274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1000" b="1" dirty="0">
                <a:solidFill>
                  <a:schemeClr val="accent1">
                    <a:lumMod val="75000"/>
                  </a:schemeClr>
                </a:solidFill>
                <a:latin typeface="Microsoft YaHai"/>
                <a:ea typeface="微軟正黑體" panose="020B0604030504040204" pitchFamily="34" charset="-120"/>
              </a:endParaRPr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9545502" y="976638"/>
              <a:ext cx="11199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軟體防呆</a:t>
              </a:r>
              <a:endParaRPr lang="zh-TW" altLang="en-US" sz="1000" b="1" dirty="0">
                <a:solidFill>
                  <a:schemeClr val="accent2">
                    <a:lumMod val="75000"/>
                  </a:schemeClr>
                </a:solidFill>
                <a:latin typeface="Microsoft YaHai"/>
                <a:ea typeface="微軟正黑體" panose="020B0604030504040204" pitchFamily="34" charset="-120"/>
              </a:endParaRPr>
            </a:p>
          </p:txBody>
        </p:sp>
        <p:cxnSp>
          <p:nvCxnSpPr>
            <p:cNvPr id="6" name="直線單箭頭接點 5"/>
            <p:cNvCxnSpPr/>
            <p:nvPr/>
          </p:nvCxnSpPr>
          <p:spPr>
            <a:xfrm rot="5400000" flipV="1">
              <a:off x="9347502" y="894732"/>
              <a:ext cx="0" cy="39600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8887677" y="767409"/>
              <a:ext cx="1595518" cy="67176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latin typeface="Microsoft YaHai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10658673" y="599178"/>
            <a:ext cx="1706622" cy="1108041"/>
            <a:chOff x="10656374" y="702459"/>
            <a:chExt cx="1706622" cy="1108041"/>
          </a:xfrm>
        </p:grpSpPr>
        <p:sp>
          <p:nvSpPr>
            <p:cNvPr id="11" name="矩形 10"/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12" name="Picture 1" descr="C:\Users\28243\AppData\Local\SuperNotes\a.nina.yh.huang@mail.foxconn.com\mid\B3FCFAA1-3FB0-4647-906A-2B0D9963BB36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橢圓 12"/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5" name="橢圓 14"/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8" name="Picture 2" descr="C:\Users\28243\AppData\Local\SuperNotes\a.nina.yh.huang@mail.foxconn.com\mid\873A1660-8BE1-4A64-B5AD-E45092EAA33A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群組 18"/>
          <p:cNvGrpSpPr/>
          <p:nvPr/>
        </p:nvGrpSpPr>
        <p:grpSpPr>
          <a:xfrm>
            <a:off x="10718193" y="1713950"/>
            <a:ext cx="671722" cy="246221"/>
            <a:chOff x="8079283" y="757557"/>
            <a:chExt cx="671722" cy="246221"/>
          </a:xfrm>
        </p:grpSpPr>
        <p:sp>
          <p:nvSpPr>
            <p:cNvPr id="20" name="矩形 19"/>
            <p:cNvSpPr/>
            <p:nvPr/>
          </p:nvSpPr>
          <p:spPr>
            <a:xfrm>
              <a:off x="8079283" y="798601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8260793" y="757557"/>
              <a:ext cx="490212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27" name="文字方塊 26"/>
          <p:cNvSpPr txBox="1"/>
          <p:nvPr/>
        </p:nvSpPr>
        <p:spPr>
          <a:xfrm>
            <a:off x="216897" y="2640987"/>
            <a:ext cx="1933522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Microsoft YaHai"/>
              </a:rPr>
              <a:t>OP</a:t>
            </a:r>
            <a:r>
              <a:rPr lang="zh-CN" altLang="en-US" sz="1000" dirty="0">
                <a:latin typeface="Microsoft YaHai"/>
              </a:rPr>
              <a:t>根據報告紙判斷是否完成測試，</a:t>
            </a:r>
            <a:r>
              <a:rPr lang="zh-TW" altLang="en-US" sz="1000" dirty="0">
                <a:latin typeface="Microsoft YaHai"/>
              </a:rPr>
              <a:t>將</a:t>
            </a:r>
            <a:r>
              <a:rPr lang="zh-CN" altLang="en-US" sz="1000" dirty="0">
                <a:latin typeface="Microsoft YaHai"/>
              </a:rPr>
              <a:t>完成工站測試的機台放置在</a:t>
            </a:r>
            <a:r>
              <a:rPr lang="en-US" altLang="zh-CN" sz="1000" dirty="0">
                <a:latin typeface="Microsoft YaHai"/>
              </a:rPr>
              <a:t>&lt;</a:t>
            </a:r>
            <a:r>
              <a:rPr lang="zh-CN" altLang="en-US" sz="1000" dirty="0">
                <a:latin typeface="Microsoft YaHai"/>
              </a:rPr>
              <a:t>待出報告</a:t>
            </a:r>
            <a:r>
              <a:rPr lang="en-US" altLang="zh-CN" sz="1000" dirty="0">
                <a:latin typeface="Microsoft YaHai"/>
              </a:rPr>
              <a:t>&gt;</a:t>
            </a:r>
            <a:r>
              <a:rPr lang="zh-CN" altLang="en-US" sz="1000" dirty="0">
                <a:latin typeface="Microsoft YaHai"/>
              </a:rPr>
              <a:t>貨架</a:t>
            </a:r>
            <a:endParaRPr lang="en-US" altLang="zh-TW" sz="1000" dirty="0">
              <a:latin typeface="Microsoft YaHai"/>
            </a:endParaRPr>
          </a:p>
        </p:txBody>
      </p:sp>
      <p:sp>
        <p:nvSpPr>
          <p:cNvPr id="39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1824992" y="329466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3387553" y="328533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4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4888523" y="327011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0985640" y="3118423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6343944" y="327944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2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8005081" y="3263266"/>
            <a:ext cx="875870" cy="13280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4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5859345" y="324993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129567" y="2802353"/>
            <a:ext cx="1645708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將初版</a:t>
            </a:r>
            <a:r>
              <a:rPr lang="en-US" altLang="zh-CN" sz="1000" dirty="0">
                <a:latin typeface="Calibri" panose="020F0502020204030204" pitchFamily="34" charset="0"/>
              </a:rPr>
              <a:t>Report</a:t>
            </a:r>
            <a:r>
              <a:rPr lang="zh-CN" altLang="en-US" sz="1000" dirty="0">
                <a:latin typeface="Calibri" panose="020F0502020204030204" pitchFamily="34" charset="0"/>
              </a:rPr>
              <a:t>發送給各</a:t>
            </a:r>
            <a:r>
              <a:rPr lang="en-US" altLang="zh-CN" sz="1000" dirty="0">
                <a:latin typeface="Calibri" panose="020F0502020204030204" pitchFamily="34" charset="0"/>
              </a:rPr>
              <a:t>Function</a:t>
            </a:r>
            <a:r>
              <a:rPr lang="zh-CN" altLang="en-US" sz="1000" dirty="0">
                <a:latin typeface="Calibri" panose="020F0502020204030204" pitchFamily="34" charset="0"/>
              </a:rPr>
              <a:t>確認數據</a:t>
            </a:r>
            <a:endParaRPr lang="en-US" altLang="zh-CN" sz="1000" dirty="0">
              <a:latin typeface="Calibri" panose="020F0502020204030204" pitchFamily="34" charset="0"/>
            </a:endParaRPr>
          </a:p>
        </p:txBody>
      </p:sp>
      <p:sp>
        <p:nvSpPr>
          <p:cNvPr id="5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9842323" y="3275786"/>
            <a:ext cx="875870" cy="13280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042091" y="3502073"/>
            <a:ext cx="864339" cy="246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CN" dirty="0">
                <a:latin typeface="Calibri" panose="020F0502020204030204" pitchFamily="34" charset="0"/>
              </a:rPr>
              <a:t>Function DRI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sp>
        <p:nvSpPr>
          <p:cNvPr id="58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9305816" y="3249933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0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5400000">
            <a:off x="10709396" y="4407102"/>
            <a:ext cx="775335" cy="132684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8602317" y="2787001"/>
            <a:ext cx="153753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匯總終版報告，發送到</a:t>
            </a:r>
            <a:r>
              <a:rPr lang="en-US" altLang="zh-CN" sz="1000" dirty="0" err="1">
                <a:latin typeface="Calibri" panose="020F0502020204030204" pitchFamily="34" charset="0"/>
              </a:rPr>
              <a:t>Rel</a:t>
            </a:r>
            <a:r>
              <a:rPr lang="en-US" altLang="zh-CN" sz="1000" dirty="0">
                <a:latin typeface="Calibri" panose="020F0502020204030204" pitchFamily="34" charset="0"/>
              </a:rPr>
              <a:t>-Report Team</a:t>
            </a:r>
          </a:p>
        </p:txBody>
      </p:sp>
      <p:sp>
        <p:nvSpPr>
          <p:cNvPr id="67" name="文字方塊 66"/>
          <p:cNvSpPr txBox="1"/>
          <p:nvPr/>
        </p:nvSpPr>
        <p:spPr>
          <a:xfrm>
            <a:off x="10352462" y="2779890"/>
            <a:ext cx="153753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 err="1">
                <a:latin typeface="Microsoft YaHai"/>
              </a:rPr>
              <a:t>iMES</a:t>
            </a:r>
            <a:r>
              <a:rPr lang="en-US" altLang="zh-CN" sz="1000" dirty="0">
                <a:latin typeface="Microsoft YaHai"/>
              </a:rPr>
              <a:t> &amp; Summary</a:t>
            </a:r>
          </a:p>
          <a:p>
            <a:r>
              <a:rPr lang="en-US" altLang="zh-CN" sz="1000" dirty="0">
                <a:latin typeface="Microsoft YaHai"/>
              </a:rPr>
              <a:t>Out</a:t>
            </a:r>
            <a:endParaRPr lang="en-US" altLang="zh-TW" sz="1000" dirty="0">
              <a:latin typeface="Microsoft YaHai"/>
            </a:endParaRPr>
          </a:p>
        </p:txBody>
      </p:sp>
      <p:sp>
        <p:nvSpPr>
          <p:cNvPr id="68" name="向右箭號 52">
            <a:extLst>
              <a:ext uri="{FF2B5EF4-FFF2-40B4-BE49-F238E27FC236}">
                <a16:creationId xmlns:a16="http://schemas.microsoft.com/office/drawing/2014/main" id="{3CA96C36-E44A-E74E-9568-C412E7795F40}"/>
              </a:ext>
            </a:extLst>
          </p:cNvPr>
          <p:cNvSpPr/>
          <p:nvPr/>
        </p:nvSpPr>
        <p:spPr>
          <a:xfrm flipH="1">
            <a:off x="9919900" y="5680293"/>
            <a:ext cx="693191" cy="15131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9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9129251" y="5639572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8428824" y="4915709"/>
            <a:ext cx="1537535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在</a:t>
            </a:r>
            <a:r>
              <a:rPr lang="en-US" altLang="zh-CN" sz="1000" dirty="0" err="1">
                <a:latin typeface="Calibri" panose="020F0502020204030204" pitchFamily="34" charset="0"/>
              </a:rPr>
              <a:t>iMES</a:t>
            </a:r>
            <a:r>
              <a:rPr lang="zh-CN" altLang="en-US" sz="1000" dirty="0">
                <a:latin typeface="Calibri" panose="020F0502020204030204" pitchFamily="34" charset="0"/>
              </a:rPr>
              <a:t>系統內判定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>
                <a:latin typeface="Calibri" panose="020F0502020204030204" pitchFamily="34" charset="0"/>
              </a:rPr>
              <a:t>T0</a:t>
            </a:r>
            <a:r>
              <a:rPr lang="zh-CN" altLang="en-US" sz="1000" dirty="0">
                <a:latin typeface="Calibri" panose="020F0502020204030204" pitchFamily="34" charset="0"/>
              </a:rPr>
              <a:t>機台的測試結果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zh-CN" altLang="en-US" sz="1000" dirty="0">
                <a:latin typeface="Calibri" panose="020F0502020204030204" pitchFamily="34" charset="0"/>
              </a:rPr>
              <a:t>並通知</a:t>
            </a:r>
            <a:r>
              <a:rPr lang="en-US" altLang="zh-CN" sz="1000" dirty="0" err="1">
                <a:latin typeface="Calibri" panose="020F0502020204030204" pitchFamily="34" charset="0"/>
              </a:rPr>
              <a:t>Rel</a:t>
            </a:r>
            <a:r>
              <a:rPr lang="en-US" altLang="zh-CN" sz="1000" dirty="0">
                <a:latin typeface="Calibri" panose="020F0502020204030204" pitchFamily="34" charset="0"/>
              </a:rPr>
              <a:t>-Report Team</a:t>
            </a:r>
            <a:r>
              <a:rPr lang="zh-CN" altLang="en-US" sz="1000" dirty="0">
                <a:latin typeface="Calibri" panose="020F0502020204030204" pitchFamily="34" charset="0"/>
              </a:rPr>
              <a:t>進行</a:t>
            </a:r>
            <a:r>
              <a:rPr lang="en-US" altLang="zh-CN" sz="1000" dirty="0">
                <a:latin typeface="Calibri" panose="020F0502020204030204" pitchFamily="34" charset="0"/>
              </a:rPr>
              <a:t>WF</a:t>
            </a:r>
            <a:r>
              <a:rPr lang="zh-CN" altLang="en-US" sz="1000" dirty="0">
                <a:latin typeface="Calibri" panose="020F0502020204030204" pitchFamily="34" charset="0"/>
              </a:rPr>
              <a:t>分配</a:t>
            </a:r>
            <a:endParaRPr lang="zh-TW" altLang="en-US" sz="1000" dirty="0">
              <a:latin typeface="Calibri" panose="020F0502020204030204" pitchFamily="34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2230016" y="2800250"/>
            <a:ext cx="1576873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數據組下載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>
                <a:latin typeface="Calibri" panose="020F0502020204030204" pitchFamily="34" charset="0"/>
              </a:rPr>
              <a:t>SFC-bobcat</a:t>
            </a:r>
            <a:r>
              <a:rPr lang="zh-CN" altLang="en-US" sz="1000" dirty="0">
                <a:latin typeface="Calibri" panose="020F0502020204030204" pitchFamily="34" charset="0"/>
              </a:rPr>
              <a:t>數據</a:t>
            </a:r>
            <a:endParaRPr lang="zh-TW" altLang="en-US" sz="1000" dirty="0">
              <a:latin typeface="Calibri" panose="020F0502020204030204" pitchFamily="34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3687933" y="2793879"/>
            <a:ext cx="153753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Script</a:t>
            </a:r>
            <a:r>
              <a:rPr lang="zh-CN" altLang="en-US" sz="1000" dirty="0">
                <a:latin typeface="Calibri" panose="020F0502020204030204" pitchFamily="34" charset="0"/>
              </a:rPr>
              <a:t>生成</a:t>
            </a:r>
            <a:r>
              <a:rPr lang="en-US" altLang="zh-CN" sz="1000" dirty="0" err="1">
                <a:latin typeface="Calibri" panose="020F0502020204030204" pitchFamily="34" charset="0"/>
              </a:rPr>
              <a:t>Miniline</a:t>
            </a:r>
            <a:r>
              <a:rPr lang="en-US" altLang="zh-CN" sz="1000" dirty="0">
                <a:latin typeface="Calibri" panose="020F0502020204030204" pitchFamily="34" charset="0"/>
              </a:rPr>
              <a:t> Test Report –</a:t>
            </a:r>
            <a:r>
              <a:rPr lang="zh-CN" altLang="en-US" sz="1000" dirty="0">
                <a:latin typeface="Calibri" panose="020F0502020204030204" pitchFamily="34" charset="0"/>
              </a:rPr>
              <a:t>初版</a:t>
            </a:r>
            <a:endParaRPr lang="zh-TW" altLang="en-US" sz="1000" dirty="0">
              <a:latin typeface="Calibri" panose="020F0502020204030204" pitchFamily="34" charset="0"/>
            </a:endParaRPr>
          </a:p>
        </p:txBody>
      </p:sp>
      <p:sp>
        <p:nvSpPr>
          <p:cNvPr id="81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8475229" y="4824884"/>
            <a:ext cx="1440695" cy="1460066"/>
          </a:xfrm>
          <a:prstGeom prst="roundRect">
            <a:avLst/>
          </a:prstGeom>
          <a:noFill/>
          <a:ln w="1905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FDC72C57-109A-4B57-B1C9-7FC819455723}"/>
              </a:ext>
            </a:extLst>
          </p:cNvPr>
          <p:cNvSpPr txBox="1"/>
          <p:nvPr/>
        </p:nvSpPr>
        <p:spPr>
          <a:xfrm>
            <a:off x="8873264" y="6284950"/>
            <a:ext cx="865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92D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T0 </a:t>
            </a:r>
            <a:r>
              <a:rPr lang="en-US" altLang="zh-CN" sz="1200" dirty="0">
                <a:solidFill>
                  <a:srgbClr val="92D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only</a:t>
            </a:r>
            <a:endParaRPr lang="zh-TW" altLang="en-US" sz="1200" dirty="0">
              <a:solidFill>
                <a:srgbClr val="92D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3" name="物件 82">
            <a:hlinkClick r:id="" action="ppaction://ole?verb=0"/>
            <a:extLst>
              <a:ext uri="{FF2B5EF4-FFF2-40B4-BE49-F238E27FC236}">
                <a16:creationId xmlns:a16="http://schemas.microsoft.com/office/drawing/2014/main" id="{9B216C60-0A66-42D9-BB51-92594508D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096" y="1731528"/>
          <a:ext cx="577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Presentation" r:id="rId6" imgW="6096186" imgH="3429123" progId="PowerPoint.Show.12">
                  <p:embed/>
                </p:oleObj>
              </mc:Choice>
              <mc:Fallback>
                <p:oleObj name="Presentation" r:id="rId6" imgW="6096186" imgH="3429123" progId="PowerPoint.Show.12">
                  <p:embed/>
                  <p:pic>
                    <p:nvPicPr>
                      <p:cNvPr id="83" name="物件 8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9B216C60-0A66-42D9-BB51-92594508D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30096" y="1731528"/>
                        <a:ext cx="577850" cy="32385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群組 23"/>
          <p:cNvGrpSpPr/>
          <p:nvPr/>
        </p:nvGrpSpPr>
        <p:grpSpPr>
          <a:xfrm>
            <a:off x="6748598" y="1787043"/>
            <a:ext cx="2717796" cy="1364671"/>
            <a:chOff x="5097082" y="817522"/>
            <a:chExt cx="2717796" cy="1364671"/>
          </a:xfrm>
        </p:grpSpPr>
        <p:sp>
          <p:nvSpPr>
            <p:cNvPr id="35" name="文字方塊 34"/>
            <p:cNvSpPr txBox="1"/>
            <p:nvPr/>
          </p:nvSpPr>
          <p:spPr>
            <a:xfrm>
              <a:off x="5097082" y="1867230"/>
              <a:ext cx="1537535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50" b="1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defRPr>
              </a:lvl1pPr>
            </a:lstStyle>
            <a:p>
              <a:r>
                <a:rPr lang="zh-CN" altLang="en-US" sz="1000" dirty="0">
                  <a:latin typeface="Calibri" panose="020F0502020204030204" pitchFamily="34" charset="0"/>
                </a:rPr>
                <a:t>工站數據確認</a:t>
              </a:r>
              <a:endParaRPr lang="en-US" altLang="zh-CN" sz="1000" dirty="0">
                <a:latin typeface="Calibri" panose="020F0502020204030204" pitchFamily="34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248893" y="1832832"/>
              <a:ext cx="1235703" cy="349361"/>
            </a:xfrm>
            <a:prstGeom prst="rect">
              <a:avLst/>
            </a:prstGeom>
            <a:noFill/>
            <a:ln w="22225">
              <a:solidFill>
                <a:srgbClr val="FF99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89" name="直線單箭頭接點 88"/>
            <p:cNvCxnSpPr/>
            <p:nvPr/>
          </p:nvCxnSpPr>
          <p:spPr>
            <a:xfrm flipV="1">
              <a:off x="5250105" y="1007705"/>
              <a:ext cx="3032" cy="93152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/>
            <p:cNvSpPr/>
            <p:nvPr/>
          </p:nvSpPr>
          <p:spPr>
            <a:xfrm>
              <a:off x="5209087" y="817522"/>
              <a:ext cx="2605791" cy="81459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28600" indent="-228600">
                <a:lnSpc>
                  <a:spcPct val="120000"/>
                </a:lnSpc>
                <a:buAutoNum type="arabicPeriod"/>
              </a:pP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Script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確認工站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Test Mode/Overlay/OTA </a:t>
              </a:r>
              <a:r>
                <a:rPr lang="en-US" altLang="zh-CN" sz="1000" b="1" dirty="0" err="1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Wipas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 Version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等數據是否正確</a:t>
              </a:r>
              <a:endParaRPr lang="en-US" altLang="zh-CN" sz="1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AutoNum type="arabicPeriod"/>
              </a:pP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Script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確認是否漏測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/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是否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AAB or AAA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測試</a:t>
              </a:r>
              <a:endParaRPr lang="en-US" altLang="zh-CN" sz="1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AutoNum type="arabicPeriod"/>
              </a:pPr>
              <a:r>
                <a:rPr lang="zh-CN" altLang="en-US" sz="1000" b="1" dirty="0">
                  <a:solidFill>
                    <a:schemeClr val="tx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確認</a:t>
              </a:r>
              <a:r>
                <a:rPr lang="en-US" altLang="zh-CN" sz="1000" b="1" dirty="0">
                  <a:solidFill>
                    <a:schemeClr val="tx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</a:t>
              </a:r>
              <a:r>
                <a:rPr lang="zh-CN" altLang="en-US" sz="1000" b="1" dirty="0">
                  <a:solidFill>
                    <a:schemeClr val="tx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項數據是否需補測</a:t>
              </a:r>
              <a:endParaRPr lang="en-US" altLang="zh-CN" sz="1000" b="1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 marL="228600" indent="-228600">
                <a:lnSpc>
                  <a:spcPct val="120000"/>
                </a:lnSpc>
                <a:buAutoNum type="arabicPeriod"/>
              </a:pPr>
              <a:r>
                <a:rPr lang="zh-CN" altLang="en-US" sz="1000" b="1" dirty="0">
                  <a:solidFill>
                    <a:schemeClr val="tx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回傳確認完成的數據</a:t>
              </a:r>
            </a:p>
          </p:txBody>
        </p:sp>
      </p:grpSp>
      <p:sp>
        <p:nvSpPr>
          <p:cNvPr id="108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15998" y="75958"/>
            <a:ext cx="7967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 line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 </a:t>
            </a:r>
            <a:r>
              <a:rPr kumimoji="1" lang="en-US" altLang="zh-CN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Data &amp; Report</a:t>
            </a:r>
            <a:r>
              <a:rPr kumimoji="1" lang="en-US" altLang="zh-CN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kumimoji="1" lang="zh-CN" altLang="en-US" sz="28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7409396" y="3238946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aphicFrame>
        <p:nvGraphicFramePr>
          <p:cNvPr id="110" name="物件 109">
            <a:hlinkClick r:id="" action="ppaction://ole?verb=0"/>
            <a:extLst>
              <a:ext uri="{FF2B5EF4-FFF2-40B4-BE49-F238E27FC236}">
                <a16:creationId xmlns:a16="http://schemas.microsoft.com/office/drawing/2014/main" id="{9B216C60-0A66-42D9-BB51-92594508D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808360"/>
              </p:ext>
            </p:extLst>
          </p:nvPr>
        </p:nvGraphicFramePr>
        <p:xfrm>
          <a:off x="1294079" y="1488890"/>
          <a:ext cx="577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Presentation" r:id="rId8" imgW="6096186" imgH="3429123" progId="PowerPoint.Show.12">
                  <p:embed/>
                </p:oleObj>
              </mc:Choice>
              <mc:Fallback>
                <p:oleObj name="Presentation" r:id="rId8" imgW="6096186" imgH="3429123" progId="PowerPoint.Show.12">
                  <p:embed/>
                  <p:pic>
                    <p:nvPicPr>
                      <p:cNvPr id="110" name="物件 10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9B216C60-0A66-42D9-BB51-92594508D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94079" y="1488890"/>
                        <a:ext cx="577850" cy="32385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文字方塊 90"/>
          <p:cNvSpPr txBox="1"/>
          <p:nvPr/>
        </p:nvSpPr>
        <p:spPr>
          <a:xfrm>
            <a:off x="511527" y="757981"/>
            <a:ext cx="4895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15000"/>
              <a:buFont typeface="微軟正黑體" panose="020B0604030504040204" pitchFamily="34" charset="-120"/>
              <a:buChar char="›"/>
            </a:pPr>
            <a:r>
              <a:rPr lang="en-US" altLang="zh-CN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Mini line</a:t>
            </a:r>
            <a:r>
              <a:rPr lang="zh-CN" altLang="en-US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工站測試數據確認核對及異常處理流程</a:t>
            </a:r>
            <a:endParaRPr lang="en-US" altLang="zh-CN" sz="16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marL="285750" indent="-285750">
              <a:buSzPct val="115000"/>
              <a:buFont typeface="微軟正黑體" panose="020B0604030504040204" pitchFamily="34" charset="-120"/>
              <a:buChar char="›"/>
            </a:pPr>
            <a:r>
              <a:rPr lang="en-US" altLang="zh-CN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Mini line</a:t>
            </a:r>
            <a:r>
              <a:rPr lang="zh-CN" altLang="en-US" sz="16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測試報告產出流程</a:t>
            </a:r>
            <a:endParaRPr lang="zh-TW" altLang="en-US" sz="16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946214" y="3498116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93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1127625" y="326389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4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2866229" y="325767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2703479" y="3501227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97" name="文字方塊 96"/>
          <p:cNvSpPr txBox="1"/>
          <p:nvPr/>
        </p:nvSpPr>
        <p:spPr>
          <a:xfrm>
            <a:off x="4190156" y="3504337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101" name="文字方塊 100"/>
          <p:cNvSpPr txBox="1"/>
          <p:nvPr/>
        </p:nvSpPr>
        <p:spPr>
          <a:xfrm>
            <a:off x="5676833" y="3498116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102" name="橢圓 101"/>
          <p:cNvSpPr/>
          <p:nvPr/>
        </p:nvSpPr>
        <p:spPr>
          <a:xfrm>
            <a:off x="4370726" y="3242057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9132269" y="3491895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105" name="文字方塊 104"/>
          <p:cNvSpPr txBox="1"/>
          <p:nvPr/>
        </p:nvSpPr>
        <p:spPr>
          <a:xfrm>
            <a:off x="10833550" y="3485675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107" name="文字方塊 106"/>
          <p:cNvSpPr txBox="1"/>
          <p:nvPr/>
        </p:nvSpPr>
        <p:spPr>
          <a:xfrm>
            <a:off x="10355572" y="5031677"/>
            <a:ext cx="1537535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TW" altLang="en-US" sz="1000" dirty="0">
                <a:latin typeface="Calibri" panose="020F0502020204030204" pitchFamily="34" charset="0"/>
              </a:rPr>
              <a:t>確認每日的報告截止點，中</a:t>
            </a:r>
            <a:r>
              <a:rPr lang="en-US" altLang="zh-TW" sz="1000" dirty="0">
                <a:latin typeface="Calibri" panose="020F0502020204030204" pitchFamily="34" charset="0"/>
              </a:rPr>
              <a:t>/</a:t>
            </a:r>
            <a:r>
              <a:rPr lang="zh-TW" altLang="en-US" sz="1000" dirty="0">
                <a:latin typeface="Calibri" panose="020F0502020204030204" pitchFamily="34" charset="0"/>
              </a:rPr>
              <a:t>夜班</a:t>
            </a:r>
            <a:r>
              <a:rPr lang="zh-CN" altLang="en-US" sz="1000" dirty="0">
                <a:latin typeface="Calibri" panose="020F0502020204030204" pitchFamily="34" charset="0"/>
              </a:rPr>
              <a:t>報告第二天早上匯總</a:t>
            </a:r>
            <a:endParaRPr lang="zh-TW" altLang="en-US" sz="1000" dirty="0">
              <a:latin typeface="Calibri" panose="020F0502020204030204" pitchFamily="34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10836660" y="5887616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113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11000877" y="565412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8926995" y="5872065"/>
            <a:ext cx="497252" cy="2539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Frank</a:t>
            </a:r>
          </a:p>
        </p:txBody>
      </p:sp>
      <p:sp>
        <p:nvSpPr>
          <p:cNvPr id="116" name="矩形: 圓角 122">
            <a:extLst>
              <a:ext uri="{FF2B5EF4-FFF2-40B4-BE49-F238E27FC236}">
                <a16:creationId xmlns:a16="http://schemas.microsoft.com/office/drawing/2014/main" id="{1FCCDA96-AC06-4DA5-B22E-FE4A32FE8CC8}"/>
              </a:ext>
            </a:extLst>
          </p:cNvPr>
          <p:cNvSpPr/>
          <p:nvPr/>
        </p:nvSpPr>
        <p:spPr>
          <a:xfrm>
            <a:off x="5384603" y="2108357"/>
            <a:ext cx="1476000" cy="360000"/>
          </a:xfrm>
          <a:prstGeom prst="round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P1 Lesson Learned     Improvement Step</a:t>
            </a:r>
            <a:endParaRPr lang="zh-TW" altLang="en-US" sz="1000" b="1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7" name="矩形: 圓角 122">
            <a:extLst>
              <a:ext uri="{FF2B5EF4-FFF2-40B4-BE49-F238E27FC236}">
                <a16:creationId xmlns:a16="http://schemas.microsoft.com/office/drawing/2014/main" id="{1FCCDA96-AC06-4DA5-B22E-FE4A32FE8CC8}"/>
              </a:ext>
            </a:extLst>
          </p:cNvPr>
          <p:cNvSpPr/>
          <p:nvPr/>
        </p:nvSpPr>
        <p:spPr>
          <a:xfrm>
            <a:off x="1263583" y="1859541"/>
            <a:ext cx="1476000" cy="360000"/>
          </a:xfrm>
          <a:prstGeom prst="round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Microsoft YaHai"/>
                <a:ea typeface="微軟正黑體" panose="020B0604030504040204" pitchFamily="34" charset="-120"/>
                <a:cs typeface="Times New Roman" panose="02020603050405020304" pitchFamily="18" charset="0"/>
              </a:rPr>
              <a:t>P1 Lesson Learned     Improvement Step</a:t>
            </a:r>
            <a:endParaRPr lang="zh-TW" altLang="en-US" sz="1000" b="1" dirty="0">
              <a:solidFill>
                <a:schemeClr val="bg1"/>
              </a:solidFill>
              <a:latin typeface="Microsoft YaHai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76" name="直線接點 75"/>
          <p:cNvCxnSpPr/>
          <p:nvPr/>
        </p:nvCxnSpPr>
        <p:spPr>
          <a:xfrm flipV="1">
            <a:off x="522514" y="2051871"/>
            <a:ext cx="419878" cy="6251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117" idx="1"/>
          </p:cNvCxnSpPr>
          <p:nvPr/>
        </p:nvCxnSpPr>
        <p:spPr>
          <a:xfrm flipH="1">
            <a:off x="942392" y="2039541"/>
            <a:ext cx="321191" cy="30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直線接點 122"/>
          <p:cNvCxnSpPr>
            <a:stCxn id="117" idx="3"/>
          </p:cNvCxnSpPr>
          <p:nvPr/>
        </p:nvCxnSpPr>
        <p:spPr>
          <a:xfrm>
            <a:off x="2739583" y="2039541"/>
            <a:ext cx="302197" cy="299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直線接點 125"/>
          <p:cNvCxnSpPr/>
          <p:nvPr/>
        </p:nvCxnSpPr>
        <p:spPr>
          <a:xfrm flipH="1" flipV="1">
            <a:off x="3051110" y="2051871"/>
            <a:ext cx="1424252" cy="7140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8" name="群組 77"/>
          <p:cNvGrpSpPr/>
          <p:nvPr/>
        </p:nvGrpSpPr>
        <p:grpSpPr>
          <a:xfrm>
            <a:off x="10483195" y="2123480"/>
            <a:ext cx="1591865" cy="1022013"/>
            <a:chOff x="5233173" y="1160180"/>
            <a:chExt cx="1591865" cy="1022013"/>
          </a:xfrm>
        </p:grpSpPr>
        <p:sp>
          <p:nvSpPr>
            <p:cNvPr id="84" name="矩形 83"/>
            <p:cNvSpPr/>
            <p:nvPr/>
          </p:nvSpPr>
          <p:spPr>
            <a:xfrm>
              <a:off x="5248893" y="1832832"/>
              <a:ext cx="1235703" cy="349361"/>
            </a:xfrm>
            <a:prstGeom prst="rect">
              <a:avLst/>
            </a:prstGeom>
            <a:noFill/>
            <a:ln w="22225">
              <a:solidFill>
                <a:srgbClr val="FF99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Microsoft YaHai"/>
                <a:ea typeface="微軟正黑體" panose="020B0604030504040204" pitchFamily="34" charset="-120"/>
              </a:endParaRPr>
            </a:p>
          </p:txBody>
        </p:sp>
        <p:cxnSp>
          <p:nvCxnSpPr>
            <p:cNvPr id="85" name="直線單箭頭接點 84"/>
            <p:cNvCxnSpPr/>
            <p:nvPr/>
          </p:nvCxnSpPr>
          <p:spPr>
            <a:xfrm flipH="1" flipV="1">
              <a:off x="5246917" y="1256522"/>
              <a:ext cx="3188" cy="68271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矩形 85"/>
            <p:cNvSpPr/>
            <p:nvPr/>
          </p:nvSpPr>
          <p:spPr>
            <a:xfrm>
              <a:off x="5233173" y="1160180"/>
              <a:ext cx="1591865" cy="6031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28600" indent="-228600">
                <a:lnSpc>
                  <a:spcPct val="120000"/>
                </a:lnSpc>
                <a:buAutoNum type="arabicPeriod"/>
              </a:pPr>
              <a:r>
                <a:rPr lang="en-US" altLang="zh-CN" sz="1000" b="1" dirty="0" err="1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iMES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 &lt;.AAA&gt;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節點，檢測機台是否漏測工站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/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是否</a:t>
              </a:r>
              <a:r>
                <a:rPr lang="en-US" altLang="zh-CN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AAB or AAA</a:t>
              </a:r>
              <a:r>
                <a:rPr lang="zh-CN" altLang="en-US" sz="1000" b="1" dirty="0">
                  <a:solidFill>
                    <a:schemeClr val="accent2">
                      <a:lumMod val="75000"/>
                    </a:schemeClr>
                  </a:solidFill>
                  <a:latin typeface="Microsoft YaHai"/>
                  <a:ea typeface="微軟正黑體" panose="020B0604030504040204" pitchFamily="34" charset="-120"/>
                </a:rPr>
                <a:t>測試</a:t>
              </a:r>
              <a:endParaRPr lang="en-US" altLang="zh-CN" sz="1000" b="1" dirty="0">
                <a:solidFill>
                  <a:schemeClr val="accent2">
                    <a:lumMod val="75000"/>
                  </a:schemeClr>
                </a:solidFill>
                <a:latin typeface="Microsoft YaHai"/>
                <a:ea typeface="微軟正黑體" panose="020B0604030504040204" pitchFamily="34" charset="-120"/>
              </a:endParaRPr>
            </a:p>
          </p:txBody>
        </p:sp>
      </p:grpSp>
      <p:sp>
        <p:nvSpPr>
          <p:cNvPr id="80" name="矩形: 圓角 149">
            <a:extLst>
              <a:ext uri="{FF2B5EF4-FFF2-40B4-BE49-F238E27FC236}">
                <a16:creationId xmlns:a16="http://schemas.microsoft.com/office/drawing/2014/main" id="{A36F30F2-61C6-4B8A-B737-E50E2E523C57}"/>
              </a:ext>
            </a:extLst>
          </p:cNvPr>
          <p:cNvSpPr/>
          <p:nvPr/>
        </p:nvSpPr>
        <p:spPr>
          <a:xfrm>
            <a:off x="329454" y="5405941"/>
            <a:ext cx="2712326" cy="8513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pEVT </a:t>
            </a:r>
            <a:r>
              <a:rPr lang="zh-CN" alt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更新項</a:t>
            </a: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 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根據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P1 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經驗，更新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 line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報告流程</a:t>
            </a:r>
            <a:endParaRPr lang="en-US" altLang="zh-CN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7" name="矩形: 圓角 2">
            <a:extLst>
              <a:ext uri="{FF2B5EF4-FFF2-40B4-BE49-F238E27FC236}">
                <a16:creationId xmlns:a16="http://schemas.microsoft.com/office/drawing/2014/main" id="{320F30E4-FDB8-480A-A0F4-FB5C974841F3}"/>
              </a:ext>
            </a:extLst>
          </p:cNvPr>
          <p:cNvSpPr/>
          <p:nvPr/>
        </p:nvSpPr>
        <p:spPr>
          <a:xfrm>
            <a:off x="3710418" y="2770381"/>
            <a:ext cx="1453618" cy="114325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574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群組 103">
            <a:extLst>
              <a:ext uri="{FF2B5EF4-FFF2-40B4-BE49-F238E27FC236}">
                <a16:creationId xmlns:a16="http://schemas.microsoft.com/office/drawing/2014/main" id="{E7FC3C22-5B5A-C0E7-8142-F769FA6804BB}"/>
              </a:ext>
            </a:extLst>
          </p:cNvPr>
          <p:cNvGrpSpPr/>
          <p:nvPr/>
        </p:nvGrpSpPr>
        <p:grpSpPr>
          <a:xfrm rot="16200000">
            <a:off x="9547560" y="4823988"/>
            <a:ext cx="643963" cy="1243938"/>
            <a:chOff x="2936220" y="5483228"/>
            <a:chExt cx="1059345" cy="1609063"/>
          </a:xfrm>
        </p:grpSpPr>
        <p:sp>
          <p:nvSpPr>
            <p:cNvPr id="32" name="向右箭號 108">
              <a:extLst>
                <a:ext uri="{FF2B5EF4-FFF2-40B4-BE49-F238E27FC236}">
                  <a16:creationId xmlns:a16="http://schemas.microsoft.com/office/drawing/2014/main" id="{C36532FE-6662-FE60-DC85-65B9F7D50240}"/>
                </a:ext>
              </a:extLst>
            </p:cNvPr>
            <p:cNvSpPr/>
            <p:nvPr/>
          </p:nvSpPr>
          <p:spPr>
            <a:xfrm rot="5400000">
              <a:off x="2573779" y="6205782"/>
              <a:ext cx="1530434" cy="177664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3" name="向右箭號 112">
              <a:extLst>
                <a:ext uri="{FF2B5EF4-FFF2-40B4-BE49-F238E27FC236}">
                  <a16:creationId xmlns:a16="http://schemas.microsoft.com/office/drawing/2014/main" id="{D7EC58F4-D30C-1CB1-FD81-DCDD05B767A6}"/>
                </a:ext>
              </a:extLst>
            </p:cNvPr>
            <p:cNvSpPr/>
            <p:nvPr/>
          </p:nvSpPr>
          <p:spPr>
            <a:xfrm>
              <a:off x="2936220" y="6307402"/>
              <a:ext cx="437234" cy="139701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4" name="向右箭號 115">
              <a:extLst>
                <a:ext uri="{FF2B5EF4-FFF2-40B4-BE49-F238E27FC236}">
                  <a16:creationId xmlns:a16="http://schemas.microsoft.com/office/drawing/2014/main" id="{10DE62DE-4E66-A908-40C4-097D80B02B96}"/>
                </a:ext>
              </a:extLst>
            </p:cNvPr>
            <p:cNvSpPr/>
            <p:nvPr/>
          </p:nvSpPr>
          <p:spPr>
            <a:xfrm>
              <a:off x="3321266" y="5483228"/>
              <a:ext cx="647999" cy="139701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5" name="向右箭號 114">
              <a:extLst>
                <a:ext uri="{FF2B5EF4-FFF2-40B4-BE49-F238E27FC236}">
                  <a16:creationId xmlns:a16="http://schemas.microsoft.com/office/drawing/2014/main" id="{40A9794B-4EF4-C3A1-1500-607C45578101}"/>
                </a:ext>
              </a:extLst>
            </p:cNvPr>
            <p:cNvSpPr/>
            <p:nvPr/>
          </p:nvSpPr>
          <p:spPr>
            <a:xfrm>
              <a:off x="3347566" y="6952591"/>
              <a:ext cx="647999" cy="1397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698389" y="129408"/>
            <a:ext cx="88143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Cosmetic Inspection</a:t>
            </a:r>
            <a:r>
              <a:rPr kumimoji="1" lang="en-US" altLang="zh-CN" sz="2600" b="1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T0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5" name="橢圓 64"/>
          <p:cNvSpPr/>
          <p:nvPr/>
        </p:nvSpPr>
        <p:spPr>
          <a:xfrm>
            <a:off x="1784102" y="2456232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7269" y="2026025"/>
            <a:ext cx="930374" cy="415498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線尾倉領取機台</a:t>
            </a:r>
            <a:r>
              <a:rPr lang="zh-CN" altLang="en-US" sz="1000" dirty="0">
                <a:latin typeface="Calibri" panose="020F0502020204030204" pitchFamily="34" charset="0"/>
              </a:rPr>
              <a:t>至</a:t>
            </a:r>
            <a:r>
              <a:rPr lang="en-US" altLang="zh-CN" sz="1000" dirty="0">
                <a:latin typeface="Calibri" panose="020F0502020204030204" pitchFamily="34" charset="0"/>
              </a:rPr>
              <a:t>WH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331538" y="2742511"/>
            <a:ext cx="38183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WH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618709" y="1887525"/>
            <a:ext cx="1242771" cy="40011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領機投產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1" name="橢圓 80"/>
          <p:cNvSpPr/>
          <p:nvPr/>
        </p:nvSpPr>
        <p:spPr>
          <a:xfrm>
            <a:off x="6082795" y="2473429"/>
            <a:ext cx="216000" cy="216000"/>
          </a:xfrm>
          <a:prstGeom prst="ellipse">
            <a:avLst/>
          </a:prstGeom>
          <a:solidFill>
            <a:srgbClr val="DCF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3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4009059" y="2026025"/>
            <a:ext cx="1017179" cy="415498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latin typeface="Calibri" panose="020F0502020204030204" pitchFamily="34" charset="0"/>
              </a:rPr>
              <a:t>Cosmetic</a:t>
            </a:r>
            <a:r>
              <a:rPr lang="zh-CN" altLang="en-US" sz="1000" dirty="0">
                <a:latin typeface="Calibri" panose="020F0502020204030204" pitchFamily="34" charset="0"/>
              </a:rPr>
              <a:t>至</a:t>
            </a:r>
            <a:r>
              <a:rPr lang="en-US" altLang="zh-CN" sz="1000" dirty="0">
                <a:latin typeface="Calibri" panose="020F0502020204030204" pitchFamily="34" charset="0"/>
              </a:rPr>
              <a:t>WH</a:t>
            </a:r>
            <a:r>
              <a:rPr lang="zh-CN" altLang="en-US" sz="1000" dirty="0">
                <a:latin typeface="Calibri" panose="020F0502020204030204" pitchFamily="34" charset="0"/>
              </a:rPr>
              <a:t>領取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機台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208573" y="2742511"/>
            <a:ext cx="666000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01" name="橢圓 100"/>
          <p:cNvSpPr/>
          <p:nvPr/>
        </p:nvSpPr>
        <p:spPr>
          <a:xfrm>
            <a:off x="387344" y="244701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977237" y="2041413"/>
            <a:ext cx="1382975" cy="40011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 &amp; Summary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</a:t>
            </a:r>
            <a:r>
              <a:rPr lang="en-US" altLang="zh-CN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08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7529113" y="2363087"/>
            <a:ext cx="360000" cy="44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矩形 108"/>
          <p:cNvSpPr/>
          <p:nvPr/>
        </p:nvSpPr>
        <p:spPr>
          <a:xfrm>
            <a:off x="8563852" y="2187607"/>
            <a:ext cx="1077322" cy="2539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清潔機台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0" name="向右箭號 109"/>
          <p:cNvSpPr/>
          <p:nvPr/>
        </p:nvSpPr>
        <p:spPr>
          <a:xfrm>
            <a:off x="8052877" y="255501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1" name="橢圓 110"/>
          <p:cNvSpPr/>
          <p:nvPr/>
        </p:nvSpPr>
        <p:spPr>
          <a:xfrm>
            <a:off x="9027170" y="2472595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4" name="向右箭號 113"/>
          <p:cNvSpPr/>
          <p:nvPr/>
        </p:nvSpPr>
        <p:spPr>
          <a:xfrm>
            <a:off x="9439126" y="255501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443898" y="4105152"/>
            <a:ext cx="749902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放置待拍照區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480893" y="4834004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29" name="向右箭號 128"/>
          <p:cNvSpPr/>
          <p:nvPr/>
        </p:nvSpPr>
        <p:spPr>
          <a:xfrm rot="10800000">
            <a:off x="1558329" y="4648741"/>
            <a:ext cx="739523" cy="118435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678806" y="4269634"/>
            <a:ext cx="957380" cy="25391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領機拍照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1" name="橢圓 130"/>
          <p:cNvSpPr/>
          <p:nvPr/>
        </p:nvSpPr>
        <p:spPr>
          <a:xfrm>
            <a:off x="1049496" y="455143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2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05574" y="4834004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37" name="文字方塊 136"/>
          <p:cNvSpPr txBox="1"/>
          <p:nvPr/>
        </p:nvSpPr>
        <p:spPr>
          <a:xfrm>
            <a:off x="880961" y="227854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581307" y="2314831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4970855" y="2304166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811133" y="2314831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9526115" y="2314831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1666439" y="4376900"/>
            <a:ext cx="6064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橢圓 110">
            <a:extLst>
              <a:ext uri="{FF2B5EF4-FFF2-40B4-BE49-F238E27FC236}">
                <a16:creationId xmlns:a16="http://schemas.microsoft.com/office/drawing/2014/main" id="{579A47F2-9706-DAD2-9556-EC2D26990567}"/>
              </a:ext>
            </a:extLst>
          </p:cNvPr>
          <p:cNvSpPr/>
          <p:nvPr/>
        </p:nvSpPr>
        <p:spPr>
          <a:xfrm>
            <a:off x="10365727" y="247588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文字方塊 165">
            <a:extLst>
              <a:ext uri="{FF2B5EF4-FFF2-40B4-BE49-F238E27FC236}">
                <a16:creationId xmlns:a16="http://schemas.microsoft.com/office/drawing/2014/main" id="{65CF8CA2-2803-A1B5-1252-0599C1C2BB53}"/>
              </a:ext>
            </a:extLst>
          </p:cNvPr>
          <p:cNvSpPr txBox="1"/>
          <p:nvPr/>
        </p:nvSpPr>
        <p:spPr>
          <a:xfrm>
            <a:off x="10171629" y="2762159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506F94A5-2F30-8495-AA58-B4EF195C3EAB}"/>
              </a:ext>
            </a:extLst>
          </p:cNvPr>
          <p:cNvSpPr/>
          <p:nvPr/>
        </p:nvSpPr>
        <p:spPr>
          <a:xfrm>
            <a:off x="9892513" y="2207255"/>
            <a:ext cx="1144028" cy="2539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機台稱重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906760" y="2742511"/>
            <a:ext cx="580608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5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415064" y="2742511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5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8849870" y="2742511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62" name="向右箭號 161"/>
          <p:cNvSpPr/>
          <p:nvPr/>
        </p:nvSpPr>
        <p:spPr>
          <a:xfrm rot="10800000">
            <a:off x="5650215" y="456816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3" name="文字方塊 162"/>
          <p:cNvSpPr txBox="1"/>
          <p:nvPr/>
        </p:nvSpPr>
        <p:spPr>
          <a:xfrm>
            <a:off x="5740333" y="433574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7" name="橢圓 166"/>
          <p:cNvSpPr/>
          <p:nvPr/>
        </p:nvSpPr>
        <p:spPr>
          <a:xfrm>
            <a:off x="7043217" y="4494107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6621304" y="4050720"/>
            <a:ext cx="987623" cy="41549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填寫</a:t>
            </a:r>
            <a:endParaRPr lang="en-US" altLang="zh-CN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Travel sheet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806262" y="4776672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81" name="向右箭號 180"/>
          <p:cNvSpPr/>
          <p:nvPr/>
        </p:nvSpPr>
        <p:spPr>
          <a:xfrm rot="10800000">
            <a:off x="7772919" y="457131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2" name="文字方塊 181"/>
          <p:cNvSpPr txBox="1"/>
          <p:nvPr/>
        </p:nvSpPr>
        <p:spPr>
          <a:xfrm>
            <a:off x="7828870" y="431083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6" name="向右箭號 185"/>
          <p:cNvSpPr/>
          <p:nvPr/>
        </p:nvSpPr>
        <p:spPr>
          <a:xfrm rot="16200000" flipH="1">
            <a:off x="11348356" y="3494434"/>
            <a:ext cx="720000" cy="137302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7" name="橢圓 186"/>
          <p:cNvSpPr/>
          <p:nvPr/>
        </p:nvSpPr>
        <p:spPr>
          <a:xfrm>
            <a:off x="9002259" y="4505684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8512442" y="4222086"/>
            <a:ext cx="1149668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各部位目檢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9" name="文字方塊 188"/>
          <p:cNvSpPr txBox="1"/>
          <p:nvPr/>
        </p:nvSpPr>
        <p:spPr>
          <a:xfrm>
            <a:off x="11674870" y="3329368"/>
            <a:ext cx="558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2" name="向右箭號 191"/>
          <p:cNvSpPr/>
          <p:nvPr/>
        </p:nvSpPr>
        <p:spPr>
          <a:xfrm rot="10800000">
            <a:off x="3329497" y="465054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4" name="文字方塊 193"/>
          <p:cNvSpPr txBox="1"/>
          <p:nvPr/>
        </p:nvSpPr>
        <p:spPr>
          <a:xfrm>
            <a:off x="3440580" y="439174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4229946" y="4108052"/>
            <a:ext cx="1120172" cy="41549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使用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目檢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錄入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腳本檢查</a:t>
            </a:r>
            <a:r>
              <a:rPr lang="zh-CN" altLang="en-US" sz="1000" b="1" dirty="0">
                <a:highlight>
                  <a:srgbClr val="FFFF00"/>
                </a:highlight>
                <a:latin typeface="Calibri" panose="020F0502020204030204" pitchFamily="34" charset="0"/>
                <a:ea typeface="微軟正黑體" panose="020B0604030504040204" pitchFamily="34" charset="-120"/>
              </a:rPr>
              <a:t>重複項</a:t>
            </a:r>
            <a:endParaRPr lang="zh-TW" altLang="en-US" sz="1000" b="1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497830" y="4834004"/>
            <a:ext cx="580608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9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8808628" y="4776672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99" name="向右箭號 198"/>
          <p:cNvSpPr/>
          <p:nvPr/>
        </p:nvSpPr>
        <p:spPr>
          <a:xfrm>
            <a:off x="848555" y="251873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0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3512005" y="253401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1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4962682" y="2544354"/>
            <a:ext cx="576000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2" name="向右箭號 201"/>
          <p:cNvSpPr/>
          <p:nvPr/>
        </p:nvSpPr>
        <p:spPr>
          <a:xfrm>
            <a:off x="6847887" y="2536942"/>
            <a:ext cx="540000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5" name="文字方塊 204"/>
          <p:cNvSpPr txBox="1"/>
          <p:nvPr/>
        </p:nvSpPr>
        <p:spPr>
          <a:xfrm>
            <a:off x="8102042" y="2314831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4229275" y="4083172"/>
            <a:ext cx="1088710" cy="439350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4" name="向右箭號 103"/>
          <p:cNvSpPr/>
          <p:nvPr/>
        </p:nvSpPr>
        <p:spPr>
          <a:xfrm>
            <a:off x="2260272" y="252548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2294013" y="229672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6" name="橢圓 110">
            <a:extLst>
              <a:ext uri="{FF2B5EF4-FFF2-40B4-BE49-F238E27FC236}">
                <a16:creationId xmlns:a16="http://schemas.microsoft.com/office/drawing/2014/main" id="{579A47F2-9706-DAD2-9556-EC2D26990567}"/>
              </a:ext>
            </a:extLst>
          </p:cNvPr>
          <p:cNvSpPr/>
          <p:nvPr/>
        </p:nvSpPr>
        <p:spPr>
          <a:xfrm>
            <a:off x="11709474" y="448063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06F94A5-2F30-8495-AA58-B4EF195C3EAB}"/>
              </a:ext>
            </a:extLst>
          </p:cNvPr>
          <p:cNvSpPr/>
          <p:nvPr/>
        </p:nvSpPr>
        <p:spPr>
          <a:xfrm>
            <a:off x="11320778" y="4220508"/>
            <a:ext cx="86393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色差量測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2392065" y="4080937"/>
            <a:ext cx="835114" cy="439350"/>
          </a:xfrm>
          <a:prstGeom prst="rect">
            <a:avLst/>
          </a:prstGeom>
          <a:noFill/>
          <a:ln w="22225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16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1641307" y="2742511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17" name="向右箭號 116"/>
          <p:cNvSpPr/>
          <p:nvPr/>
        </p:nvSpPr>
        <p:spPr>
          <a:xfrm rot="10800000">
            <a:off x="9480933" y="4582017"/>
            <a:ext cx="648000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9484765" y="4321429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6min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1" name="文字方塊 165">
            <a:extLst>
              <a:ext uri="{FF2B5EF4-FFF2-40B4-BE49-F238E27FC236}">
                <a16:creationId xmlns:a16="http://schemas.microsoft.com/office/drawing/2014/main" id="{7F64E5CB-0B3F-6043-88BB-2D924E36A9BA}"/>
              </a:ext>
            </a:extLst>
          </p:cNvPr>
          <p:cNvSpPr txBox="1"/>
          <p:nvPr/>
        </p:nvSpPr>
        <p:spPr>
          <a:xfrm>
            <a:off x="2976563" y="2742511"/>
            <a:ext cx="445956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Y</a:t>
            </a:r>
            <a:r>
              <a:rPr lang="en-US" altLang="zh-CN" sz="1000" dirty="0">
                <a:latin typeface="Calibri" panose="020F0502020204030204" pitchFamily="34" charset="0"/>
              </a:rPr>
              <a:t>oke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24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1402636" y="2026025"/>
            <a:ext cx="1029675" cy="415498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維護</a:t>
            </a:r>
            <a:endParaRPr lang="en-US" altLang="zh-CN" sz="1000" dirty="0">
              <a:latin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</a:rPr>
              <a:t>Travel sheet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6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1357496" y="4762648"/>
            <a:ext cx="684000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pic>
        <p:nvPicPr>
          <p:cNvPr id="99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352" y="2470940"/>
            <a:ext cx="206545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橢圓 102"/>
          <p:cNvSpPr/>
          <p:nvPr/>
        </p:nvSpPr>
        <p:spPr>
          <a:xfrm>
            <a:off x="4420103" y="2474357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2" name="橢圓 111"/>
          <p:cNvSpPr/>
          <p:nvPr/>
        </p:nvSpPr>
        <p:spPr>
          <a:xfrm>
            <a:off x="4653022" y="4551439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0" name="橢圓 119"/>
          <p:cNvSpPr/>
          <p:nvPr/>
        </p:nvSpPr>
        <p:spPr>
          <a:xfrm>
            <a:off x="2696646" y="455143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68644" y="1772617"/>
            <a:ext cx="2286902" cy="1396025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6"/>
              </a:solidFill>
            </a:endParaRPr>
          </a:p>
        </p:txBody>
      </p:sp>
      <p:sp>
        <p:nvSpPr>
          <p:cNvPr id="141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5540177" y="1772617"/>
            <a:ext cx="1281486" cy="1374837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FDC72C57-109A-4B57-B1C9-7FC819455723}"/>
              </a:ext>
            </a:extLst>
          </p:cNvPr>
          <p:cNvSpPr txBox="1"/>
          <p:nvPr/>
        </p:nvSpPr>
        <p:spPr>
          <a:xfrm>
            <a:off x="928877" y="3145946"/>
            <a:ext cx="8491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T0 </a:t>
            </a:r>
            <a:r>
              <a:rPr lang="en-US" altLang="zh-CN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only</a:t>
            </a:r>
            <a:endParaRPr lang="zh-TW" altLang="en-US" sz="1000" dirty="0">
              <a:solidFill>
                <a:schemeClr val="accent6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FDC72C57-109A-4B57-B1C9-7FC819455723}"/>
              </a:ext>
            </a:extLst>
          </p:cNvPr>
          <p:cNvSpPr txBox="1"/>
          <p:nvPr/>
        </p:nvSpPr>
        <p:spPr>
          <a:xfrm>
            <a:off x="5952704" y="3145946"/>
            <a:ext cx="935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T0 </a:t>
            </a:r>
            <a:r>
              <a:rPr lang="en-US" altLang="zh-CN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only</a:t>
            </a:r>
            <a:endParaRPr lang="zh-TW" altLang="en-US" sz="1000" dirty="0">
              <a:solidFill>
                <a:schemeClr val="accent6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764DAD95-916F-4C4E-A360-3EECC07C65DC}"/>
              </a:ext>
            </a:extLst>
          </p:cNvPr>
          <p:cNvSpPr/>
          <p:nvPr/>
        </p:nvSpPr>
        <p:spPr>
          <a:xfrm>
            <a:off x="5634988" y="2019207"/>
            <a:ext cx="1169875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打印腳本自動生成的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travel sheet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DAB372C9-006A-484B-994B-9CFAA72EA9D0}"/>
              </a:ext>
            </a:extLst>
          </p:cNvPr>
          <p:cNvSpPr/>
          <p:nvPr/>
        </p:nvSpPr>
        <p:spPr>
          <a:xfrm>
            <a:off x="5590540" y="1981446"/>
            <a:ext cx="1166540" cy="439350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36" name="文字方塊 235">
            <a:extLst>
              <a:ext uri="{FF2B5EF4-FFF2-40B4-BE49-F238E27FC236}">
                <a16:creationId xmlns:a16="http://schemas.microsoft.com/office/drawing/2014/main" id="{0B5AE0A4-A24A-426F-8340-4FDA8407E45D}"/>
              </a:ext>
            </a:extLst>
          </p:cNvPr>
          <p:cNvSpPr txBox="1"/>
          <p:nvPr/>
        </p:nvSpPr>
        <p:spPr>
          <a:xfrm>
            <a:off x="9546159" y="521185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ED51ED73-C85C-4225-879F-30799D2F8786}"/>
              </a:ext>
            </a:extLst>
          </p:cNvPr>
          <p:cNvGrpSpPr/>
          <p:nvPr/>
        </p:nvGrpSpPr>
        <p:grpSpPr>
          <a:xfrm>
            <a:off x="1689572" y="5767535"/>
            <a:ext cx="8871073" cy="946749"/>
            <a:chOff x="1061633" y="5821903"/>
            <a:chExt cx="8871073" cy="946749"/>
          </a:xfrm>
        </p:grpSpPr>
        <p:sp>
          <p:nvSpPr>
            <p:cNvPr id="154" name="文字方塊 165">
              <a:extLst>
                <a:ext uri="{FF2B5EF4-FFF2-40B4-BE49-F238E27FC236}">
                  <a16:creationId xmlns:a16="http://schemas.microsoft.com/office/drawing/2014/main" id="{E9CD512E-BBCB-4F79-AC66-5F77446BAED6}"/>
                </a:ext>
              </a:extLst>
            </p:cNvPr>
            <p:cNvSpPr txBox="1"/>
            <p:nvPr/>
          </p:nvSpPr>
          <p:spPr>
            <a:xfrm>
              <a:off x="3121287" y="6522091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55" name="文字方塊 83">
              <a:extLst>
                <a:ext uri="{FF2B5EF4-FFF2-40B4-BE49-F238E27FC236}">
                  <a16:creationId xmlns:a16="http://schemas.microsoft.com/office/drawing/2014/main" id="{959F5FC2-51FF-47D7-8721-7E59A805B3C2}"/>
                </a:ext>
              </a:extLst>
            </p:cNvPr>
            <p:cNvSpPr txBox="1"/>
            <p:nvPr/>
          </p:nvSpPr>
          <p:spPr>
            <a:xfrm>
              <a:off x="2842325" y="5830428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FX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整理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&amp;F1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確認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Failure Mode List</a:t>
              </a:r>
              <a:endPara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0" name="橢圓 159">
              <a:extLst>
                <a:ext uri="{FF2B5EF4-FFF2-40B4-BE49-F238E27FC236}">
                  <a16:creationId xmlns:a16="http://schemas.microsoft.com/office/drawing/2014/main" id="{ABEC623D-B6CA-4078-92BA-5E7E4765ED1A}"/>
                </a:ext>
              </a:extLst>
            </p:cNvPr>
            <p:cNvSpPr/>
            <p:nvPr/>
          </p:nvSpPr>
          <p:spPr>
            <a:xfrm>
              <a:off x="3385715" y="6240106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1" name="文字方塊 165">
              <a:extLst>
                <a:ext uri="{FF2B5EF4-FFF2-40B4-BE49-F238E27FC236}">
                  <a16:creationId xmlns:a16="http://schemas.microsoft.com/office/drawing/2014/main" id="{6CE6E5A2-1283-4CE8-9F82-19BABA551065}"/>
                </a:ext>
              </a:extLst>
            </p:cNvPr>
            <p:cNvSpPr txBox="1"/>
            <p:nvPr/>
          </p:nvSpPr>
          <p:spPr>
            <a:xfrm>
              <a:off x="1378987" y="6522091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TW" sz="1000" dirty="0">
                  <a:latin typeface="Calibri" panose="020F0502020204030204" pitchFamily="34" charset="0"/>
                </a:rPr>
                <a:t>Tammy</a:t>
              </a:r>
            </a:p>
          </p:txBody>
        </p:sp>
        <p:sp>
          <p:nvSpPr>
            <p:cNvPr id="164" name="文字方塊 83">
              <a:extLst>
                <a:ext uri="{FF2B5EF4-FFF2-40B4-BE49-F238E27FC236}">
                  <a16:creationId xmlns:a16="http://schemas.microsoft.com/office/drawing/2014/main" id="{FA687499-77D1-4184-917F-76CFE46A0060}"/>
                </a:ext>
              </a:extLst>
            </p:cNvPr>
            <p:cNvSpPr txBox="1"/>
            <p:nvPr/>
          </p:nvSpPr>
          <p:spPr>
            <a:xfrm>
              <a:off x="1061633" y="5830428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整理</a:t>
              </a:r>
              <a:r>
                <a:rPr lang="en-US" altLang="zh-TW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OQC Waiver List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更新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REL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版本</a:t>
              </a:r>
              <a:endPara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82D4339C-8839-4FA5-A8E0-B6131BF92A27}"/>
                </a:ext>
              </a:extLst>
            </p:cNvPr>
            <p:cNvSpPr/>
            <p:nvPr/>
          </p:nvSpPr>
          <p:spPr>
            <a:xfrm>
              <a:off x="1620876" y="6240106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6" name="向右箭號 113">
              <a:extLst>
                <a:ext uri="{FF2B5EF4-FFF2-40B4-BE49-F238E27FC236}">
                  <a16:creationId xmlns:a16="http://schemas.microsoft.com/office/drawing/2014/main" id="{000A5F02-4A44-4778-B2A9-D96AE4DC58ED}"/>
                </a:ext>
              </a:extLst>
            </p:cNvPr>
            <p:cNvSpPr/>
            <p:nvPr/>
          </p:nvSpPr>
          <p:spPr>
            <a:xfrm>
              <a:off x="2168518" y="6238533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id="{5BE19BE2-9A45-4474-B7FD-A9D15D0E120C}"/>
                </a:ext>
              </a:extLst>
            </p:cNvPr>
            <p:cNvSpPr txBox="1"/>
            <p:nvPr/>
          </p:nvSpPr>
          <p:spPr>
            <a:xfrm>
              <a:off x="2246545" y="5980239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2 days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1" name="文字方塊 165">
              <a:extLst>
                <a:ext uri="{FF2B5EF4-FFF2-40B4-BE49-F238E27FC236}">
                  <a16:creationId xmlns:a16="http://schemas.microsoft.com/office/drawing/2014/main" id="{5CABAF50-3507-420C-BA7C-7C03964ACF03}"/>
                </a:ext>
              </a:extLst>
            </p:cNvPr>
            <p:cNvSpPr txBox="1"/>
            <p:nvPr/>
          </p:nvSpPr>
          <p:spPr>
            <a:xfrm>
              <a:off x="5115682" y="6516794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72" name="文字方塊 83">
              <a:extLst>
                <a:ext uri="{FF2B5EF4-FFF2-40B4-BE49-F238E27FC236}">
                  <a16:creationId xmlns:a16="http://schemas.microsoft.com/office/drawing/2014/main" id="{094A78FE-23DB-4473-BF03-576A18327D07}"/>
                </a:ext>
              </a:extLst>
            </p:cNvPr>
            <p:cNvSpPr txBox="1"/>
            <p:nvPr/>
          </p:nvSpPr>
          <p:spPr>
            <a:xfrm>
              <a:off x="4862336" y="5825131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檢出新的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Failure Modes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並拍照</a:t>
              </a:r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F679F086-C53D-44C9-BCDF-8EA4435D9BE8}"/>
                </a:ext>
              </a:extLst>
            </p:cNvPr>
            <p:cNvSpPr/>
            <p:nvPr/>
          </p:nvSpPr>
          <p:spPr>
            <a:xfrm>
              <a:off x="5336199" y="6234809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4" name="向右箭號 113">
              <a:extLst>
                <a:ext uri="{FF2B5EF4-FFF2-40B4-BE49-F238E27FC236}">
                  <a16:creationId xmlns:a16="http://schemas.microsoft.com/office/drawing/2014/main" id="{9680195C-A917-4F26-8B1D-49A6815F9A4C}"/>
                </a:ext>
              </a:extLst>
            </p:cNvPr>
            <p:cNvSpPr/>
            <p:nvPr/>
          </p:nvSpPr>
          <p:spPr>
            <a:xfrm>
              <a:off x="4148495" y="6278501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398FF71D-0248-4EF6-82A7-7E76E64ED39F}"/>
                </a:ext>
              </a:extLst>
            </p:cNvPr>
            <p:cNvSpPr txBox="1"/>
            <p:nvPr/>
          </p:nvSpPr>
          <p:spPr>
            <a:xfrm>
              <a:off x="4247429" y="6038313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2 days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6" name="文字方塊 165">
              <a:extLst>
                <a:ext uri="{FF2B5EF4-FFF2-40B4-BE49-F238E27FC236}">
                  <a16:creationId xmlns:a16="http://schemas.microsoft.com/office/drawing/2014/main" id="{91D139CF-3C5D-489E-A3D7-16643BB5D28F}"/>
                </a:ext>
              </a:extLst>
            </p:cNvPr>
            <p:cNvSpPr txBox="1"/>
            <p:nvPr/>
          </p:nvSpPr>
          <p:spPr>
            <a:xfrm>
              <a:off x="6932425" y="6522431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77" name="文字方塊 83">
              <a:extLst>
                <a:ext uri="{FF2B5EF4-FFF2-40B4-BE49-F238E27FC236}">
                  <a16:creationId xmlns:a16="http://schemas.microsoft.com/office/drawing/2014/main" id="{B02F6F0F-5773-446B-8FD9-FD9C5847DB28}"/>
                </a:ext>
              </a:extLst>
            </p:cNvPr>
            <p:cNvSpPr txBox="1"/>
            <p:nvPr/>
          </p:nvSpPr>
          <p:spPr>
            <a:xfrm>
              <a:off x="6679079" y="5830768"/>
              <a:ext cx="139896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內部整理確認後提出</a:t>
              </a:r>
              <a:r>
                <a:rPr lang="en-US" altLang="zh-TW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Failure Modes</a:t>
              </a:r>
              <a:r>
                <a:rPr lang="zh-TW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建議</a:t>
              </a:r>
            </a:p>
          </p:txBody>
        </p:sp>
        <p:sp>
          <p:nvSpPr>
            <p:cNvPr id="178" name="橢圓 177">
              <a:extLst>
                <a:ext uri="{FF2B5EF4-FFF2-40B4-BE49-F238E27FC236}">
                  <a16:creationId xmlns:a16="http://schemas.microsoft.com/office/drawing/2014/main" id="{EFAD8D95-C188-4953-98FA-AFCAFD7E5B95}"/>
                </a:ext>
              </a:extLst>
            </p:cNvPr>
            <p:cNvSpPr/>
            <p:nvPr/>
          </p:nvSpPr>
          <p:spPr>
            <a:xfrm>
              <a:off x="7152942" y="6240446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79" name="向右箭號 113">
              <a:extLst>
                <a:ext uri="{FF2B5EF4-FFF2-40B4-BE49-F238E27FC236}">
                  <a16:creationId xmlns:a16="http://schemas.microsoft.com/office/drawing/2014/main" id="{2CD05F84-55A9-4906-81DE-0AA3CA646860}"/>
                </a:ext>
              </a:extLst>
            </p:cNvPr>
            <p:cNvSpPr/>
            <p:nvPr/>
          </p:nvSpPr>
          <p:spPr>
            <a:xfrm>
              <a:off x="5983633" y="6284138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0" name="文字方塊 179">
              <a:extLst>
                <a:ext uri="{FF2B5EF4-FFF2-40B4-BE49-F238E27FC236}">
                  <a16:creationId xmlns:a16="http://schemas.microsoft.com/office/drawing/2014/main" id="{B2E97094-B77E-4FFA-9FF5-97236027D7F6}"/>
                </a:ext>
              </a:extLst>
            </p:cNvPr>
            <p:cNvSpPr txBox="1"/>
            <p:nvPr/>
          </p:nvSpPr>
          <p:spPr>
            <a:xfrm>
              <a:off x="6042553" y="6043950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5min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3" name="文字方塊 165">
              <a:extLst>
                <a:ext uri="{FF2B5EF4-FFF2-40B4-BE49-F238E27FC236}">
                  <a16:creationId xmlns:a16="http://schemas.microsoft.com/office/drawing/2014/main" id="{B1EA5517-E0C7-4054-B060-51939EA2EC6E}"/>
                </a:ext>
              </a:extLst>
            </p:cNvPr>
            <p:cNvSpPr txBox="1"/>
            <p:nvPr/>
          </p:nvSpPr>
          <p:spPr>
            <a:xfrm>
              <a:off x="8886903" y="6513566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84" name="文字方塊 83">
              <a:extLst>
                <a:ext uri="{FF2B5EF4-FFF2-40B4-BE49-F238E27FC236}">
                  <a16:creationId xmlns:a16="http://schemas.microsoft.com/office/drawing/2014/main" id="{A896D874-4E97-4B6B-B685-B4B725175DCE}"/>
                </a:ext>
              </a:extLst>
            </p:cNvPr>
            <p:cNvSpPr txBox="1"/>
            <p:nvPr/>
          </p:nvSpPr>
          <p:spPr>
            <a:xfrm>
              <a:off x="8606125" y="5821903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zh-TW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F1</a:t>
              </a:r>
              <a:r>
                <a:rPr lang="zh-TW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查看圖片並確認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後更新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FM List</a:t>
              </a:r>
              <a:endPara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CFF253C9-8057-44FE-ABB6-FEB858C5DCE2}"/>
                </a:ext>
              </a:extLst>
            </p:cNvPr>
            <p:cNvSpPr/>
            <p:nvPr/>
          </p:nvSpPr>
          <p:spPr>
            <a:xfrm>
              <a:off x="9079988" y="6231581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0" name="向右箭號 113">
              <a:extLst>
                <a:ext uri="{FF2B5EF4-FFF2-40B4-BE49-F238E27FC236}">
                  <a16:creationId xmlns:a16="http://schemas.microsoft.com/office/drawing/2014/main" id="{64A5D94C-240B-4BC5-9C63-7AB5BBE522F1}"/>
                </a:ext>
              </a:extLst>
            </p:cNvPr>
            <p:cNvSpPr/>
            <p:nvPr/>
          </p:nvSpPr>
          <p:spPr>
            <a:xfrm>
              <a:off x="7939005" y="6311485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BF076EC6-48CC-4CEA-BB06-7BAAC41DCA71}"/>
                </a:ext>
              </a:extLst>
            </p:cNvPr>
            <p:cNvSpPr txBox="1"/>
            <p:nvPr/>
          </p:nvSpPr>
          <p:spPr>
            <a:xfrm>
              <a:off x="8007706" y="6062244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2min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93" name="橢圓 110">
            <a:extLst>
              <a:ext uri="{FF2B5EF4-FFF2-40B4-BE49-F238E27FC236}">
                <a16:creationId xmlns:a16="http://schemas.microsoft.com/office/drawing/2014/main" id="{2AA67A6B-C9DD-41B4-B591-FC789B1DC520}"/>
              </a:ext>
            </a:extLst>
          </p:cNvPr>
          <p:cNvSpPr/>
          <p:nvPr/>
        </p:nvSpPr>
        <p:spPr>
          <a:xfrm>
            <a:off x="11692424" y="2452063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5" name="文字方塊 165">
            <a:extLst>
              <a:ext uri="{FF2B5EF4-FFF2-40B4-BE49-F238E27FC236}">
                <a16:creationId xmlns:a16="http://schemas.microsoft.com/office/drawing/2014/main" id="{8694A8D9-2286-49BF-89CB-BF84C3E05306}"/>
              </a:ext>
            </a:extLst>
          </p:cNvPr>
          <p:cNvSpPr txBox="1"/>
          <p:nvPr/>
        </p:nvSpPr>
        <p:spPr>
          <a:xfrm>
            <a:off x="11517055" y="2737873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3BB75DA5-E51E-446A-8594-777FA81B00DD}"/>
              </a:ext>
            </a:extLst>
          </p:cNvPr>
          <p:cNvSpPr/>
          <p:nvPr/>
        </p:nvSpPr>
        <p:spPr>
          <a:xfrm>
            <a:off x="11432697" y="2207255"/>
            <a:ext cx="769553" cy="2539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4PT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向右箭號 113">
            <a:extLst>
              <a:ext uri="{FF2B5EF4-FFF2-40B4-BE49-F238E27FC236}">
                <a16:creationId xmlns:a16="http://schemas.microsoft.com/office/drawing/2014/main" id="{BDA8602C-A460-45BE-87A4-7E276CA10474}"/>
              </a:ext>
            </a:extLst>
          </p:cNvPr>
          <p:cNvSpPr/>
          <p:nvPr/>
        </p:nvSpPr>
        <p:spPr>
          <a:xfrm>
            <a:off x="10773341" y="253724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6" name="文字方塊 141">
            <a:extLst>
              <a:ext uri="{FF2B5EF4-FFF2-40B4-BE49-F238E27FC236}">
                <a16:creationId xmlns:a16="http://schemas.microsoft.com/office/drawing/2014/main" id="{DF0CFF49-B131-4E4C-9794-24846C7FBC96}"/>
              </a:ext>
            </a:extLst>
          </p:cNvPr>
          <p:cNvSpPr txBox="1"/>
          <p:nvPr/>
        </p:nvSpPr>
        <p:spPr>
          <a:xfrm>
            <a:off x="11030386" y="231205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7" name="橢圓 186">
            <a:extLst>
              <a:ext uri="{FF2B5EF4-FFF2-40B4-BE49-F238E27FC236}">
                <a16:creationId xmlns:a16="http://schemas.microsoft.com/office/drawing/2014/main" id="{342DBE44-7069-48BA-920E-6177DD5C8D6D}"/>
              </a:ext>
            </a:extLst>
          </p:cNvPr>
          <p:cNvSpPr/>
          <p:nvPr/>
        </p:nvSpPr>
        <p:spPr>
          <a:xfrm>
            <a:off x="10474443" y="4505684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8" name="文字方塊 165">
            <a:extLst>
              <a:ext uri="{FF2B5EF4-FFF2-40B4-BE49-F238E27FC236}">
                <a16:creationId xmlns:a16="http://schemas.microsoft.com/office/drawing/2014/main" id="{521DC4EE-3C1A-4AA9-B3DA-52DB293A7162}"/>
              </a:ext>
            </a:extLst>
          </p:cNvPr>
          <p:cNvSpPr txBox="1"/>
          <p:nvPr/>
        </p:nvSpPr>
        <p:spPr>
          <a:xfrm>
            <a:off x="10280812" y="4776672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209" name="向右箭號 116">
            <a:extLst>
              <a:ext uri="{FF2B5EF4-FFF2-40B4-BE49-F238E27FC236}">
                <a16:creationId xmlns:a16="http://schemas.microsoft.com/office/drawing/2014/main" id="{CA4BA107-8456-45C3-8625-A266331A3A56}"/>
              </a:ext>
            </a:extLst>
          </p:cNvPr>
          <p:cNvSpPr/>
          <p:nvPr/>
        </p:nvSpPr>
        <p:spPr>
          <a:xfrm rot="10800000">
            <a:off x="10900284" y="4574411"/>
            <a:ext cx="648000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0" name="文字方塊 117">
            <a:extLst>
              <a:ext uri="{FF2B5EF4-FFF2-40B4-BE49-F238E27FC236}">
                <a16:creationId xmlns:a16="http://schemas.microsoft.com/office/drawing/2014/main" id="{2844B3D9-B7EF-4D60-906C-490B228EFD7A}"/>
              </a:ext>
            </a:extLst>
          </p:cNvPr>
          <p:cNvSpPr txBox="1"/>
          <p:nvPr/>
        </p:nvSpPr>
        <p:spPr>
          <a:xfrm>
            <a:off x="10904116" y="4313823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6396F076-853B-4E0A-A63E-3EDE28D909F4}"/>
              </a:ext>
            </a:extLst>
          </p:cNvPr>
          <p:cNvSpPr/>
          <p:nvPr/>
        </p:nvSpPr>
        <p:spPr>
          <a:xfrm>
            <a:off x="10023443" y="4205063"/>
            <a:ext cx="1149668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鏡片目檢</a:t>
            </a:r>
            <a:endParaRPr lang="en-US" altLang="zh-TW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5C01C33E-F97D-FBC7-3E0D-F352F910D4DA}"/>
              </a:ext>
            </a:extLst>
          </p:cNvPr>
          <p:cNvGrpSpPr/>
          <p:nvPr/>
        </p:nvGrpSpPr>
        <p:grpSpPr>
          <a:xfrm>
            <a:off x="9094165" y="535849"/>
            <a:ext cx="3220904" cy="1668331"/>
            <a:chOff x="9022431" y="702459"/>
            <a:chExt cx="3340565" cy="166833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AE08ACA-2C28-1A38-88B4-D55E2B7357C0}"/>
                </a:ext>
              </a:extLst>
            </p:cNvPr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9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9671F65E-A499-6D26-1A2A-DB03EFA6E9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95C92383-1EE5-8D49-4EAA-067817671700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B3B7EF-EC3D-6833-D631-8175BA6D9A96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B389A05F-1C35-B3AD-D9F2-EB1A80842D1B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815C839-9009-2774-5F37-D62F2A6697A8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138E394-7C18-50BB-A74B-371FEAA2DA31}"/>
                </a:ext>
              </a:extLst>
            </p:cNvPr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6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A9FA6096-E4EE-648E-1982-B2604BFAA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D57103E0-B24C-907F-A1DC-A8BE3BF792C8}"/>
                </a:ext>
              </a:extLst>
            </p:cNvPr>
            <p:cNvGrpSpPr/>
            <p:nvPr/>
          </p:nvGrpSpPr>
          <p:grpSpPr>
            <a:xfrm>
              <a:off x="9022431" y="706656"/>
              <a:ext cx="1673040" cy="608652"/>
              <a:chOff x="9312977" y="267752"/>
              <a:chExt cx="1673040" cy="608652"/>
            </a:xfrm>
          </p:grpSpPr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D4C22DE7-5CD3-872F-E443-E8C9E1A43993}"/>
                  </a:ext>
                </a:extLst>
              </p:cNvPr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E217504-42B7-C40C-A13F-405F243A83DE}"/>
                  </a:ext>
                </a:extLst>
              </p:cNvPr>
              <p:cNvSpPr txBox="1"/>
              <p:nvPr/>
            </p:nvSpPr>
            <p:spPr>
              <a:xfrm>
                <a:off x="9866107" y="392007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物理防呆</a:t>
                </a:r>
                <a:endParaRPr lang="zh-TW" altLang="en-US" sz="1000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24" name="直線單箭頭接點 23">
                <a:extLst>
                  <a:ext uri="{FF2B5EF4-FFF2-40B4-BE49-F238E27FC236}">
                    <a16:creationId xmlns:a16="http://schemas.microsoft.com/office/drawing/2014/main" id="{92B5851F-BF86-5610-7A60-67430A03C599}"/>
                  </a:ext>
                </a:extLst>
              </p:cNvPr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5607E80-491E-F0E0-7786-0D6FD8F5E780}"/>
                  </a:ext>
                </a:extLst>
              </p:cNvPr>
              <p:cNvSpPr txBox="1"/>
              <p:nvPr/>
            </p:nvSpPr>
            <p:spPr>
              <a:xfrm>
                <a:off x="9866107" y="613406"/>
                <a:ext cx="11199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軟體防呆</a:t>
                </a:r>
                <a:endParaRPr lang="zh-TW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B2C7FC5-C7E6-195D-9EB5-195651385F09}"/>
                  </a:ext>
                </a:extLst>
              </p:cNvPr>
              <p:cNvSpPr/>
              <p:nvPr/>
            </p:nvSpPr>
            <p:spPr>
              <a:xfrm>
                <a:off x="9312977" y="267752"/>
                <a:ext cx="1595518" cy="60865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D1FD38A-AF02-1671-99A0-C5CDD1617456}"/>
                </a:ext>
              </a:extLst>
            </p:cNvPr>
            <p:cNvSpPr/>
            <p:nvPr/>
          </p:nvSpPr>
          <p:spPr>
            <a:xfrm>
              <a:off x="10711417" y="1858890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D63240-12F9-59EA-0F30-61BF14157EF8}"/>
                </a:ext>
              </a:extLst>
            </p:cNvPr>
            <p:cNvSpPr/>
            <p:nvPr/>
          </p:nvSpPr>
          <p:spPr>
            <a:xfrm>
              <a:off x="10900203" y="1811981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FB391CA-6C9A-3D42-81AA-B3BC4BDAC4EA}"/>
                </a:ext>
              </a:extLst>
            </p:cNvPr>
            <p:cNvSpPr/>
            <p:nvPr/>
          </p:nvSpPr>
          <p:spPr>
            <a:xfrm>
              <a:off x="10919148" y="2124569"/>
              <a:ext cx="11440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T0 or Tx only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47B79AC3-ECFC-11EF-0A38-0F3EAE59E496}"/>
                </a:ext>
              </a:extLst>
            </p:cNvPr>
            <p:cNvSpPr/>
            <p:nvPr/>
          </p:nvSpPr>
          <p:spPr>
            <a:xfrm>
              <a:off x="10711417" y="2160024"/>
              <a:ext cx="220836" cy="152525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27" name="矩形: 圓角 84">
            <a:extLst>
              <a:ext uri="{FF2B5EF4-FFF2-40B4-BE49-F238E27FC236}">
                <a16:creationId xmlns:a16="http://schemas.microsoft.com/office/drawing/2014/main" id="{67DF435F-A5D7-244C-78C9-B9E28A937FFB}"/>
              </a:ext>
            </a:extLst>
          </p:cNvPr>
          <p:cNvSpPr/>
          <p:nvPr/>
        </p:nvSpPr>
        <p:spPr>
          <a:xfrm>
            <a:off x="8444906" y="3439929"/>
            <a:ext cx="1721128" cy="605161"/>
          </a:xfrm>
          <a:prstGeom prst="round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Improvement Steps for Low Unit Per Hour(UPH) in Lens Crack Detection</a:t>
            </a:r>
            <a:endParaRPr lang="zh-TW" altLang="en-US" sz="1000" b="1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>
            <a:hlinkClick r:id="" action="ppaction://ole?verb=0"/>
            <a:extLst>
              <a:ext uri="{FF2B5EF4-FFF2-40B4-BE49-F238E27FC236}">
                <a16:creationId xmlns:a16="http://schemas.microsoft.com/office/drawing/2014/main" id="{25E38EDF-4381-37D4-5559-5B6066AD8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840336"/>
              </p:ext>
            </p:extLst>
          </p:nvPr>
        </p:nvGraphicFramePr>
        <p:xfrm>
          <a:off x="10255250" y="3508375"/>
          <a:ext cx="9223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Presentation" r:id="rId6" imgW="6373351" imgH="3584649" progId="PowerPoint.Show.12">
                  <p:embed/>
                </p:oleObj>
              </mc:Choice>
              <mc:Fallback>
                <p:oleObj name="Presentation" r:id="rId6" imgW="6373351" imgH="3584649" progId="PowerPoint.Show.12">
                  <p:embed/>
                  <p:pic>
                    <p:nvPicPr>
                      <p:cNvPr id="4" name="物件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5E38EDF-4381-37D4-5559-5B6066AD8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55250" y="3508375"/>
                        <a:ext cx="92233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6438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03616" y="146378"/>
            <a:ext cx="88143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Cosmetic Inspection</a:t>
            </a:r>
            <a:r>
              <a:rPr kumimoji="1" lang="en-US" altLang="zh-CN" sz="2600" b="1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Tx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5" name="橢圓 64"/>
          <p:cNvSpPr/>
          <p:nvPr/>
        </p:nvSpPr>
        <p:spPr>
          <a:xfrm>
            <a:off x="973711" y="1670347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16362" y="952255"/>
            <a:ext cx="1326581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Test </a:t>
            </a:r>
            <a:r>
              <a:rPr lang="en-US" altLang="zh-CN" sz="1000" dirty="0">
                <a:latin typeface="Calibri" panose="020F0502020204030204" pitchFamily="34" charset="0"/>
              </a:rPr>
              <a:t>center</a:t>
            </a:r>
            <a:r>
              <a:rPr lang="zh-TW" altLang="en-US" sz="1000" dirty="0">
                <a:latin typeface="Calibri" panose="020F0502020204030204" pitchFamily="34" charset="0"/>
              </a:rPr>
              <a:t>將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機台與</a:t>
            </a:r>
            <a:r>
              <a:rPr lang="en-US" altLang="zh-TW" sz="1000" dirty="0">
                <a:solidFill>
                  <a:schemeClr val="tx1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放置待轉運區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839019" y="1027939"/>
            <a:ext cx="8083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等待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Test Email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通知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Cosmetic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71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831" y="1646903"/>
            <a:ext cx="236044" cy="24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向右箭號 72"/>
          <p:cNvSpPr/>
          <p:nvPr/>
        </p:nvSpPr>
        <p:spPr>
          <a:xfrm>
            <a:off x="2073409" y="172172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1" name="橢圓 80"/>
          <p:cNvSpPr/>
          <p:nvPr/>
        </p:nvSpPr>
        <p:spPr>
          <a:xfrm>
            <a:off x="4825776" y="1670347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3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4314683" y="1189522"/>
            <a:ext cx="1230310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轉運區領取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機台與</a:t>
            </a:r>
            <a:r>
              <a:rPr lang="en-US" altLang="zh-TW" sz="1000" dirty="0">
                <a:solidFill>
                  <a:schemeClr val="tx1"/>
                </a:solidFill>
                <a:latin typeface="Calibri" panose="020F0502020204030204" pitchFamily="34" charset="0"/>
              </a:rPr>
              <a:t>Travel sheet</a:t>
            </a:r>
          </a:p>
        </p:txBody>
      </p:sp>
      <p:sp>
        <p:nvSpPr>
          <p:cNvPr id="95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592112" y="2037710"/>
            <a:ext cx="684000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00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3665639" y="172172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8634995" y="1691824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2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6458529" y="1189522"/>
            <a:ext cx="1005527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lang="zh-TW" altLang="en-US" sz="1000" dirty="0">
                <a:solidFill>
                  <a:srgbClr val="00B0F0"/>
                </a:solidFill>
                <a:latin typeface="Calibri" panose="020F0502020204030204" pitchFamily="34" charset="0"/>
              </a:rPr>
              <a:t>刷 </a:t>
            </a:r>
            <a:r>
              <a:rPr lang="en-US" altLang="zh-TW" sz="1000" dirty="0">
                <a:solidFill>
                  <a:srgbClr val="00B0F0"/>
                </a:solidFill>
                <a:latin typeface="Calibri" panose="020F0502020204030204" pitchFamily="34" charset="0"/>
              </a:rPr>
              <a:t>IMES &amp; Summary I</a:t>
            </a:r>
            <a:r>
              <a:rPr lang="en-US" altLang="zh-CN" sz="1000" dirty="0">
                <a:solidFill>
                  <a:srgbClr val="00B0F0"/>
                </a:solidFill>
                <a:latin typeface="Calibri" panose="020F0502020204030204" pitchFamily="34" charset="0"/>
              </a:rPr>
              <a:t>n</a:t>
            </a:r>
            <a:r>
              <a:rPr lang="zh-TW" altLang="en-US" sz="1000" dirty="0">
                <a:solidFill>
                  <a:srgbClr val="00B0F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04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5566920" y="172172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5" name="向右箭號 104"/>
          <p:cNvSpPr/>
          <p:nvPr/>
        </p:nvSpPr>
        <p:spPr>
          <a:xfrm>
            <a:off x="7587551" y="172172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8370682" y="1351104"/>
            <a:ext cx="7545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清潔機台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08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6795541" y="1618008"/>
            <a:ext cx="295200" cy="36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矩形 108"/>
          <p:cNvSpPr/>
          <p:nvPr/>
        </p:nvSpPr>
        <p:spPr>
          <a:xfrm>
            <a:off x="9653055" y="1370364"/>
            <a:ext cx="105205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機台稱重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0" name="向右箭號 109"/>
          <p:cNvSpPr/>
          <p:nvPr/>
        </p:nvSpPr>
        <p:spPr>
          <a:xfrm>
            <a:off x="9126567" y="172315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1" name="橢圓 110"/>
          <p:cNvSpPr/>
          <p:nvPr/>
        </p:nvSpPr>
        <p:spPr>
          <a:xfrm>
            <a:off x="10101589" y="1668075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2151587" y="150192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738428" y="1502056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5627056" y="149195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7664104" y="150192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9190204" y="1512121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橢圓 110">
            <a:extLst>
              <a:ext uri="{FF2B5EF4-FFF2-40B4-BE49-F238E27FC236}">
                <a16:creationId xmlns:a16="http://schemas.microsoft.com/office/drawing/2014/main" id="{579A47F2-9706-DAD2-9556-EC2D26990567}"/>
              </a:ext>
            </a:extLst>
          </p:cNvPr>
          <p:cNvSpPr/>
          <p:nvPr/>
        </p:nvSpPr>
        <p:spPr>
          <a:xfrm>
            <a:off x="11504781" y="4663922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506F94A5-2F30-8495-AA58-B4EF195C3EAB}"/>
              </a:ext>
            </a:extLst>
          </p:cNvPr>
          <p:cNvSpPr/>
          <p:nvPr/>
        </p:nvSpPr>
        <p:spPr>
          <a:xfrm>
            <a:off x="11074802" y="4388703"/>
            <a:ext cx="111719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色差測量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603957" y="2037710"/>
            <a:ext cx="670749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5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8342168" y="2037710"/>
            <a:ext cx="756993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5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872001" y="2035438"/>
            <a:ext cx="756993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81" name="向右箭號 180"/>
          <p:cNvSpPr/>
          <p:nvPr/>
        </p:nvSpPr>
        <p:spPr>
          <a:xfrm rot="10800000">
            <a:off x="7389657" y="468386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2" name="文字方塊 181"/>
          <p:cNvSpPr txBox="1"/>
          <p:nvPr/>
        </p:nvSpPr>
        <p:spPr>
          <a:xfrm>
            <a:off x="7353559" y="4418698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7" name="橢圓 186"/>
          <p:cNvSpPr/>
          <p:nvPr/>
        </p:nvSpPr>
        <p:spPr>
          <a:xfrm>
            <a:off x="8506208" y="4663922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8095018" y="4249468"/>
            <a:ext cx="111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其他部位目檢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9" name="文字方塊 188"/>
          <p:cNvSpPr txBox="1"/>
          <p:nvPr/>
        </p:nvSpPr>
        <p:spPr>
          <a:xfrm>
            <a:off x="10951328" y="3482416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8343403" y="4951865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92" name="向右箭號 91"/>
          <p:cNvSpPr/>
          <p:nvPr/>
        </p:nvSpPr>
        <p:spPr>
          <a:xfrm rot="10800000">
            <a:off x="1333635" y="4700721"/>
            <a:ext cx="739523" cy="118435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69767" y="4333807"/>
            <a:ext cx="957380" cy="25391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領機拍照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15734" y="4942250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98" name="文字方塊 97"/>
          <p:cNvSpPr txBox="1"/>
          <p:nvPr/>
        </p:nvSpPr>
        <p:spPr>
          <a:xfrm>
            <a:off x="1397273" y="4418699"/>
            <a:ext cx="6064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9" name="向右箭號 98"/>
          <p:cNvSpPr/>
          <p:nvPr/>
        </p:nvSpPr>
        <p:spPr>
          <a:xfrm rot="10800000">
            <a:off x="5571854" y="468386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5646590" y="4418699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6" name="橢圓 105"/>
          <p:cNvSpPr/>
          <p:nvPr/>
        </p:nvSpPr>
        <p:spPr>
          <a:xfrm>
            <a:off x="6646867" y="4656222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6293860" y="4112927"/>
            <a:ext cx="987623" cy="41549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填寫</a:t>
            </a:r>
            <a:endParaRPr lang="en-US" altLang="zh-CN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Travel sheet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503029" y="4944165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8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899853" y="2037710"/>
            <a:ext cx="684000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25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1234283" y="4951865"/>
            <a:ext cx="756993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27" name="文字方塊 126"/>
          <p:cNvSpPr txBox="1"/>
          <p:nvPr/>
        </p:nvSpPr>
        <p:spPr>
          <a:xfrm>
            <a:off x="619885" y="2035794"/>
            <a:ext cx="792205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b="1" noProof="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Test </a:t>
            </a:r>
            <a:r>
              <a:rPr lang="en-US" altLang="zh-CN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Center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2316261" y="4128316"/>
            <a:ext cx="749902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放置待拍照區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341124" y="4944166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53" name="向右箭號 152"/>
          <p:cNvSpPr/>
          <p:nvPr/>
        </p:nvSpPr>
        <p:spPr>
          <a:xfrm rot="10800000">
            <a:off x="3135050" y="468386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3221341" y="4418699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4089938" y="4099076"/>
            <a:ext cx="1259225" cy="41549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使用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目檢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錄入查重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腳本篩查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重複項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411618" y="4953310"/>
            <a:ext cx="580608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165" name="矩形 164"/>
          <p:cNvSpPr/>
          <p:nvPr/>
        </p:nvSpPr>
        <p:spPr>
          <a:xfrm>
            <a:off x="4145106" y="4088927"/>
            <a:ext cx="1160493" cy="479364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2260941" y="4094224"/>
            <a:ext cx="835114" cy="439350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7" name="橢圓 166"/>
          <p:cNvSpPr/>
          <p:nvPr/>
        </p:nvSpPr>
        <p:spPr>
          <a:xfrm>
            <a:off x="4559536" y="4656223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橢圓 167"/>
          <p:cNvSpPr/>
          <p:nvPr/>
        </p:nvSpPr>
        <p:spPr>
          <a:xfrm>
            <a:off x="2495227" y="4656223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9" name="橢圓 168"/>
          <p:cNvSpPr/>
          <p:nvPr/>
        </p:nvSpPr>
        <p:spPr>
          <a:xfrm>
            <a:off x="776801" y="4656223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1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469767" y="897459"/>
            <a:ext cx="1234511" cy="1564229"/>
          </a:xfrm>
          <a:prstGeom prst="roundRect">
            <a:avLst/>
          </a:prstGeom>
          <a:noFill/>
          <a:ln w="1905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FDC72C57-109A-4B57-B1C9-7FC819455723}"/>
              </a:ext>
            </a:extLst>
          </p:cNvPr>
          <p:cNvSpPr txBox="1"/>
          <p:nvPr/>
        </p:nvSpPr>
        <p:spPr>
          <a:xfrm>
            <a:off x="1693654" y="2114859"/>
            <a:ext cx="972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TX </a:t>
            </a:r>
            <a:r>
              <a:rPr lang="en-US" altLang="zh-CN" sz="1000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only</a:t>
            </a:r>
            <a:endParaRPr lang="zh-TW" altLang="en-US" sz="1000" dirty="0">
              <a:solidFill>
                <a:schemeClr val="accent6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ED51ED73-C85C-4225-879F-30799D2F8786}"/>
              </a:ext>
            </a:extLst>
          </p:cNvPr>
          <p:cNvGrpSpPr/>
          <p:nvPr/>
        </p:nvGrpSpPr>
        <p:grpSpPr>
          <a:xfrm>
            <a:off x="1233107" y="5838343"/>
            <a:ext cx="8871073" cy="946749"/>
            <a:chOff x="1061633" y="5821903"/>
            <a:chExt cx="8871073" cy="946749"/>
          </a:xfrm>
        </p:grpSpPr>
        <p:sp>
          <p:nvSpPr>
            <p:cNvPr id="118" name="文字方塊 165">
              <a:extLst>
                <a:ext uri="{FF2B5EF4-FFF2-40B4-BE49-F238E27FC236}">
                  <a16:creationId xmlns:a16="http://schemas.microsoft.com/office/drawing/2014/main" id="{E9CD512E-BBCB-4F79-AC66-5F77446BAED6}"/>
                </a:ext>
              </a:extLst>
            </p:cNvPr>
            <p:cNvSpPr txBox="1"/>
            <p:nvPr/>
          </p:nvSpPr>
          <p:spPr>
            <a:xfrm>
              <a:off x="3121287" y="6522091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19" name="文字方塊 83">
              <a:extLst>
                <a:ext uri="{FF2B5EF4-FFF2-40B4-BE49-F238E27FC236}">
                  <a16:creationId xmlns:a16="http://schemas.microsoft.com/office/drawing/2014/main" id="{959F5FC2-51FF-47D7-8721-7E59A805B3C2}"/>
                </a:ext>
              </a:extLst>
            </p:cNvPr>
            <p:cNvSpPr txBox="1"/>
            <p:nvPr/>
          </p:nvSpPr>
          <p:spPr>
            <a:xfrm>
              <a:off x="2842325" y="5830428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FX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整理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&amp;F1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確認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Failure Mode List</a:t>
              </a:r>
              <a:endPara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ABEC623D-B6CA-4078-92BA-5E7E4765ED1A}"/>
                </a:ext>
              </a:extLst>
            </p:cNvPr>
            <p:cNvSpPr/>
            <p:nvPr/>
          </p:nvSpPr>
          <p:spPr>
            <a:xfrm>
              <a:off x="3385715" y="6240106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8" name="文字方塊 165">
              <a:extLst>
                <a:ext uri="{FF2B5EF4-FFF2-40B4-BE49-F238E27FC236}">
                  <a16:creationId xmlns:a16="http://schemas.microsoft.com/office/drawing/2014/main" id="{6CE6E5A2-1283-4CE8-9F82-19BABA551065}"/>
                </a:ext>
              </a:extLst>
            </p:cNvPr>
            <p:cNvSpPr txBox="1"/>
            <p:nvPr/>
          </p:nvSpPr>
          <p:spPr>
            <a:xfrm>
              <a:off x="1378987" y="6522091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29" name="文字方塊 83">
              <a:extLst>
                <a:ext uri="{FF2B5EF4-FFF2-40B4-BE49-F238E27FC236}">
                  <a16:creationId xmlns:a16="http://schemas.microsoft.com/office/drawing/2014/main" id="{FA687499-77D1-4184-917F-76CFE46A0060}"/>
                </a:ext>
              </a:extLst>
            </p:cNvPr>
            <p:cNvSpPr txBox="1"/>
            <p:nvPr/>
          </p:nvSpPr>
          <p:spPr>
            <a:xfrm>
              <a:off x="1061633" y="5830428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整理</a:t>
              </a:r>
              <a:r>
                <a:rPr lang="en-US" altLang="zh-TW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OQC Waiver List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更新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REL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版本</a:t>
              </a:r>
              <a:endPara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82D4339C-8839-4FA5-A8E0-B6131BF92A27}"/>
                </a:ext>
              </a:extLst>
            </p:cNvPr>
            <p:cNvSpPr/>
            <p:nvPr/>
          </p:nvSpPr>
          <p:spPr>
            <a:xfrm>
              <a:off x="1620876" y="6240106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1" name="向右箭號 113">
              <a:extLst>
                <a:ext uri="{FF2B5EF4-FFF2-40B4-BE49-F238E27FC236}">
                  <a16:creationId xmlns:a16="http://schemas.microsoft.com/office/drawing/2014/main" id="{000A5F02-4A44-4778-B2A9-D96AE4DC58ED}"/>
                </a:ext>
              </a:extLst>
            </p:cNvPr>
            <p:cNvSpPr/>
            <p:nvPr/>
          </p:nvSpPr>
          <p:spPr>
            <a:xfrm>
              <a:off x="2168518" y="6256639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5BE19BE2-9A45-4474-B7FD-A9D15D0E120C}"/>
                </a:ext>
              </a:extLst>
            </p:cNvPr>
            <p:cNvSpPr txBox="1"/>
            <p:nvPr/>
          </p:nvSpPr>
          <p:spPr>
            <a:xfrm>
              <a:off x="2246545" y="5998345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2 days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4" name="文字方塊 165">
              <a:extLst>
                <a:ext uri="{FF2B5EF4-FFF2-40B4-BE49-F238E27FC236}">
                  <a16:creationId xmlns:a16="http://schemas.microsoft.com/office/drawing/2014/main" id="{5CABAF50-3507-420C-BA7C-7C03964ACF03}"/>
                </a:ext>
              </a:extLst>
            </p:cNvPr>
            <p:cNvSpPr txBox="1"/>
            <p:nvPr/>
          </p:nvSpPr>
          <p:spPr>
            <a:xfrm>
              <a:off x="5115682" y="6516794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35" name="文字方塊 83">
              <a:extLst>
                <a:ext uri="{FF2B5EF4-FFF2-40B4-BE49-F238E27FC236}">
                  <a16:creationId xmlns:a16="http://schemas.microsoft.com/office/drawing/2014/main" id="{094A78FE-23DB-4473-BF03-576A18327D07}"/>
                </a:ext>
              </a:extLst>
            </p:cNvPr>
            <p:cNvSpPr txBox="1"/>
            <p:nvPr/>
          </p:nvSpPr>
          <p:spPr>
            <a:xfrm>
              <a:off x="4862336" y="5825131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檢出新的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Failure Modes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並拍照</a:t>
              </a:r>
            </a:p>
          </p:txBody>
        </p:sp>
        <p:sp>
          <p:nvSpPr>
            <p:cNvPr id="136" name="橢圓 135">
              <a:extLst>
                <a:ext uri="{FF2B5EF4-FFF2-40B4-BE49-F238E27FC236}">
                  <a16:creationId xmlns:a16="http://schemas.microsoft.com/office/drawing/2014/main" id="{F679F086-C53D-44C9-BCDF-8EA4435D9BE8}"/>
                </a:ext>
              </a:extLst>
            </p:cNvPr>
            <p:cNvSpPr/>
            <p:nvPr/>
          </p:nvSpPr>
          <p:spPr>
            <a:xfrm>
              <a:off x="5336199" y="6234809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3" name="向右箭號 113">
              <a:extLst>
                <a:ext uri="{FF2B5EF4-FFF2-40B4-BE49-F238E27FC236}">
                  <a16:creationId xmlns:a16="http://schemas.microsoft.com/office/drawing/2014/main" id="{9680195C-A917-4F26-8B1D-49A6815F9A4C}"/>
                </a:ext>
              </a:extLst>
            </p:cNvPr>
            <p:cNvSpPr/>
            <p:nvPr/>
          </p:nvSpPr>
          <p:spPr>
            <a:xfrm>
              <a:off x="4148495" y="6278501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398FF71D-0248-4EF6-82A7-7E76E64ED39F}"/>
                </a:ext>
              </a:extLst>
            </p:cNvPr>
            <p:cNvSpPr txBox="1"/>
            <p:nvPr/>
          </p:nvSpPr>
          <p:spPr>
            <a:xfrm>
              <a:off x="4247429" y="6038313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2 days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5" name="文字方塊 165">
              <a:extLst>
                <a:ext uri="{FF2B5EF4-FFF2-40B4-BE49-F238E27FC236}">
                  <a16:creationId xmlns:a16="http://schemas.microsoft.com/office/drawing/2014/main" id="{91D139CF-3C5D-489E-A3D7-16643BB5D28F}"/>
                </a:ext>
              </a:extLst>
            </p:cNvPr>
            <p:cNvSpPr txBox="1"/>
            <p:nvPr/>
          </p:nvSpPr>
          <p:spPr>
            <a:xfrm>
              <a:off x="7041069" y="6522431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46" name="文字方塊 83">
              <a:extLst>
                <a:ext uri="{FF2B5EF4-FFF2-40B4-BE49-F238E27FC236}">
                  <a16:creationId xmlns:a16="http://schemas.microsoft.com/office/drawing/2014/main" id="{B02F6F0F-5773-446B-8FD9-FD9C5847DB28}"/>
                </a:ext>
              </a:extLst>
            </p:cNvPr>
            <p:cNvSpPr txBox="1"/>
            <p:nvPr/>
          </p:nvSpPr>
          <p:spPr>
            <a:xfrm>
              <a:off x="6787723" y="5830768"/>
              <a:ext cx="139896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內部整理確認後提出</a:t>
              </a:r>
              <a:r>
                <a:rPr lang="en-US" altLang="zh-TW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Failure Modes</a:t>
              </a:r>
              <a:r>
                <a:rPr lang="zh-TW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建議</a:t>
              </a:r>
            </a:p>
          </p:txBody>
        </p:sp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EFAD8D95-C188-4953-98FA-AFCAFD7E5B95}"/>
                </a:ext>
              </a:extLst>
            </p:cNvPr>
            <p:cNvSpPr/>
            <p:nvPr/>
          </p:nvSpPr>
          <p:spPr>
            <a:xfrm>
              <a:off x="7261586" y="6240446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8" name="向右箭號 113">
              <a:extLst>
                <a:ext uri="{FF2B5EF4-FFF2-40B4-BE49-F238E27FC236}">
                  <a16:creationId xmlns:a16="http://schemas.microsoft.com/office/drawing/2014/main" id="{2CD05F84-55A9-4906-81DE-0AA3CA646860}"/>
                </a:ext>
              </a:extLst>
            </p:cNvPr>
            <p:cNvSpPr/>
            <p:nvPr/>
          </p:nvSpPr>
          <p:spPr>
            <a:xfrm>
              <a:off x="5983633" y="6284138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B2E97094-B77E-4FFA-9FF5-97236027D7F6}"/>
                </a:ext>
              </a:extLst>
            </p:cNvPr>
            <p:cNvSpPr txBox="1"/>
            <p:nvPr/>
          </p:nvSpPr>
          <p:spPr>
            <a:xfrm>
              <a:off x="5979182" y="6043950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5min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2" name="文字方塊 165">
              <a:extLst>
                <a:ext uri="{FF2B5EF4-FFF2-40B4-BE49-F238E27FC236}">
                  <a16:creationId xmlns:a16="http://schemas.microsoft.com/office/drawing/2014/main" id="{B1EA5517-E0C7-4054-B060-51939EA2EC6E}"/>
                </a:ext>
              </a:extLst>
            </p:cNvPr>
            <p:cNvSpPr txBox="1"/>
            <p:nvPr/>
          </p:nvSpPr>
          <p:spPr>
            <a:xfrm>
              <a:off x="8886903" y="6513566"/>
              <a:ext cx="580608" cy="246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lvl="0">
                <a:defRPr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lang="en-US" altLang="zh-CN" sz="1000" dirty="0">
                  <a:latin typeface="Calibri" panose="020F0502020204030204" pitchFamily="34" charset="0"/>
                </a:rPr>
                <a:t>Tammy</a:t>
              </a:r>
              <a:endParaRPr lang="en-US" altLang="zh-TW" sz="1000" dirty="0">
                <a:latin typeface="Calibri" panose="020F0502020204030204" pitchFamily="34" charset="0"/>
              </a:endParaRPr>
            </a:p>
          </p:txBody>
        </p:sp>
        <p:sp>
          <p:nvSpPr>
            <p:cNvPr id="193" name="文字方塊 83">
              <a:extLst>
                <a:ext uri="{FF2B5EF4-FFF2-40B4-BE49-F238E27FC236}">
                  <a16:creationId xmlns:a16="http://schemas.microsoft.com/office/drawing/2014/main" id="{A896D874-4E97-4B6B-B685-B4B725175DCE}"/>
                </a:ext>
              </a:extLst>
            </p:cNvPr>
            <p:cNvSpPr txBox="1"/>
            <p:nvPr/>
          </p:nvSpPr>
          <p:spPr>
            <a:xfrm>
              <a:off x="8606125" y="5821903"/>
              <a:ext cx="132658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zh-TW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F1</a:t>
              </a:r>
              <a:r>
                <a:rPr lang="zh-TW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查看圖片並確認</a:t>
              </a:r>
              <a:r>
                <a:rPr lang="zh-CN" altLang="en-US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後更新</a:t>
              </a:r>
              <a:r>
                <a:rPr lang="en-US" altLang="zh-CN" sz="1000" b="1" dirty="0">
                  <a:solidFill>
                    <a:srgbClr val="0000FF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FM List</a:t>
              </a:r>
              <a:endPara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CFF253C9-8057-44FE-ABB6-FEB858C5DCE2}"/>
                </a:ext>
              </a:extLst>
            </p:cNvPr>
            <p:cNvSpPr/>
            <p:nvPr/>
          </p:nvSpPr>
          <p:spPr>
            <a:xfrm>
              <a:off x="9079988" y="6231581"/>
              <a:ext cx="216000" cy="216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5" name="向右箭號 113">
              <a:extLst>
                <a:ext uri="{FF2B5EF4-FFF2-40B4-BE49-F238E27FC236}">
                  <a16:creationId xmlns:a16="http://schemas.microsoft.com/office/drawing/2014/main" id="{64A5D94C-240B-4BC5-9C63-7AB5BBE522F1}"/>
                </a:ext>
              </a:extLst>
            </p:cNvPr>
            <p:cNvSpPr/>
            <p:nvPr/>
          </p:nvSpPr>
          <p:spPr>
            <a:xfrm>
              <a:off x="8002382" y="6311485"/>
              <a:ext cx="738000" cy="13529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6" name="文字方塊 195">
              <a:extLst>
                <a:ext uri="{FF2B5EF4-FFF2-40B4-BE49-F238E27FC236}">
                  <a16:creationId xmlns:a16="http://schemas.microsoft.com/office/drawing/2014/main" id="{BF076EC6-48CC-4CEA-BB06-7BAAC41DCA71}"/>
                </a:ext>
              </a:extLst>
            </p:cNvPr>
            <p:cNvSpPr txBox="1"/>
            <p:nvPr/>
          </p:nvSpPr>
          <p:spPr>
            <a:xfrm>
              <a:off x="8071083" y="6062244"/>
              <a:ext cx="769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C000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2min</a:t>
              </a:r>
              <a:endParaRPr lang="zh-TW" altLang="en-US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97" name="向右箭號 180">
            <a:extLst>
              <a:ext uri="{FF2B5EF4-FFF2-40B4-BE49-F238E27FC236}">
                <a16:creationId xmlns:a16="http://schemas.microsoft.com/office/drawing/2014/main" id="{B08B5ABF-1D27-426E-A392-59F3228CA2BD}"/>
              </a:ext>
            </a:extLst>
          </p:cNvPr>
          <p:cNvSpPr/>
          <p:nvPr/>
        </p:nvSpPr>
        <p:spPr>
          <a:xfrm rot="10800000">
            <a:off x="10463677" y="4696371"/>
            <a:ext cx="738000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9" name="文字方塊 198">
            <a:extLst>
              <a:ext uri="{FF2B5EF4-FFF2-40B4-BE49-F238E27FC236}">
                <a16:creationId xmlns:a16="http://schemas.microsoft.com/office/drawing/2014/main" id="{75806C09-6815-476C-A566-F05632D70EAF}"/>
              </a:ext>
            </a:extLst>
          </p:cNvPr>
          <p:cNvSpPr txBox="1"/>
          <p:nvPr/>
        </p:nvSpPr>
        <p:spPr>
          <a:xfrm>
            <a:off x="10501456" y="4411813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1" name="橢圓 110">
            <a:extLst>
              <a:ext uri="{FF2B5EF4-FFF2-40B4-BE49-F238E27FC236}">
                <a16:creationId xmlns:a16="http://schemas.microsoft.com/office/drawing/2014/main" id="{65438950-CA87-44C6-835C-F99CE6267D5D}"/>
              </a:ext>
            </a:extLst>
          </p:cNvPr>
          <p:cNvSpPr/>
          <p:nvPr/>
        </p:nvSpPr>
        <p:spPr>
          <a:xfrm>
            <a:off x="11436247" y="2790228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2" name="文字方塊 165">
            <a:extLst>
              <a:ext uri="{FF2B5EF4-FFF2-40B4-BE49-F238E27FC236}">
                <a16:creationId xmlns:a16="http://schemas.microsoft.com/office/drawing/2014/main" id="{1785CC1C-CA03-4E0C-A49B-FA41886E8872}"/>
              </a:ext>
            </a:extLst>
          </p:cNvPr>
          <p:cNvSpPr txBox="1"/>
          <p:nvPr/>
        </p:nvSpPr>
        <p:spPr>
          <a:xfrm>
            <a:off x="11257133" y="3092686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203" name="向右箭號 113">
            <a:extLst>
              <a:ext uri="{FF2B5EF4-FFF2-40B4-BE49-F238E27FC236}">
                <a16:creationId xmlns:a16="http://schemas.microsoft.com/office/drawing/2014/main" id="{785869D1-1C52-4F6F-81A1-D3187B0E56C3}"/>
              </a:ext>
            </a:extLst>
          </p:cNvPr>
          <p:cNvSpPr/>
          <p:nvPr/>
        </p:nvSpPr>
        <p:spPr>
          <a:xfrm rot="5400000">
            <a:off x="11222943" y="3754463"/>
            <a:ext cx="714607" cy="144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文字方塊 141">
            <a:extLst>
              <a:ext uri="{FF2B5EF4-FFF2-40B4-BE49-F238E27FC236}">
                <a16:creationId xmlns:a16="http://schemas.microsoft.com/office/drawing/2014/main" id="{D2410E37-4C41-463E-8574-B9E8BAB520E1}"/>
              </a:ext>
            </a:extLst>
          </p:cNvPr>
          <p:cNvSpPr txBox="1"/>
          <p:nvPr/>
        </p:nvSpPr>
        <p:spPr>
          <a:xfrm>
            <a:off x="9615429" y="2340933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88F9E8D3-1763-418D-B222-5CDD4C218C23}"/>
              </a:ext>
            </a:extLst>
          </p:cNvPr>
          <p:cNvSpPr/>
          <p:nvPr/>
        </p:nvSpPr>
        <p:spPr>
          <a:xfrm>
            <a:off x="11124424" y="2527608"/>
            <a:ext cx="789167" cy="2539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4PT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5" name="橢圓 186">
            <a:extLst>
              <a:ext uri="{FF2B5EF4-FFF2-40B4-BE49-F238E27FC236}">
                <a16:creationId xmlns:a16="http://schemas.microsoft.com/office/drawing/2014/main" id="{01BFB8D0-C54D-4A12-A756-1F0DB0C310AD}"/>
              </a:ext>
            </a:extLst>
          </p:cNvPr>
          <p:cNvSpPr/>
          <p:nvPr/>
        </p:nvSpPr>
        <p:spPr>
          <a:xfrm>
            <a:off x="10022791" y="4663922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6" name="文字方塊 165">
            <a:extLst>
              <a:ext uri="{FF2B5EF4-FFF2-40B4-BE49-F238E27FC236}">
                <a16:creationId xmlns:a16="http://schemas.microsoft.com/office/drawing/2014/main" id="{9171AA8E-4FF9-45FC-AAC0-CF9CE161D8CA}"/>
              </a:ext>
            </a:extLst>
          </p:cNvPr>
          <p:cNvSpPr txBox="1"/>
          <p:nvPr/>
        </p:nvSpPr>
        <p:spPr>
          <a:xfrm>
            <a:off x="9811285" y="4951865"/>
            <a:ext cx="58060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9C09694-833B-4498-988E-0149266CA0E4}"/>
              </a:ext>
            </a:extLst>
          </p:cNvPr>
          <p:cNvSpPr/>
          <p:nvPr/>
        </p:nvSpPr>
        <p:spPr>
          <a:xfrm>
            <a:off x="9555259" y="4264582"/>
            <a:ext cx="1149668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鏡片目檢</a:t>
            </a:r>
            <a:endParaRPr lang="en-US" altLang="zh-TW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0" name="向右箭號 180">
            <a:extLst>
              <a:ext uri="{FF2B5EF4-FFF2-40B4-BE49-F238E27FC236}">
                <a16:creationId xmlns:a16="http://schemas.microsoft.com/office/drawing/2014/main" id="{72C278AB-C0D0-45AB-97B7-96F24D964439}"/>
              </a:ext>
            </a:extLst>
          </p:cNvPr>
          <p:cNvSpPr/>
          <p:nvPr/>
        </p:nvSpPr>
        <p:spPr>
          <a:xfrm rot="10800000">
            <a:off x="8982990" y="468662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2" name="文字方塊 181">
            <a:extLst>
              <a:ext uri="{FF2B5EF4-FFF2-40B4-BE49-F238E27FC236}">
                <a16:creationId xmlns:a16="http://schemas.microsoft.com/office/drawing/2014/main" id="{546B3007-914A-4694-B5A9-3CDB7045DE34}"/>
              </a:ext>
            </a:extLst>
          </p:cNvPr>
          <p:cNvSpPr txBox="1"/>
          <p:nvPr/>
        </p:nvSpPr>
        <p:spPr>
          <a:xfrm>
            <a:off x="9111372" y="4439720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6min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79" name="群組 103">
            <a:extLst>
              <a:ext uri="{FF2B5EF4-FFF2-40B4-BE49-F238E27FC236}">
                <a16:creationId xmlns:a16="http://schemas.microsoft.com/office/drawing/2014/main" id="{55020722-18B9-4E83-A3BC-011CD2639439}"/>
              </a:ext>
            </a:extLst>
          </p:cNvPr>
          <p:cNvGrpSpPr/>
          <p:nvPr/>
        </p:nvGrpSpPr>
        <p:grpSpPr>
          <a:xfrm rot="16200000">
            <a:off x="9078841" y="4930901"/>
            <a:ext cx="643963" cy="1243938"/>
            <a:chOff x="2936220" y="5483228"/>
            <a:chExt cx="1059345" cy="1609063"/>
          </a:xfrm>
        </p:grpSpPr>
        <p:sp>
          <p:nvSpPr>
            <p:cNvPr id="205" name="向右箭號 108">
              <a:extLst>
                <a:ext uri="{FF2B5EF4-FFF2-40B4-BE49-F238E27FC236}">
                  <a16:creationId xmlns:a16="http://schemas.microsoft.com/office/drawing/2014/main" id="{C26B58D9-DC89-4798-AB8C-24C4794DF18D}"/>
                </a:ext>
              </a:extLst>
            </p:cNvPr>
            <p:cNvSpPr/>
            <p:nvPr/>
          </p:nvSpPr>
          <p:spPr>
            <a:xfrm rot="5400000">
              <a:off x="2573779" y="6205782"/>
              <a:ext cx="1530434" cy="177664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6" name="向右箭號 112">
              <a:extLst>
                <a:ext uri="{FF2B5EF4-FFF2-40B4-BE49-F238E27FC236}">
                  <a16:creationId xmlns:a16="http://schemas.microsoft.com/office/drawing/2014/main" id="{7FBC4D54-CA85-44DB-9C1D-948837F79181}"/>
                </a:ext>
              </a:extLst>
            </p:cNvPr>
            <p:cNvSpPr/>
            <p:nvPr/>
          </p:nvSpPr>
          <p:spPr>
            <a:xfrm>
              <a:off x="2936220" y="6307402"/>
              <a:ext cx="437234" cy="139701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7" name="向右箭號 115">
              <a:extLst>
                <a:ext uri="{FF2B5EF4-FFF2-40B4-BE49-F238E27FC236}">
                  <a16:creationId xmlns:a16="http://schemas.microsoft.com/office/drawing/2014/main" id="{8C50E9EA-B582-4015-879E-021D99373D9F}"/>
                </a:ext>
              </a:extLst>
            </p:cNvPr>
            <p:cNvSpPr/>
            <p:nvPr/>
          </p:nvSpPr>
          <p:spPr>
            <a:xfrm>
              <a:off x="3321266" y="5483228"/>
              <a:ext cx="647999" cy="139701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8" name="向右箭號 114">
              <a:extLst>
                <a:ext uri="{FF2B5EF4-FFF2-40B4-BE49-F238E27FC236}">
                  <a16:creationId xmlns:a16="http://schemas.microsoft.com/office/drawing/2014/main" id="{739F1C09-1F9D-4731-A70D-0DE33D46987C}"/>
                </a:ext>
              </a:extLst>
            </p:cNvPr>
            <p:cNvSpPr/>
            <p:nvPr/>
          </p:nvSpPr>
          <p:spPr>
            <a:xfrm>
              <a:off x="3347566" y="6952591"/>
              <a:ext cx="647999" cy="1397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80" name="文字方塊 235">
            <a:extLst>
              <a:ext uri="{FF2B5EF4-FFF2-40B4-BE49-F238E27FC236}">
                <a16:creationId xmlns:a16="http://schemas.microsoft.com/office/drawing/2014/main" id="{1A47078A-A923-48B4-8349-FA93AD7A25F3}"/>
              </a:ext>
            </a:extLst>
          </p:cNvPr>
          <p:cNvSpPr txBox="1"/>
          <p:nvPr/>
        </p:nvSpPr>
        <p:spPr>
          <a:xfrm>
            <a:off x="9111551" y="5297101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3" name="橢圓 80">
            <a:extLst>
              <a:ext uri="{FF2B5EF4-FFF2-40B4-BE49-F238E27FC236}">
                <a16:creationId xmlns:a16="http://schemas.microsoft.com/office/drawing/2014/main" id="{333EF570-2242-4906-B836-13793C807141}"/>
              </a:ext>
            </a:extLst>
          </p:cNvPr>
          <p:cNvSpPr/>
          <p:nvPr/>
        </p:nvSpPr>
        <p:spPr>
          <a:xfrm>
            <a:off x="940613" y="3045605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4" name="文字方塊 121">
            <a:extLst>
              <a:ext uri="{FF2B5EF4-FFF2-40B4-BE49-F238E27FC236}">
                <a16:creationId xmlns:a16="http://schemas.microsoft.com/office/drawing/2014/main" id="{674D8D02-EC77-44F3-9F1C-901A5E78F12A}"/>
              </a:ext>
            </a:extLst>
          </p:cNvPr>
          <p:cNvSpPr txBox="1"/>
          <p:nvPr/>
        </p:nvSpPr>
        <p:spPr>
          <a:xfrm>
            <a:off x="452162" y="2775122"/>
            <a:ext cx="1266171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</a:rPr>
              <a:t>CTL Drop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8" name="文字方塊 165">
            <a:extLst>
              <a:ext uri="{FF2B5EF4-FFF2-40B4-BE49-F238E27FC236}">
                <a16:creationId xmlns:a16="http://schemas.microsoft.com/office/drawing/2014/main" id="{F977B022-9CFB-4F26-B02C-2789A0529D5E}"/>
              </a:ext>
            </a:extLst>
          </p:cNvPr>
          <p:cNvSpPr txBox="1"/>
          <p:nvPr/>
        </p:nvSpPr>
        <p:spPr>
          <a:xfrm>
            <a:off x="501843" y="3436822"/>
            <a:ext cx="962135" cy="253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b="1" noProof="0" dirty="0">
                <a:solidFill>
                  <a:schemeClr val="bg1"/>
                </a:solidFill>
                <a:latin typeface="Calibri" panose="020F0502020204030204" pitchFamily="34" charset="0"/>
              </a:rPr>
              <a:t>Test </a:t>
            </a:r>
            <a:r>
              <a:rPr lang="en-US" altLang="zh-CN" sz="1000" b="1" dirty="0">
                <a:solidFill>
                  <a:schemeClr val="bg1"/>
                </a:solidFill>
                <a:latin typeface="Calibri" panose="020F0502020204030204" pitchFamily="34" charset="0"/>
              </a:rPr>
              <a:t>Center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219" name="向右箭號 166">
            <a:extLst>
              <a:ext uri="{FF2B5EF4-FFF2-40B4-BE49-F238E27FC236}">
                <a16:creationId xmlns:a16="http://schemas.microsoft.com/office/drawing/2014/main" id="{2AE73D01-1808-4209-B499-D14665D3ECDF}"/>
              </a:ext>
            </a:extLst>
          </p:cNvPr>
          <p:cNvSpPr/>
          <p:nvPr/>
        </p:nvSpPr>
        <p:spPr>
          <a:xfrm>
            <a:off x="1681757" y="3096985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1" name="文字方塊 138">
            <a:extLst>
              <a:ext uri="{FF2B5EF4-FFF2-40B4-BE49-F238E27FC236}">
                <a16:creationId xmlns:a16="http://schemas.microsoft.com/office/drawing/2014/main" id="{104C5E66-3EA8-4E82-BDC5-CB7FDFE91635}"/>
              </a:ext>
            </a:extLst>
          </p:cNvPr>
          <p:cNvSpPr txBox="1"/>
          <p:nvPr/>
        </p:nvSpPr>
        <p:spPr>
          <a:xfrm>
            <a:off x="1741893" y="2867216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3" name="橢圓 80">
            <a:extLst>
              <a:ext uri="{FF2B5EF4-FFF2-40B4-BE49-F238E27FC236}">
                <a16:creationId xmlns:a16="http://schemas.microsoft.com/office/drawing/2014/main" id="{1D80E87A-75E3-48D5-95B9-2A8C3689F662}"/>
              </a:ext>
            </a:extLst>
          </p:cNvPr>
          <p:cNvSpPr/>
          <p:nvPr/>
        </p:nvSpPr>
        <p:spPr>
          <a:xfrm>
            <a:off x="2675132" y="3084514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4" name="文字方塊 121">
            <a:extLst>
              <a:ext uri="{FF2B5EF4-FFF2-40B4-BE49-F238E27FC236}">
                <a16:creationId xmlns:a16="http://schemas.microsoft.com/office/drawing/2014/main" id="{072FB1C4-D792-412A-8C10-225F177C9F96}"/>
              </a:ext>
            </a:extLst>
          </p:cNvPr>
          <p:cNvSpPr txBox="1"/>
          <p:nvPr/>
        </p:nvSpPr>
        <p:spPr>
          <a:xfrm>
            <a:off x="2164039" y="2603689"/>
            <a:ext cx="1230310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TW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機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台現場快檢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5" name="文字方塊 165">
            <a:extLst>
              <a:ext uri="{FF2B5EF4-FFF2-40B4-BE49-F238E27FC236}">
                <a16:creationId xmlns:a16="http://schemas.microsoft.com/office/drawing/2014/main" id="{F13EEBFB-CD5D-42C5-9AF2-04103397B4F2}"/>
              </a:ext>
            </a:extLst>
          </p:cNvPr>
          <p:cNvSpPr txBox="1"/>
          <p:nvPr/>
        </p:nvSpPr>
        <p:spPr>
          <a:xfrm>
            <a:off x="2441468" y="3451877"/>
            <a:ext cx="684000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226" name="向右箭號 166">
            <a:extLst>
              <a:ext uri="{FF2B5EF4-FFF2-40B4-BE49-F238E27FC236}">
                <a16:creationId xmlns:a16="http://schemas.microsoft.com/office/drawing/2014/main" id="{C260DE94-1BDD-40AD-B037-C30866ED9841}"/>
              </a:ext>
            </a:extLst>
          </p:cNvPr>
          <p:cNvSpPr/>
          <p:nvPr/>
        </p:nvSpPr>
        <p:spPr>
          <a:xfrm>
            <a:off x="3145361" y="310641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7" name="文字方塊 137">
            <a:extLst>
              <a:ext uri="{FF2B5EF4-FFF2-40B4-BE49-F238E27FC236}">
                <a16:creationId xmlns:a16="http://schemas.microsoft.com/office/drawing/2014/main" id="{933CC604-4EC9-4CB3-8E0F-A21FC9A8E1CF}"/>
              </a:ext>
            </a:extLst>
          </p:cNvPr>
          <p:cNvSpPr txBox="1"/>
          <p:nvPr/>
        </p:nvSpPr>
        <p:spPr>
          <a:xfrm>
            <a:off x="3218150" y="2886739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8" name="橢圓 80">
            <a:extLst>
              <a:ext uri="{FF2B5EF4-FFF2-40B4-BE49-F238E27FC236}">
                <a16:creationId xmlns:a16="http://schemas.microsoft.com/office/drawing/2014/main" id="{EEEB3E6E-E60A-47D0-9500-4B4563822882}"/>
              </a:ext>
            </a:extLst>
          </p:cNvPr>
          <p:cNvSpPr/>
          <p:nvPr/>
        </p:nvSpPr>
        <p:spPr>
          <a:xfrm>
            <a:off x="4445314" y="3072221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9" name="文字方塊 121">
            <a:extLst>
              <a:ext uri="{FF2B5EF4-FFF2-40B4-BE49-F238E27FC236}">
                <a16:creationId xmlns:a16="http://schemas.microsoft.com/office/drawing/2014/main" id="{10BAA9F8-CBAF-4544-A3D2-94CC889DED39}"/>
              </a:ext>
            </a:extLst>
          </p:cNvPr>
          <p:cNvSpPr txBox="1"/>
          <p:nvPr/>
        </p:nvSpPr>
        <p:spPr>
          <a:xfrm>
            <a:off x="3947439" y="2769808"/>
            <a:ext cx="1230310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檢查</a:t>
            </a:r>
            <a:r>
              <a:rPr lang="en-US" altLang="zh-CN" sz="1000" dirty="0">
                <a:latin typeface="Calibri" panose="020F0502020204030204" pitchFamily="34" charset="0"/>
              </a:rPr>
              <a:t>EFI </a:t>
            </a:r>
            <a:r>
              <a:rPr lang="en-US" altLang="zh-CN" sz="1000" dirty="0" err="1">
                <a:latin typeface="Calibri" panose="020F0502020204030204" pitchFamily="34" charset="0"/>
              </a:rPr>
              <a:t>Diag</a:t>
            </a:r>
            <a:endParaRPr lang="en-US" altLang="zh-TW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0" name="文字方塊 165">
            <a:extLst>
              <a:ext uri="{FF2B5EF4-FFF2-40B4-BE49-F238E27FC236}">
                <a16:creationId xmlns:a16="http://schemas.microsoft.com/office/drawing/2014/main" id="{4E869131-CB25-409B-8091-E5B5D2ACD848}"/>
              </a:ext>
            </a:extLst>
          </p:cNvPr>
          <p:cNvSpPr txBox="1"/>
          <p:nvPr/>
        </p:nvSpPr>
        <p:spPr>
          <a:xfrm>
            <a:off x="4211650" y="3439584"/>
            <a:ext cx="684000" cy="25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</a:rPr>
              <a:t>Tammy</a:t>
            </a:r>
          </a:p>
        </p:txBody>
      </p:sp>
      <p:sp>
        <p:nvSpPr>
          <p:cNvPr id="232" name="文字方塊 138">
            <a:extLst>
              <a:ext uri="{FF2B5EF4-FFF2-40B4-BE49-F238E27FC236}">
                <a16:creationId xmlns:a16="http://schemas.microsoft.com/office/drawing/2014/main" id="{A85995D3-8FA1-4676-8701-4BC2AE174475}"/>
              </a:ext>
            </a:extLst>
          </p:cNvPr>
          <p:cNvSpPr txBox="1"/>
          <p:nvPr/>
        </p:nvSpPr>
        <p:spPr>
          <a:xfrm>
            <a:off x="5646590" y="293819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8" name="矩形: 圓角 2">
            <a:extLst>
              <a:ext uri="{FF2B5EF4-FFF2-40B4-BE49-F238E27FC236}">
                <a16:creationId xmlns:a16="http://schemas.microsoft.com/office/drawing/2014/main" id="{7CD81F40-3C40-492E-A774-5FC4EB9F6689}"/>
              </a:ext>
            </a:extLst>
          </p:cNvPr>
          <p:cNvSpPr/>
          <p:nvPr/>
        </p:nvSpPr>
        <p:spPr>
          <a:xfrm>
            <a:off x="4042056" y="2652782"/>
            <a:ext cx="1035790" cy="1114767"/>
          </a:xfrm>
          <a:prstGeom prst="roundRect">
            <a:avLst/>
          </a:prstGeom>
          <a:noFill/>
          <a:ln w="1905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39" name="文字方塊 95">
            <a:extLst>
              <a:ext uri="{FF2B5EF4-FFF2-40B4-BE49-F238E27FC236}">
                <a16:creationId xmlns:a16="http://schemas.microsoft.com/office/drawing/2014/main" id="{0F81563D-CC06-41FE-AFE8-5A8DEB5EC749}"/>
              </a:ext>
            </a:extLst>
          </p:cNvPr>
          <p:cNvSpPr txBox="1"/>
          <p:nvPr/>
        </p:nvSpPr>
        <p:spPr>
          <a:xfrm>
            <a:off x="5150069" y="3543972"/>
            <a:ext cx="10754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CTL Drop </a:t>
            </a:r>
            <a:r>
              <a:rPr lang="en-US" altLang="zh-CN" sz="1000" b="1" dirty="0">
                <a:solidFill>
                  <a:schemeClr val="accent6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only</a:t>
            </a:r>
            <a:endParaRPr lang="zh-TW" altLang="en-US" sz="1000" b="1" dirty="0">
              <a:solidFill>
                <a:schemeClr val="accent6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0" name="矩形: 圓角 2">
            <a:extLst>
              <a:ext uri="{FF2B5EF4-FFF2-40B4-BE49-F238E27FC236}">
                <a16:creationId xmlns:a16="http://schemas.microsoft.com/office/drawing/2014/main" id="{AAC33453-B307-4017-99BD-37D7DA6FC619}"/>
              </a:ext>
            </a:extLst>
          </p:cNvPr>
          <p:cNvSpPr/>
          <p:nvPr/>
        </p:nvSpPr>
        <p:spPr>
          <a:xfrm>
            <a:off x="3999941" y="2624996"/>
            <a:ext cx="1120172" cy="117265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1" name="文字方塊 120">
            <a:extLst>
              <a:ext uri="{FF2B5EF4-FFF2-40B4-BE49-F238E27FC236}">
                <a16:creationId xmlns:a16="http://schemas.microsoft.com/office/drawing/2014/main" id="{DCABE7C4-5BEE-4740-99FD-3D413C98222F}"/>
              </a:ext>
            </a:extLst>
          </p:cNvPr>
          <p:cNvSpPr txBox="1"/>
          <p:nvPr/>
        </p:nvSpPr>
        <p:spPr>
          <a:xfrm>
            <a:off x="5141259" y="3295386"/>
            <a:ext cx="1506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PEVT new add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6B1617E-4E93-5B54-A3AC-9164866282D0}"/>
              </a:ext>
            </a:extLst>
          </p:cNvPr>
          <p:cNvGrpSpPr/>
          <p:nvPr/>
        </p:nvGrpSpPr>
        <p:grpSpPr>
          <a:xfrm>
            <a:off x="9111527" y="659245"/>
            <a:ext cx="3189949" cy="1716058"/>
            <a:chOff x="9022431" y="702459"/>
            <a:chExt cx="3340565" cy="166833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B3DA74-91C2-5205-D2DD-9229728FE813}"/>
                </a:ext>
              </a:extLst>
            </p:cNvPr>
            <p:cNvSpPr/>
            <p:nvPr/>
          </p:nvSpPr>
          <p:spPr>
            <a:xfrm>
              <a:off x="10914977" y="1243220"/>
              <a:ext cx="1448019" cy="239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5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0825D012-700E-A7A3-7079-3865C13628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C93A0DC7-F873-4A15-6C8A-11DC53D51B73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B2D705D-E1F9-101C-2F46-28DC444C1752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B9C54B5E-C8BB-B05D-935E-8B945D5C4DD5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4C7D1E9-DF94-3A70-75B9-D911B5D31E52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2A5254A-B22C-9C3F-5BD5-63C8A10C346B}"/>
                </a:ext>
              </a:extLst>
            </p:cNvPr>
            <p:cNvSpPr/>
            <p:nvPr/>
          </p:nvSpPr>
          <p:spPr>
            <a:xfrm>
              <a:off x="10900203" y="1523719"/>
              <a:ext cx="1448019" cy="239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1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A20BE6D1-283B-BD41-9907-56FE7A1F6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1B4533E4-BE9E-1FDB-8619-051787CC97F2}"/>
                </a:ext>
              </a:extLst>
            </p:cNvPr>
            <p:cNvGrpSpPr/>
            <p:nvPr/>
          </p:nvGrpSpPr>
          <p:grpSpPr>
            <a:xfrm>
              <a:off x="9022431" y="706656"/>
              <a:ext cx="1673040" cy="608652"/>
              <a:chOff x="9312977" y="267752"/>
              <a:chExt cx="1673040" cy="608652"/>
            </a:xfrm>
          </p:grpSpPr>
          <p:cxnSp>
            <p:nvCxnSpPr>
              <p:cNvPr id="17" name="直線單箭頭接點 16">
                <a:extLst>
                  <a:ext uri="{FF2B5EF4-FFF2-40B4-BE49-F238E27FC236}">
                    <a16:creationId xmlns:a16="http://schemas.microsoft.com/office/drawing/2014/main" id="{BF1548A4-C438-D0E7-B308-2166CC74E543}"/>
                  </a:ext>
                </a:extLst>
              </p:cNvPr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49C6C9E-BBCE-6B68-2A73-32829D5EC365}"/>
                  </a:ext>
                </a:extLst>
              </p:cNvPr>
              <p:cNvSpPr txBox="1"/>
              <p:nvPr/>
            </p:nvSpPr>
            <p:spPr>
              <a:xfrm>
                <a:off x="9866107" y="392007"/>
                <a:ext cx="1119910" cy="239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物理防呆</a:t>
                </a:r>
                <a:endParaRPr lang="zh-TW" altLang="en-US" sz="1000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950BA7DD-ADC0-862F-382F-2E1E53BF97BF}"/>
                  </a:ext>
                </a:extLst>
              </p:cNvPr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9A74EB2-9C40-D491-A8A8-62B9345A6089}"/>
                  </a:ext>
                </a:extLst>
              </p:cNvPr>
              <p:cNvSpPr txBox="1"/>
              <p:nvPr/>
            </p:nvSpPr>
            <p:spPr>
              <a:xfrm>
                <a:off x="9866107" y="613406"/>
                <a:ext cx="1119910" cy="239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軟體防呆</a:t>
                </a:r>
                <a:endParaRPr lang="zh-TW" altLang="en-US" sz="1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3F48570-5528-14B4-DDB9-625F164857CE}"/>
                  </a:ext>
                </a:extLst>
              </p:cNvPr>
              <p:cNvSpPr/>
              <p:nvPr/>
            </p:nvSpPr>
            <p:spPr>
              <a:xfrm>
                <a:off x="9312977" y="267752"/>
                <a:ext cx="1595518" cy="60865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01E2BB0-37E8-91D3-EC18-DF232E965695}"/>
                </a:ext>
              </a:extLst>
            </p:cNvPr>
            <p:cNvSpPr/>
            <p:nvPr/>
          </p:nvSpPr>
          <p:spPr>
            <a:xfrm>
              <a:off x="10711417" y="1858890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4EA202C-A631-F85B-129B-71662C31A7BD}"/>
                </a:ext>
              </a:extLst>
            </p:cNvPr>
            <p:cNvSpPr/>
            <p:nvPr/>
          </p:nvSpPr>
          <p:spPr>
            <a:xfrm>
              <a:off x="10900203" y="1811981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F312C6E-E16F-8FC3-F82E-A3A3E217A695}"/>
                </a:ext>
              </a:extLst>
            </p:cNvPr>
            <p:cNvSpPr/>
            <p:nvPr/>
          </p:nvSpPr>
          <p:spPr>
            <a:xfrm>
              <a:off x="10919148" y="2124569"/>
              <a:ext cx="11440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T0 or Tx only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EDD9C8F7-3450-A39A-9896-DD0927C37384}"/>
                </a:ext>
              </a:extLst>
            </p:cNvPr>
            <p:cNvSpPr/>
            <p:nvPr/>
          </p:nvSpPr>
          <p:spPr>
            <a:xfrm>
              <a:off x="10711417" y="2160024"/>
              <a:ext cx="220836" cy="152525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16FDC8B7-9E76-E8BA-CA0D-1B861EF2E82C}"/>
              </a:ext>
            </a:extLst>
          </p:cNvPr>
          <p:cNvGrpSpPr/>
          <p:nvPr/>
        </p:nvGrpSpPr>
        <p:grpSpPr>
          <a:xfrm rot="10800000">
            <a:off x="10317589" y="2340933"/>
            <a:ext cx="851711" cy="946391"/>
            <a:chOff x="11101207" y="3546248"/>
            <a:chExt cx="900000" cy="981937"/>
          </a:xfrm>
        </p:grpSpPr>
        <p:sp>
          <p:nvSpPr>
            <p:cNvPr id="186" name="向右箭號 185"/>
            <p:cNvSpPr/>
            <p:nvPr/>
          </p:nvSpPr>
          <p:spPr>
            <a:xfrm flipH="1">
              <a:off x="11101207" y="3546248"/>
              <a:ext cx="900000" cy="1440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solidFill>
                  <a:srgbClr val="E7E6E6">
                    <a:lumMod val="50000"/>
                  </a:srgb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3B62F2C-EFC6-5999-992A-E009202726BD}"/>
                </a:ext>
              </a:extLst>
            </p:cNvPr>
            <p:cNvSpPr/>
            <p:nvPr/>
          </p:nvSpPr>
          <p:spPr>
            <a:xfrm rot="5400000">
              <a:off x="11505523" y="4037514"/>
              <a:ext cx="927342" cy="54000"/>
            </a:xfrm>
            <a:prstGeom prst="rect">
              <a:avLst/>
            </a:prstGeom>
            <a:solidFill>
              <a:srgbClr val="44546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solidFill>
                  <a:srgbClr val="44546A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E4177B5A-EF62-0BFD-E97C-15C922FC82D9}"/>
              </a:ext>
            </a:extLst>
          </p:cNvPr>
          <p:cNvGrpSpPr/>
          <p:nvPr/>
        </p:nvGrpSpPr>
        <p:grpSpPr>
          <a:xfrm>
            <a:off x="5156570" y="3217012"/>
            <a:ext cx="1782761" cy="757709"/>
            <a:chOff x="5344117" y="3153605"/>
            <a:chExt cx="1782761" cy="757709"/>
          </a:xfrm>
        </p:grpSpPr>
        <p:sp>
          <p:nvSpPr>
            <p:cNvPr id="237" name="向右箭號 185">
              <a:extLst>
                <a:ext uri="{FF2B5EF4-FFF2-40B4-BE49-F238E27FC236}">
                  <a16:creationId xmlns:a16="http://schemas.microsoft.com/office/drawing/2014/main" id="{206BBD03-7E11-4C61-AD8F-9EBAE6CA895C}"/>
                </a:ext>
              </a:extLst>
            </p:cNvPr>
            <p:cNvSpPr/>
            <p:nvPr/>
          </p:nvSpPr>
          <p:spPr>
            <a:xfrm rot="16200000" flipH="1">
              <a:off x="6676023" y="3460460"/>
              <a:ext cx="757709" cy="1440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solidFill>
                  <a:srgbClr val="44546A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DDCDB97-BF96-99B7-A49F-ACA7025A5B4D}"/>
                </a:ext>
              </a:extLst>
            </p:cNvPr>
            <p:cNvSpPr/>
            <p:nvPr/>
          </p:nvSpPr>
          <p:spPr>
            <a:xfrm>
              <a:off x="5344117" y="3153705"/>
              <a:ext cx="1742314" cy="54000"/>
            </a:xfrm>
            <a:prstGeom prst="rect">
              <a:avLst/>
            </a:prstGeom>
            <a:solidFill>
              <a:srgbClr val="44546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>
                <a:solidFill>
                  <a:srgbClr val="44546A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25" name="矩形: 圓角 84">
            <a:extLst>
              <a:ext uri="{FF2B5EF4-FFF2-40B4-BE49-F238E27FC236}">
                <a16:creationId xmlns:a16="http://schemas.microsoft.com/office/drawing/2014/main" id="{D3741D1C-946B-5884-84B8-3D11852EFBB1}"/>
              </a:ext>
            </a:extLst>
          </p:cNvPr>
          <p:cNvSpPr/>
          <p:nvPr/>
        </p:nvSpPr>
        <p:spPr>
          <a:xfrm>
            <a:off x="8016568" y="3457719"/>
            <a:ext cx="1721128" cy="605161"/>
          </a:xfrm>
          <a:prstGeom prst="round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Improvement Steps for Low Unit Per Hour(UPH) in Lens Crack Detection</a:t>
            </a:r>
            <a:endParaRPr lang="zh-TW" altLang="en-US" sz="1000" b="1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矩形: 圓角 84">
            <a:extLst>
              <a:ext uri="{FF2B5EF4-FFF2-40B4-BE49-F238E27FC236}">
                <a16:creationId xmlns:a16="http://schemas.microsoft.com/office/drawing/2014/main" id="{78EF37CE-D2C5-4BCC-9C6C-58B3A8B9FEC8}"/>
              </a:ext>
            </a:extLst>
          </p:cNvPr>
          <p:cNvSpPr/>
          <p:nvPr/>
        </p:nvSpPr>
        <p:spPr>
          <a:xfrm>
            <a:off x="5760040" y="2565258"/>
            <a:ext cx="1102827" cy="374665"/>
          </a:xfrm>
          <a:prstGeom prst="round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 err="1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Diags</a:t>
            </a:r>
            <a:r>
              <a:rPr lang="en-US" altLang="zh-CN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Check List</a:t>
            </a:r>
            <a:endParaRPr lang="zh-TW" altLang="en-US" sz="1000" b="1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6" name="物件 25">
            <a:hlinkClick r:id="" action="ppaction://ole?verb=0"/>
            <a:extLst>
              <a:ext uri="{FF2B5EF4-FFF2-40B4-BE49-F238E27FC236}">
                <a16:creationId xmlns:a16="http://schemas.microsoft.com/office/drawing/2014/main" id="{CEC58E49-DBD7-3F5A-8119-CA687C6214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821147"/>
              </p:ext>
            </p:extLst>
          </p:nvPr>
        </p:nvGraphicFramePr>
        <p:xfrm>
          <a:off x="9833414" y="3517743"/>
          <a:ext cx="922329" cy="51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Presentation" r:id="rId6" imgW="6030450" imgH="3392402" progId="PowerPoint.Show.12">
                  <p:embed/>
                </p:oleObj>
              </mc:Choice>
              <mc:Fallback>
                <p:oleObj name="Presentation" r:id="rId6" imgW="6030450" imgH="3392402" progId="PowerPoint.Show.12">
                  <p:embed/>
                  <p:pic>
                    <p:nvPicPr>
                      <p:cNvPr id="26" name="物件 2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EC58E49-DBD7-3F5A-8119-CA687C6214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33414" y="3517743"/>
                        <a:ext cx="922329" cy="518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物件 28">
            <a:hlinkClick r:id="" action="ppaction://ole?verb=0"/>
            <a:extLst>
              <a:ext uri="{FF2B5EF4-FFF2-40B4-BE49-F238E27FC236}">
                <a16:creationId xmlns:a16="http://schemas.microsoft.com/office/drawing/2014/main" id="{8A5FBF76-DAE2-FFEB-319A-9A6C87967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959364"/>
              </p:ext>
            </p:extLst>
          </p:nvPr>
        </p:nvGraphicFramePr>
        <p:xfrm>
          <a:off x="7027666" y="2555841"/>
          <a:ext cx="1119769" cy="629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Presentation" r:id="rId8" imgW="6095975" imgH="3429123" progId="PowerPoint.Show.12">
                  <p:embed/>
                </p:oleObj>
              </mc:Choice>
              <mc:Fallback>
                <p:oleObj name="Presentation" r:id="rId8" imgW="6095975" imgH="3429123" progId="PowerPoint.Show.12">
                  <p:embed/>
                  <p:pic>
                    <p:nvPicPr>
                      <p:cNvPr id="29" name="物件 28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8A5FBF76-DAE2-FFEB-319A-9A6C879672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27666" y="2555841"/>
                        <a:ext cx="1119769" cy="629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8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08830" y="146502"/>
            <a:ext cx="674370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Photo Station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180" name="群組 179">
            <a:extLst>
              <a:ext uri="{FF2B5EF4-FFF2-40B4-BE49-F238E27FC236}">
                <a16:creationId xmlns:a16="http://schemas.microsoft.com/office/drawing/2014/main" id="{8A5ECA5E-8034-4A7C-988E-516BC09874F1}"/>
              </a:ext>
            </a:extLst>
          </p:cNvPr>
          <p:cNvGrpSpPr/>
          <p:nvPr/>
        </p:nvGrpSpPr>
        <p:grpSpPr>
          <a:xfrm>
            <a:off x="9147561" y="571568"/>
            <a:ext cx="3220904" cy="1668331"/>
            <a:chOff x="9022431" y="702459"/>
            <a:chExt cx="3340565" cy="1668331"/>
          </a:xfrm>
        </p:grpSpPr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D3FE362B-D542-41D1-B835-A48B4142C25A}"/>
                </a:ext>
              </a:extLst>
            </p:cNvPr>
            <p:cNvSpPr/>
            <p:nvPr/>
          </p:nvSpPr>
          <p:spPr>
            <a:xfrm>
              <a:off x="10914977" y="1243220"/>
              <a:ext cx="1448019" cy="225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182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214836A2-2365-480F-9F90-00E3DA9BEC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D2206C2C-31C2-4730-B9F7-EF029BB6EFF3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1B269FAB-054F-47C7-853A-36A664F27F0C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92" name="橢圓 191">
              <a:extLst>
                <a:ext uri="{FF2B5EF4-FFF2-40B4-BE49-F238E27FC236}">
                  <a16:creationId xmlns:a16="http://schemas.microsoft.com/office/drawing/2014/main" id="{13078EA3-04F6-40B4-9095-C4282C5F0933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4294B941-6F57-4889-9020-F9A4527D0B9C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2220D0E2-F5A7-42C8-B354-7FFCED8FE6D0}"/>
                </a:ext>
              </a:extLst>
            </p:cNvPr>
            <p:cNvSpPr/>
            <p:nvPr/>
          </p:nvSpPr>
          <p:spPr>
            <a:xfrm>
              <a:off x="10900203" y="1523719"/>
              <a:ext cx="1448019" cy="225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96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5F1D6D7A-F53E-478E-BED0-E7C52E233D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CD858545-F7E7-4820-9C06-DCBCC3AE73FC}"/>
                </a:ext>
              </a:extLst>
            </p:cNvPr>
            <p:cNvGrpSpPr/>
            <p:nvPr/>
          </p:nvGrpSpPr>
          <p:grpSpPr>
            <a:xfrm>
              <a:off x="9022431" y="706656"/>
              <a:ext cx="1673040" cy="608652"/>
              <a:chOff x="9312977" y="267752"/>
              <a:chExt cx="1673040" cy="608652"/>
            </a:xfrm>
          </p:grpSpPr>
          <p:cxnSp>
            <p:nvCxnSpPr>
              <p:cNvPr id="210" name="直線單箭頭接點 209">
                <a:extLst>
                  <a:ext uri="{FF2B5EF4-FFF2-40B4-BE49-F238E27FC236}">
                    <a16:creationId xmlns:a16="http://schemas.microsoft.com/office/drawing/2014/main" id="{7B36AFE1-5A45-4D27-B378-51308E3F8975}"/>
                  </a:ext>
                </a:extLst>
              </p:cNvPr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文字方塊 210">
                <a:extLst>
                  <a:ext uri="{FF2B5EF4-FFF2-40B4-BE49-F238E27FC236}">
                    <a16:creationId xmlns:a16="http://schemas.microsoft.com/office/drawing/2014/main" id="{7C999E3A-7D10-4717-A53E-0D5D811C63E5}"/>
                  </a:ext>
                </a:extLst>
              </p:cNvPr>
              <p:cNvSpPr txBox="1"/>
              <p:nvPr/>
            </p:nvSpPr>
            <p:spPr>
              <a:xfrm>
                <a:off x="9866107" y="392007"/>
                <a:ext cx="111991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accent1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物理防呆</a:t>
                </a:r>
                <a:endParaRPr lang="zh-TW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224" name="直線單箭頭接點 223">
                <a:extLst>
                  <a:ext uri="{FF2B5EF4-FFF2-40B4-BE49-F238E27FC236}">
                    <a16:creationId xmlns:a16="http://schemas.microsoft.com/office/drawing/2014/main" id="{D33D3903-6B76-4996-806A-ECA9E6B5F6B8}"/>
                  </a:ext>
                </a:extLst>
              </p:cNvPr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文字方塊 224">
                <a:extLst>
                  <a:ext uri="{FF2B5EF4-FFF2-40B4-BE49-F238E27FC236}">
                    <a16:creationId xmlns:a16="http://schemas.microsoft.com/office/drawing/2014/main" id="{0F65715C-C55F-4CD3-9CBF-58DC235705A8}"/>
                  </a:ext>
                </a:extLst>
              </p:cNvPr>
              <p:cNvSpPr txBox="1"/>
              <p:nvPr/>
            </p:nvSpPr>
            <p:spPr>
              <a:xfrm>
                <a:off x="9866107" y="613406"/>
                <a:ext cx="111991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accent2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軟體防呆</a:t>
                </a:r>
                <a:endParaRPr lang="zh-TW" altLang="en-US" sz="11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6AB23454-95B5-4B8F-B9B4-159DDE5C38F9}"/>
                  </a:ext>
                </a:extLst>
              </p:cNvPr>
              <p:cNvSpPr/>
              <p:nvPr/>
            </p:nvSpPr>
            <p:spPr>
              <a:xfrm>
                <a:off x="9312977" y="267752"/>
                <a:ext cx="1595518" cy="60865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907CE6B9-0AEB-4FB5-B04F-9957FB0D0EF5}"/>
                </a:ext>
              </a:extLst>
            </p:cNvPr>
            <p:cNvSpPr/>
            <p:nvPr/>
          </p:nvSpPr>
          <p:spPr>
            <a:xfrm>
              <a:off x="10711417" y="1858890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C8C6F14E-FFEC-4774-82C9-AD33DC35C428}"/>
                </a:ext>
              </a:extLst>
            </p:cNvPr>
            <p:cNvSpPr/>
            <p:nvPr/>
          </p:nvSpPr>
          <p:spPr>
            <a:xfrm>
              <a:off x="10900203" y="1811981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6D12290F-E567-455C-975E-5087822ACB21}"/>
                </a:ext>
              </a:extLst>
            </p:cNvPr>
            <p:cNvSpPr/>
            <p:nvPr/>
          </p:nvSpPr>
          <p:spPr>
            <a:xfrm>
              <a:off x="10919148" y="2124569"/>
              <a:ext cx="11440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T0 or Tx only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2" name="矩形: 圓角 201">
              <a:extLst>
                <a:ext uri="{FF2B5EF4-FFF2-40B4-BE49-F238E27FC236}">
                  <a16:creationId xmlns:a16="http://schemas.microsoft.com/office/drawing/2014/main" id="{DB5968FE-9420-415D-80B5-6767A15F50C9}"/>
                </a:ext>
              </a:extLst>
            </p:cNvPr>
            <p:cNvSpPr/>
            <p:nvPr/>
          </p:nvSpPr>
          <p:spPr>
            <a:xfrm>
              <a:off x="10711417" y="2160024"/>
              <a:ext cx="220836" cy="152525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8" name="向右箭號 117"/>
          <p:cNvSpPr/>
          <p:nvPr/>
        </p:nvSpPr>
        <p:spPr>
          <a:xfrm>
            <a:off x="1428677" y="255666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0" name="向右箭號 119"/>
          <p:cNvSpPr/>
          <p:nvPr/>
        </p:nvSpPr>
        <p:spPr>
          <a:xfrm>
            <a:off x="8813232" y="26316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6638971" y="1801749"/>
            <a:ext cx="130224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Photo 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station</a:t>
            </a:r>
          </a:p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無法拍到的用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Keyence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1" name="向右箭號 150"/>
          <p:cNvSpPr/>
          <p:nvPr/>
        </p:nvSpPr>
        <p:spPr>
          <a:xfrm>
            <a:off x="2928824" y="26316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1" name="文字方塊 190"/>
          <p:cNvSpPr txBox="1"/>
          <p:nvPr/>
        </p:nvSpPr>
        <p:spPr>
          <a:xfrm>
            <a:off x="9223970" y="1910020"/>
            <a:ext cx="12614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異常照片拍攝完成後需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在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Travel sheet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上打勾記錄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3" name="橢圓 192"/>
          <p:cNvSpPr/>
          <p:nvPr/>
        </p:nvSpPr>
        <p:spPr>
          <a:xfrm>
            <a:off x="10331366" y="462082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5050919" y="3908989"/>
            <a:ext cx="9019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命名腳本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對照片進行命名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6264939" y="3909977"/>
            <a:ext cx="848410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Photo station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拍正常照片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6" name="文字方塊 235"/>
          <p:cNvSpPr txBox="1"/>
          <p:nvPr/>
        </p:nvSpPr>
        <p:spPr>
          <a:xfrm>
            <a:off x="3728784" y="3920958"/>
            <a:ext cx="9164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將所有照片上傳至共用指定檔夾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7" name="文字方塊 246"/>
          <p:cNvSpPr txBox="1"/>
          <p:nvPr/>
        </p:nvSpPr>
        <p:spPr>
          <a:xfrm>
            <a:off x="2188963" y="1923070"/>
            <a:ext cx="962831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機台分配至對應</a:t>
            </a:r>
            <a:r>
              <a:rPr lang="en-US" altLang="zh-CN" sz="1000" dirty="0">
                <a:latin typeface="Calibri" panose="020F0502020204030204" pitchFamily="34" charset="0"/>
              </a:rPr>
              <a:t>OP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249" name="矩形 248"/>
          <p:cNvSpPr/>
          <p:nvPr/>
        </p:nvSpPr>
        <p:spPr>
          <a:xfrm>
            <a:off x="9590997" y="3975783"/>
            <a:ext cx="138047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台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transfer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到</a:t>
            </a:r>
            <a:r>
              <a:rPr lang="en-US" altLang="zh-TW" sz="10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-Photo</a:t>
            </a:r>
            <a:r>
              <a: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0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Station</a:t>
            </a:r>
            <a:r>
              <a:rPr lang="zh-CN" altLang="en-US" sz="10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拍攝正常照片</a:t>
            </a:r>
            <a:endParaRPr lang="zh-TW" altLang="en-US" sz="1000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3645607" y="1772121"/>
            <a:ext cx="115434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endParaRPr lang="en-US" altLang="zh-CN" sz="1000" b="1" noProof="0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Photo station</a:t>
            </a:r>
          </a:p>
          <a:p>
            <a:pPr lvl="0"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拍異常照片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5" name="向右箭號 254"/>
          <p:cNvSpPr/>
          <p:nvPr/>
        </p:nvSpPr>
        <p:spPr>
          <a:xfrm>
            <a:off x="4734526" y="2614266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6" name="橢圓 255"/>
          <p:cNvSpPr/>
          <p:nvPr/>
        </p:nvSpPr>
        <p:spPr>
          <a:xfrm>
            <a:off x="4114298" y="2541495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8" name="橢圓 257"/>
          <p:cNvSpPr/>
          <p:nvPr/>
        </p:nvSpPr>
        <p:spPr>
          <a:xfrm>
            <a:off x="9750056" y="2528723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0" name="橢圓 259"/>
          <p:cNvSpPr/>
          <p:nvPr/>
        </p:nvSpPr>
        <p:spPr>
          <a:xfrm>
            <a:off x="9007970" y="462082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1" name="橢圓 260"/>
          <p:cNvSpPr/>
          <p:nvPr/>
        </p:nvSpPr>
        <p:spPr>
          <a:xfrm>
            <a:off x="2495142" y="2515685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6" name="橢圓 275"/>
          <p:cNvSpPr/>
          <p:nvPr/>
        </p:nvSpPr>
        <p:spPr>
          <a:xfrm>
            <a:off x="4081135" y="4615577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8" name="向右箭號 52">
            <a:extLst>
              <a:ext uri="{FF2B5EF4-FFF2-40B4-BE49-F238E27FC236}">
                <a16:creationId xmlns:a16="http://schemas.microsoft.com/office/drawing/2014/main" id="{3CA96C36-E44A-E74E-9568-C412E7795F40}"/>
              </a:ext>
            </a:extLst>
          </p:cNvPr>
          <p:cNvSpPr/>
          <p:nvPr/>
        </p:nvSpPr>
        <p:spPr>
          <a:xfrm rot="10800000">
            <a:off x="9412378" y="466555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2" name="向右箭號 301"/>
          <p:cNvSpPr/>
          <p:nvPr/>
        </p:nvSpPr>
        <p:spPr>
          <a:xfrm flipH="1">
            <a:off x="4482122" y="467261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4" name="向右箭號 303"/>
          <p:cNvSpPr/>
          <p:nvPr/>
        </p:nvSpPr>
        <p:spPr>
          <a:xfrm flipH="1">
            <a:off x="3151794" y="4677634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6" name="向右箭號 52">
            <a:extLst>
              <a:ext uri="{FF2B5EF4-FFF2-40B4-BE49-F238E27FC236}">
                <a16:creationId xmlns:a16="http://schemas.microsoft.com/office/drawing/2014/main" id="{3CA96C36-E44A-E74E-9568-C412E7795F40}"/>
              </a:ext>
            </a:extLst>
          </p:cNvPr>
          <p:cNvSpPr/>
          <p:nvPr/>
        </p:nvSpPr>
        <p:spPr>
          <a:xfrm flipH="1">
            <a:off x="5698462" y="468215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618344" y="3928751"/>
            <a:ext cx="9958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檢查相機拍照參數是否調試為規定參數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330742" y="4020796"/>
            <a:ext cx="1193963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IMES &amp; Summary OUT</a:t>
            </a:r>
          </a:p>
        </p:txBody>
      </p:sp>
      <p:pic>
        <p:nvPicPr>
          <p:cNvPr id="101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2672816" y="4503310"/>
            <a:ext cx="459524" cy="4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212" y="4595914"/>
            <a:ext cx="243736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文字方塊 103"/>
          <p:cNvSpPr txBox="1"/>
          <p:nvPr/>
        </p:nvSpPr>
        <p:spPr>
          <a:xfrm>
            <a:off x="1165272" y="3846251"/>
            <a:ext cx="11528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郵件通知</a:t>
            </a:r>
          </a:p>
          <a:p>
            <a:pPr lvl="0" algn="ctr"/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line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機台已放置貨架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-64220" y="3946800"/>
            <a:ext cx="98681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050" dirty="0"/>
              <a:t>Travel sheet</a:t>
            </a:r>
            <a:endParaRPr lang="en-US" altLang="zh-TW" sz="1050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給到複核人員</a:t>
            </a:r>
            <a:endParaRPr kumimoji="0" lang="en-US" altLang="zh-TW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2" name="橢圓 111"/>
          <p:cNvSpPr/>
          <p:nvPr/>
        </p:nvSpPr>
        <p:spPr>
          <a:xfrm>
            <a:off x="7183115" y="2566952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1509660" y="2323662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992050" y="2400157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4749927" y="2384114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8905413" y="2400157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9523925" y="4442026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10122400" y="3396961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5784183" y="4449093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24min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4594937" y="4449093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8" name="文字方塊 127"/>
          <p:cNvSpPr txBox="1"/>
          <p:nvPr/>
        </p:nvSpPr>
        <p:spPr>
          <a:xfrm>
            <a:off x="3224693" y="4453573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2025364" y="4414117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759804" y="4403522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5829745" y="2566952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482719" y="1804499"/>
            <a:ext cx="10073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照片命名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腳本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命名並上傳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5" name="向右箭號 104"/>
          <p:cNvSpPr/>
          <p:nvPr/>
        </p:nvSpPr>
        <p:spPr>
          <a:xfrm>
            <a:off x="6284685" y="265906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6" name="向右箭號 105"/>
          <p:cNvSpPr/>
          <p:nvPr/>
        </p:nvSpPr>
        <p:spPr>
          <a:xfrm>
            <a:off x="7576089" y="263166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8462821" y="2556912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8162093" y="1829222"/>
            <a:ext cx="86723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照片命名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腳本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命名並上傳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376576" y="2427560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7668125" y="2400157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8min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5" name="向右箭號 134"/>
          <p:cNvSpPr/>
          <p:nvPr/>
        </p:nvSpPr>
        <p:spPr>
          <a:xfrm rot="5400000">
            <a:off x="9653908" y="3524460"/>
            <a:ext cx="815178" cy="119336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6" name="向右箭號 52">
            <a:extLst>
              <a:ext uri="{FF2B5EF4-FFF2-40B4-BE49-F238E27FC236}">
                <a16:creationId xmlns:a16="http://schemas.microsoft.com/office/drawing/2014/main" id="{3CA96C36-E44A-E74E-9568-C412E7795F40}"/>
              </a:ext>
            </a:extLst>
          </p:cNvPr>
          <p:cNvSpPr/>
          <p:nvPr/>
        </p:nvSpPr>
        <p:spPr>
          <a:xfrm rot="10800000">
            <a:off x="6884496" y="4665550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7020917" y="4442025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2383612" y="2915375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Lucky</a:t>
            </a:r>
          </a:p>
        </p:txBody>
      </p:sp>
      <p:sp>
        <p:nvSpPr>
          <p:cNvPr id="132" name="文字方塊 131"/>
          <p:cNvSpPr txBox="1"/>
          <p:nvPr/>
        </p:nvSpPr>
        <p:spPr>
          <a:xfrm>
            <a:off x="4034328" y="2931285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38" name="文字方塊 137"/>
          <p:cNvSpPr txBox="1"/>
          <p:nvPr/>
        </p:nvSpPr>
        <p:spPr>
          <a:xfrm>
            <a:off x="5733286" y="2956158"/>
            <a:ext cx="48282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39" name="文字方塊 138"/>
          <p:cNvSpPr txBox="1"/>
          <p:nvPr/>
        </p:nvSpPr>
        <p:spPr>
          <a:xfrm>
            <a:off x="7159353" y="2920939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40" name="文字方塊 139"/>
          <p:cNvSpPr txBox="1"/>
          <p:nvPr/>
        </p:nvSpPr>
        <p:spPr>
          <a:xfrm>
            <a:off x="8389531" y="2919375"/>
            <a:ext cx="48282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42" name="文字方塊 141"/>
          <p:cNvSpPr txBox="1"/>
          <p:nvPr/>
        </p:nvSpPr>
        <p:spPr>
          <a:xfrm>
            <a:off x="9613420" y="2868394"/>
            <a:ext cx="558000" cy="255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43" name="文字方塊 142"/>
          <p:cNvSpPr txBox="1"/>
          <p:nvPr/>
        </p:nvSpPr>
        <p:spPr>
          <a:xfrm>
            <a:off x="10200141" y="4966867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46" name="文字方塊 145"/>
          <p:cNvSpPr txBox="1"/>
          <p:nvPr/>
        </p:nvSpPr>
        <p:spPr>
          <a:xfrm>
            <a:off x="2662612" y="4967178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48" name="文字方塊 147"/>
          <p:cNvSpPr txBox="1"/>
          <p:nvPr/>
        </p:nvSpPr>
        <p:spPr>
          <a:xfrm>
            <a:off x="3941904" y="4967178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49" name="文字方塊 148"/>
          <p:cNvSpPr txBox="1"/>
          <p:nvPr/>
        </p:nvSpPr>
        <p:spPr>
          <a:xfrm>
            <a:off x="5206767" y="4960987"/>
            <a:ext cx="48282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50" name="文字方塊 149"/>
          <p:cNvSpPr txBox="1"/>
          <p:nvPr/>
        </p:nvSpPr>
        <p:spPr>
          <a:xfrm>
            <a:off x="6462414" y="4967178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52" name="文字方塊 151"/>
          <p:cNvSpPr txBox="1"/>
          <p:nvPr/>
        </p:nvSpPr>
        <p:spPr>
          <a:xfrm>
            <a:off x="8884366" y="4967178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53" name="文字方塊 152"/>
          <p:cNvSpPr txBox="1"/>
          <p:nvPr/>
        </p:nvSpPr>
        <p:spPr>
          <a:xfrm>
            <a:off x="1413737" y="4967178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55" name="橢圓 154"/>
          <p:cNvSpPr/>
          <p:nvPr/>
        </p:nvSpPr>
        <p:spPr>
          <a:xfrm>
            <a:off x="5338920" y="463233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7" name="橢圓 156"/>
          <p:cNvSpPr/>
          <p:nvPr/>
        </p:nvSpPr>
        <p:spPr>
          <a:xfrm>
            <a:off x="6576181" y="4632338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7352622" y="3823745"/>
            <a:ext cx="1174892" cy="673027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7" name="橢圓 166"/>
          <p:cNvSpPr/>
          <p:nvPr/>
        </p:nvSpPr>
        <p:spPr>
          <a:xfrm>
            <a:off x="290940" y="4601448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1153227" y="3830542"/>
            <a:ext cx="1165213" cy="618179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5077730" y="3902576"/>
            <a:ext cx="869289" cy="589908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5497110" y="1813585"/>
            <a:ext cx="1007356" cy="589908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8166422" y="1822349"/>
            <a:ext cx="869289" cy="589908"/>
          </a:xfrm>
          <a:prstGeom prst="rect">
            <a:avLst/>
          </a:prstGeom>
          <a:noFill/>
          <a:ln w="22225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2" name="文字方塊 61">
            <a:extLst>
              <a:ext uri="{FF2B5EF4-FFF2-40B4-BE49-F238E27FC236}">
                <a16:creationId xmlns:a16="http://schemas.microsoft.com/office/drawing/2014/main" id="{BD924D4F-16D2-1246-BABE-5B52AABFBFA1}"/>
              </a:ext>
            </a:extLst>
          </p:cNvPr>
          <p:cNvSpPr txBox="1"/>
          <p:nvPr/>
        </p:nvSpPr>
        <p:spPr>
          <a:xfrm>
            <a:off x="116129" y="4968862"/>
            <a:ext cx="565622" cy="253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Amy</a:t>
            </a:r>
            <a:endParaRPr kumimoji="0" lang="en-US" altLang="zh-TW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03" name="向右箭號 202"/>
          <p:cNvSpPr/>
          <p:nvPr/>
        </p:nvSpPr>
        <p:spPr>
          <a:xfrm flipH="1">
            <a:off x="1919580" y="465247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4" name="向右箭號 203"/>
          <p:cNvSpPr/>
          <p:nvPr/>
        </p:nvSpPr>
        <p:spPr>
          <a:xfrm flipH="1">
            <a:off x="681751" y="4641803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5" name="向右箭號 52">
            <a:extLst>
              <a:ext uri="{FF2B5EF4-FFF2-40B4-BE49-F238E27FC236}">
                <a16:creationId xmlns:a16="http://schemas.microsoft.com/office/drawing/2014/main" id="{3CA96C36-E44A-E74E-9568-C412E7795F40}"/>
              </a:ext>
            </a:extLst>
          </p:cNvPr>
          <p:cNvSpPr/>
          <p:nvPr/>
        </p:nvSpPr>
        <p:spPr>
          <a:xfrm rot="10800000">
            <a:off x="8141724" y="4703508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6" name="文字方塊 205"/>
          <p:cNvSpPr txBox="1"/>
          <p:nvPr/>
        </p:nvSpPr>
        <p:spPr>
          <a:xfrm>
            <a:off x="8232554" y="4479985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7" name="矩形 206"/>
          <p:cNvSpPr/>
          <p:nvPr/>
        </p:nvSpPr>
        <p:spPr>
          <a:xfrm>
            <a:off x="7350812" y="3883675"/>
            <a:ext cx="11616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zh-TW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治具匹配腳本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確認機台是否使用正確的治具</a:t>
            </a:r>
          </a:p>
        </p:txBody>
      </p:sp>
      <p:sp>
        <p:nvSpPr>
          <p:cNvPr id="208" name="橢圓 207"/>
          <p:cNvSpPr/>
          <p:nvPr/>
        </p:nvSpPr>
        <p:spPr>
          <a:xfrm>
            <a:off x="7807955" y="4620820"/>
            <a:ext cx="216000" cy="216000"/>
          </a:xfrm>
          <a:prstGeom prst="ellipse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9" name="文字方塊 208"/>
          <p:cNvSpPr txBox="1"/>
          <p:nvPr/>
        </p:nvSpPr>
        <p:spPr>
          <a:xfrm>
            <a:off x="7666087" y="4967178"/>
            <a:ext cx="48282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4474DC21-6436-43F9-8C6F-17AD189BA2F4}"/>
              </a:ext>
            </a:extLst>
          </p:cNvPr>
          <p:cNvSpPr/>
          <p:nvPr/>
        </p:nvSpPr>
        <p:spPr>
          <a:xfrm>
            <a:off x="270285" y="1992299"/>
            <a:ext cx="1382975" cy="40011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接收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台</a:t>
            </a:r>
            <a:endParaRPr lang="en-US" altLang="zh-CN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</a:t>
            </a:r>
            <a:r>
              <a:rPr lang="en-US" altLang="zh-CN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74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9602F982-7195-4A29-A1A6-C8718175D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76" y="2380729"/>
            <a:ext cx="360000" cy="44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" name="文字方塊 165">
            <a:extLst>
              <a:ext uri="{FF2B5EF4-FFF2-40B4-BE49-F238E27FC236}">
                <a16:creationId xmlns:a16="http://schemas.microsoft.com/office/drawing/2014/main" id="{F9CFC8F0-BE64-4EA7-83EC-64F5F0234469}"/>
              </a:ext>
            </a:extLst>
          </p:cNvPr>
          <p:cNvSpPr txBox="1"/>
          <p:nvPr/>
        </p:nvSpPr>
        <p:spPr>
          <a:xfrm>
            <a:off x="655163" y="2867768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b="1" dirty="0">
                <a:solidFill>
                  <a:schemeClr val="bg1"/>
                </a:solidFill>
                <a:latin typeface="Calibri" panose="020F0502020204030204" pitchFamily="34" charset="0"/>
              </a:rPr>
              <a:t>Lucky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E1344EC4-30DA-BCA9-3577-124AFC97932C}"/>
              </a:ext>
            </a:extLst>
          </p:cNvPr>
          <p:cNvGrpSpPr/>
          <p:nvPr/>
        </p:nvGrpSpPr>
        <p:grpSpPr>
          <a:xfrm>
            <a:off x="10023747" y="2972815"/>
            <a:ext cx="938462" cy="3385470"/>
            <a:chOff x="10546871" y="2952158"/>
            <a:chExt cx="872038" cy="2984904"/>
          </a:xfrm>
        </p:grpSpPr>
        <p:sp>
          <p:nvSpPr>
            <p:cNvPr id="9" name="箭號: 上彎 8">
              <a:extLst>
                <a:ext uri="{FF2B5EF4-FFF2-40B4-BE49-F238E27FC236}">
                  <a16:creationId xmlns:a16="http://schemas.microsoft.com/office/drawing/2014/main" id="{A7B698B0-1277-B3D4-1709-AD009E450144}"/>
                </a:ext>
              </a:extLst>
            </p:cNvPr>
            <p:cNvSpPr/>
            <p:nvPr/>
          </p:nvSpPr>
          <p:spPr>
            <a:xfrm rot="16200000" flipH="1">
              <a:off x="9493660" y="4011814"/>
              <a:ext cx="2978459" cy="872038"/>
            </a:xfrm>
            <a:prstGeom prst="bentUpArrow">
              <a:avLst>
                <a:gd name="adj1" fmla="val 6608"/>
                <a:gd name="adj2" fmla="val 11365"/>
                <a:gd name="adj3" fmla="val 11567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 dirty="0">
                <a:solidFill>
                  <a:srgbClr val="E7E6E6">
                    <a:lumMod val="50000"/>
                  </a:srgb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5B4CE30-6D92-C3F6-5B91-D9B2588C3DCA}"/>
                </a:ext>
              </a:extLst>
            </p:cNvPr>
            <p:cNvSpPr/>
            <p:nvPr/>
          </p:nvSpPr>
          <p:spPr>
            <a:xfrm>
              <a:off x="10712329" y="2952158"/>
              <a:ext cx="703710" cy="4031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solidFill>
                  <a:srgbClr val="E7E6E6">
                    <a:lumMod val="50000"/>
                  </a:srgb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6" name="橢圓 15">
            <a:extLst>
              <a:ext uri="{FF2B5EF4-FFF2-40B4-BE49-F238E27FC236}">
                <a16:creationId xmlns:a16="http://schemas.microsoft.com/office/drawing/2014/main" id="{727877A9-B44B-4464-5DB7-45C1D93B69E5}"/>
              </a:ext>
            </a:extLst>
          </p:cNvPr>
          <p:cNvSpPr/>
          <p:nvPr/>
        </p:nvSpPr>
        <p:spPr>
          <a:xfrm>
            <a:off x="9242490" y="616369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590F028-CAC2-C94B-094C-6B970D9240C9}"/>
              </a:ext>
            </a:extLst>
          </p:cNvPr>
          <p:cNvSpPr txBox="1"/>
          <p:nvPr/>
        </p:nvSpPr>
        <p:spPr>
          <a:xfrm>
            <a:off x="5755047" y="5543807"/>
            <a:ext cx="14700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Auto-Photo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Station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自動拍照命名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262741-2085-0A42-5C2D-A69B7D72AED9}"/>
              </a:ext>
            </a:extLst>
          </p:cNvPr>
          <p:cNvSpPr/>
          <p:nvPr/>
        </p:nvSpPr>
        <p:spPr>
          <a:xfrm>
            <a:off x="8650529" y="5442324"/>
            <a:ext cx="144483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台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transfer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到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Auto-Photo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Station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拍攝正常照片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FC063DBD-FC7D-D8CC-3FAF-296577FA8D68}"/>
              </a:ext>
            </a:extLst>
          </p:cNvPr>
          <p:cNvSpPr/>
          <p:nvPr/>
        </p:nvSpPr>
        <p:spPr>
          <a:xfrm>
            <a:off x="7919094" y="616369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DEF874DB-B84D-EC98-BC12-DF72E292D828}"/>
              </a:ext>
            </a:extLst>
          </p:cNvPr>
          <p:cNvSpPr/>
          <p:nvPr/>
        </p:nvSpPr>
        <p:spPr>
          <a:xfrm>
            <a:off x="6443371" y="6189633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" name="向右箭號 52">
            <a:extLst>
              <a:ext uri="{FF2B5EF4-FFF2-40B4-BE49-F238E27FC236}">
                <a16:creationId xmlns:a16="http://schemas.microsoft.com/office/drawing/2014/main" id="{65523FF1-832C-EAF9-EFF9-BCBFC6E8566D}"/>
              </a:ext>
            </a:extLst>
          </p:cNvPr>
          <p:cNvSpPr/>
          <p:nvPr/>
        </p:nvSpPr>
        <p:spPr>
          <a:xfrm rot="10800000">
            <a:off x="8323502" y="6208429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BA6336-4D6C-FBC0-3E05-B07D96D955D8}"/>
              </a:ext>
            </a:extLst>
          </p:cNvPr>
          <p:cNvSpPr/>
          <p:nvPr/>
        </p:nvSpPr>
        <p:spPr>
          <a:xfrm>
            <a:off x="7269694" y="5539014"/>
            <a:ext cx="140362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啟動設備並將幾台上料到設備裝置內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1DFE3CF-01C1-57ED-AE60-1528EF613D4B}"/>
              </a:ext>
            </a:extLst>
          </p:cNvPr>
          <p:cNvSpPr txBox="1"/>
          <p:nvPr/>
        </p:nvSpPr>
        <p:spPr>
          <a:xfrm>
            <a:off x="8435049" y="5984905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13CB06B-C986-09DD-85B3-2BF4B11BC6AF}"/>
              </a:ext>
            </a:extLst>
          </p:cNvPr>
          <p:cNvSpPr txBox="1"/>
          <p:nvPr/>
        </p:nvSpPr>
        <p:spPr>
          <a:xfrm>
            <a:off x="9111265" y="6509746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91FFCF2-DD36-D190-27B9-28CAD677E5F6}"/>
              </a:ext>
            </a:extLst>
          </p:cNvPr>
          <p:cNvSpPr txBox="1"/>
          <p:nvPr/>
        </p:nvSpPr>
        <p:spPr>
          <a:xfrm>
            <a:off x="6312680" y="6509746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C53C6DF-712C-6B46-C742-BD985213CCC0}"/>
              </a:ext>
            </a:extLst>
          </p:cNvPr>
          <p:cNvSpPr txBox="1"/>
          <p:nvPr/>
        </p:nvSpPr>
        <p:spPr>
          <a:xfrm>
            <a:off x="7795490" y="6510057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27" name="向右箭號 52">
            <a:extLst>
              <a:ext uri="{FF2B5EF4-FFF2-40B4-BE49-F238E27FC236}">
                <a16:creationId xmlns:a16="http://schemas.microsoft.com/office/drawing/2014/main" id="{42CD471C-15A5-73D9-AFA5-9EA48630B981}"/>
              </a:ext>
            </a:extLst>
          </p:cNvPr>
          <p:cNvSpPr/>
          <p:nvPr/>
        </p:nvSpPr>
        <p:spPr>
          <a:xfrm rot="10800000">
            <a:off x="6940483" y="6236242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113BBAE-547C-A83C-936E-A712467AC50D}"/>
              </a:ext>
            </a:extLst>
          </p:cNvPr>
          <p:cNvSpPr txBox="1"/>
          <p:nvPr/>
        </p:nvSpPr>
        <p:spPr>
          <a:xfrm>
            <a:off x="7031313" y="6012719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" name="文字方塊 235">
            <a:extLst>
              <a:ext uri="{FF2B5EF4-FFF2-40B4-BE49-F238E27FC236}">
                <a16:creationId xmlns:a16="http://schemas.microsoft.com/office/drawing/2014/main" id="{F45806AB-B23D-48E1-4447-B3A6109B9830}"/>
              </a:ext>
            </a:extLst>
          </p:cNvPr>
          <p:cNvSpPr txBox="1"/>
          <p:nvPr/>
        </p:nvSpPr>
        <p:spPr>
          <a:xfrm>
            <a:off x="4569074" y="5514249"/>
            <a:ext cx="10574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拷貝照片給複核人員匯總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" name="橢圓 275">
            <a:extLst>
              <a:ext uri="{FF2B5EF4-FFF2-40B4-BE49-F238E27FC236}">
                <a16:creationId xmlns:a16="http://schemas.microsoft.com/office/drawing/2014/main" id="{43E2ED53-519E-2A52-3903-058B7BCEF3B7}"/>
              </a:ext>
            </a:extLst>
          </p:cNvPr>
          <p:cNvSpPr/>
          <p:nvPr/>
        </p:nvSpPr>
        <p:spPr>
          <a:xfrm>
            <a:off x="4983223" y="6189633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" name="文字方塊 147">
            <a:extLst>
              <a:ext uri="{FF2B5EF4-FFF2-40B4-BE49-F238E27FC236}">
                <a16:creationId xmlns:a16="http://schemas.microsoft.com/office/drawing/2014/main" id="{6B43E40E-7802-E720-8C05-8583C260D48F}"/>
              </a:ext>
            </a:extLst>
          </p:cNvPr>
          <p:cNvSpPr txBox="1"/>
          <p:nvPr/>
        </p:nvSpPr>
        <p:spPr>
          <a:xfrm>
            <a:off x="4852532" y="6509746"/>
            <a:ext cx="48282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Lucky</a:t>
            </a:r>
          </a:p>
        </p:txBody>
      </p:sp>
      <p:sp>
        <p:nvSpPr>
          <p:cNvPr id="32" name="文字方塊 129">
            <a:extLst>
              <a:ext uri="{FF2B5EF4-FFF2-40B4-BE49-F238E27FC236}">
                <a16:creationId xmlns:a16="http://schemas.microsoft.com/office/drawing/2014/main" id="{BB922BC3-4F3A-59B7-3C3F-B956DDDC74E5}"/>
              </a:ext>
            </a:extLst>
          </p:cNvPr>
          <p:cNvSpPr txBox="1"/>
          <p:nvPr/>
        </p:nvSpPr>
        <p:spPr>
          <a:xfrm>
            <a:off x="5557230" y="5985586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" name="向右箭號 203">
            <a:extLst>
              <a:ext uri="{FF2B5EF4-FFF2-40B4-BE49-F238E27FC236}">
                <a16:creationId xmlns:a16="http://schemas.microsoft.com/office/drawing/2014/main" id="{E416B4E1-0A1E-5433-3AAA-8D61231B8924}"/>
              </a:ext>
            </a:extLst>
          </p:cNvPr>
          <p:cNvSpPr/>
          <p:nvPr/>
        </p:nvSpPr>
        <p:spPr>
          <a:xfrm flipH="1">
            <a:off x="5479177" y="6223867"/>
            <a:ext cx="739523" cy="13529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4" name="矩形: 圓角 2">
            <a:extLst>
              <a:ext uri="{FF2B5EF4-FFF2-40B4-BE49-F238E27FC236}">
                <a16:creationId xmlns:a16="http://schemas.microsoft.com/office/drawing/2014/main" id="{3718B650-E556-78F8-ACBE-21B52503117F}"/>
              </a:ext>
            </a:extLst>
          </p:cNvPr>
          <p:cNvSpPr/>
          <p:nvPr/>
        </p:nvSpPr>
        <p:spPr>
          <a:xfrm>
            <a:off x="4370568" y="5365990"/>
            <a:ext cx="5653177" cy="144396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" name="箭號: 上彎 35">
            <a:extLst>
              <a:ext uri="{FF2B5EF4-FFF2-40B4-BE49-F238E27FC236}">
                <a16:creationId xmlns:a16="http://schemas.microsoft.com/office/drawing/2014/main" id="{BCD9DD79-668F-AAD6-1AA5-A69F784F9F28}"/>
              </a:ext>
            </a:extLst>
          </p:cNvPr>
          <p:cNvSpPr/>
          <p:nvPr/>
        </p:nvSpPr>
        <p:spPr>
          <a:xfrm flipH="1">
            <a:off x="2711746" y="5457335"/>
            <a:ext cx="1631761" cy="873796"/>
          </a:xfrm>
          <a:prstGeom prst="bentUpArrow">
            <a:avLst>
              <a:gd name="adj1" fmla="val 6608"/>
              <a:gd name="adj2" fmla="val 11365"/>
              <a:gd name="adj3" fmla="val 1156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82FBF4B-B0DC-B522-982C-90323AD4DC2F}"/>
              </a:ext>
            </a:extLst>
          </p:cNvPr>
          <p:cNvSpPr txBox="1"/>
          <p:nvPr/>
        </p:nvSpPr>
        <p:spPr>
          <a:xfrm>
            <a:off x="3409076" y="5899095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02DB1E3-6F37-2D3F-C614-1FEB554ABE8E}"/>
              </a:ext>
            </a:extLst>
          </p:cNvPr>
          <p:cNvSpPr txBox="1"/>
          <p:nvPr/>
        </p:nvSpPr>
        <p:spPr>
          <a:xfrm>
            <a:off x="10971476" y="5224582"/>
            <a:ext cx="757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8E19F43-E81E-CB36-AB19-54F8DF8F313B}"/>
              </a:ext>
            </a:extLst>
          </p:cNvPr>
          <p:cNvSpPr txBox="1"/>
          <p:nvPr/>
        </p:nvSpPr>
        <p:spPr>
          <a:xfrm>
            <a:off x="8023955" y="3422942"/>
            <a:ext cx="19997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1000" dirty="0">
                <a:solidFill>
                  <a:srgbClr val="0000FF"/>
                </a:solidFill>
                <a:latin typeface="Calibri" panose="020F0502020204030204" pitchFamily="34" charset="0"/>
              </a:rPr>
              <a:t>Manual-Photo</a:t>
            </a:r>
            <a:r>
              <a:rPr lang="zh-TW" altLang="en-US" sz="1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1000" dirty="0">
                <a:solidFill>
                  <a:srgbClr val="0000FF"/>
                </a:solidFill>
                <a:latin typeface="Calibri" panose="020F0502020204030204" pitchFamily="34" charset="0"/>
              </a:rPr>
              <a:t>Station</a:t>
            </a:r>
            <a:endParaRPr lang="zh-TW" altLang="en-US" sz="1000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2CABB1A-49DF-2C96-F5BF-072E51DE262E}"/>
              </a:ext>
            </a:extLst>
          </p:cNvPr>
          <p:cNvSpPr txBox="1"/>
          <p:nvPr/>
        </p:nvSpPr>
        <p:spPr>
          <a:xfrm>
            <a:off x="10834979" y="2675591"/>
            <a:ext cx="13925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050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*Auto-Photo</a:t>
            </a:r>
            <a:r>
              <a:rPr lang="zh-TW" altLang="en-US" sz="1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1000" dirty="0">
                <a:solidFill>
                  <a:srgbClr val="FF0000"/>
                </a:solidFill>
                <a:latin typeface="+mj-lt"/>
              </a:rPr>
              <a:t>Station</a:t>
            </a:r>
            <a:endParaRPr lang="zh-TW" altLang="en-US" sz="1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8" name="矩形: 圓角 2">
            <a:extLst>
              <a:ext uri="{FF2B5EF4-FFF2-40B4-BE49-F238E27FC236}">
                <a16:creationId xmlns:a16="http://schemas.microsoft.com/office/drawing/2014/main" id="{DB9EA450-FAFC-4B7F-8812-66657F8EA6DE}"/>
              </a:ext>
            </a:extLst>
          </p:cNvPr>
          <p:cNvSpPr/>
          <p:nvPr/>
        </p:nvSpPr>
        <p:spPr>
          <a:xfrm>
            <a:off x="230485" y="1779305"/>
            <a:ext cx="1395320" cy="1472759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9" name="文字方塊 120">
            <a:extLst>
              <a:ext uri="{FF2B5EF4-FFF2-40B4-BE49-F238E27FC236}">
                <a16:creationId xmlns:a16="http://schemas.microsoft.com/office/drawing/2014/main" id="{5972E78D-4318-4A0A-88F2-F4EA5CEC84D8}"/>
              </a:ext>
            </a:extLst>
          </p:cNvPr>
          <p:cNvSpPr txBox="1"/>
          <p:nvPr/>
        </p:nvSpPr>
        <p:spPr>
          <a:xfrm>
            <a:off x="169609" y="3284777"/>
            <a:ext cx="1584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PEVT new add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5" name="矩形: 圓角 84">
            <a:extLst>
              <a:ext uri="{FF2B5EF4-FFF2-40B4-BE49-F238E27FC236}">
                <a16:creationId xmlns:a16="http://schemas.microsoft.com/office/drawing/2014/main" id="{A6C1F03A-FA77-C53D-434F-428073D0E174}"/>
              </a:ext>
            </a:extLst>
          </p:cNvPr>
          <p:cNvSpPr/>
          <p:nvPr/>
        </p:nvSpPr>
        <p:spPr>
          <a:xfrm>
            <a:off x="10971457" y="3001577"/>
            <a:ext cx="1222064" cy="1215316"/>
          </a:xfrm>
          <a:prstGeom prst="round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b="1" dirty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Improvement steps for poor photo quality and low Unit Per Hour(UPH) of the photo station</a:t>
            </a:r>
            <a:endParaRPr lang="zh-TW" altLang="en-US" sz="1000" b="1" dirty="0">
              <a:solidFill>
                <a:schemeClr val="bg1"/>
              </a:solidFill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>
            <a:hlinkClick r:id="" action="ppaction://ole?verb=0"/>
            <a:extLst>
              <a:ext uri="{FF2B5EF4-FFF2-40B4-BE49-F238E27FC236}">
                <a16:creationId xmlns:a16="http://schemas.microsoft.com/office/drawing/2014/main" id="{DE1B7EDB-2464-F0C5-DB53-CABF2A389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747809"/>
              </p:ext>
            </p:extLst>
          </p:nvPr>
        </p:nvGraphicFramePr>
        <p:xfrm>
          <a:off x="11057482" y="4254772"/>
          <a:ext cx="947538" cy="53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name="Presentation" r:id="rId7" imgW="6058172" imgH="3407882" progId="PowerPoint.Show.12">
                  <p:embed/>
                </p:oleObj>
              </mc:Choice>
              <mc:Fallback>
                <p:oleObj name="Presentation" r:id="rId7" imgW="6058172" imgH="3407882" progId="PowerPoint.Show.12">
                  <p:embed/>
                  <p:pic>
                    <p:nvPicPr>
                      <p:cNvPr id="4" name="物件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E1B7EDB-2464-F0C5-DB53-CABF2A389B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57482" y="4254772"/>
                        <a:ext cx="947538" cy="532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文字方塊 120">
            <a:extLst>
              <a:ext uri="{FF2B5EF4-FFF2-40B4-BE49-F238E27FC236}">
                <a16:creationId xmlns:a16="http://schemas.microsoft.com/office/drawing/2014/main" id="{947EDF3C-06E0-492E-BFA3-651C3EEA05B9}"/>
              </a:ext>
            </a:extLst>
          </p:cNvPr>
          <p:cNvSpPr txBox="1"/>
          <p:nvPr/>
        </p:nvSpPr>
        <p:spPr>
          <a:xfrm>
            <a:off x="9708893" y="6447923"/>
            <a:ext cx="1584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PEVT new add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626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向右箭號 117"/>
          <p:cNvSpPr/>
          <p:nvPr/>
        </p:nvSpPr>
        <p:spPr>
          <a:xfrm>
            <a:off x="2736887" y="3023457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4" name="橢圓 143"/>
          <p:cNvSpPr/>
          <p:nvPr/>
        </p:nvSpPr>
        <p:spPr>
          <a:xfrm>
            <a:off x="2276764" y="302290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5" name="向右箭號 254"/>
          <p:cNvSpPr/>
          <p:nvPr/>
        </p:nvSpPr>
        <p:spPr>
          <a:xfrm>
            <a:off x="4135825" y="3023457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9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6674982" y="3023457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0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3807409" y="302290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1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3452747" y="2356109"/>
            <a:ext cx="1055298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lang="zh-CN" altLang="en-US" sz="1000" dirty="0">
                <a:latin typeface="Calibri" panose="020F0502020204030204" pitchFamily="34" charset="0"/>
              </a:rPr>
              <a:t>將下載的所有照片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移入到</a:t>
            </a:r>
            <a:r>
              <a:rPr lang="zh-CN" altLang="en-US" sz="1000" dirty="0">
                <a:solidFill>
                  <a:srgbClr val="00B050"/>
                </a:solidFill>
                <a:latin typeface="Calibri" panose="020F0502020204030204" pitchFamily="34" charset="0"/>
              </a:rPr>
              <a:t>照片複核腳本</a:t>
            </a:r>
            <a:r>
              <a:rPr lang="zh-CN" alt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中</a:t>
            </a:r>
            <a:endParaRPr lang="zh-TW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向右箭號 98"/>
          <p:cNvSpPr/>
          <p:nvPr/>
        </p:nvSpPr>
        <p:spPr>
          <a:xfrm rot="10800000" flipH="1">
            <a:off x="10153925" y="3023458"/>
            <a:ext cx="720000" cy="1368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10965814" y="5040337"/>
            <a:ext cx="1020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硬盤與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BOX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電腦連接，並上傳照片到對應的雷達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3698690" y="3325861"/>
            <a:ext cx="41870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183343" y="3325861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1000" b="0" dirty="0">
                <a:latin typeface="Calibri" panose="020F0502020204030204" pitchFamily="34" charset="0"/>
                <a:cs typeface="Times New Roman" panose="02020603050405020304" pitchFamily="18" charset="0"/>
              </a:rPr>
              <a:t>Amy</a:t>
            </a:r>
          </a:p>
        </p:txBody>
      </p:sp>
      <p:sp>
        <p:nvSpPr>
          <p:cNvPr id="71" name="文字方塊 70"/>
          <p:cNvSpPr txBox="1"/>
          <p:nvPr/>
        </p:nvSpPr>
        <p:spPr>
          <a:xfrm>
            <a:off x="2974058" y="278960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963568" y="3325861"/>
            <a:ext cx="41870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9493424" y="3325861"/>
            <a:ext cx="41870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1164689" y="6088366"/>
            <a:ext cx="4187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5459102" y="278960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18min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10102512" y="278960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673349" y="2194526"/>
            <a:ext cx="11667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照片複核腳本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中根據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Failure Mode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對機台照片進行複核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2" name="橢圓 101"/>
          <p:cNvSpPr/>
          <p:nvPr/>
        </p:nvSpPr>
        <p:spPr>
          <a:xfrm>
            <a:off x="5105658" y="302290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6239856" y="3325861"/>
            <a:ext cx="4187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963278" y="2194526"/>
            <a:ext cx="10286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照片複核無異常需在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Travel sheet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上面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打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勾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並簽名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0" name="橢圓 109"/>
          <p:cNvSpPr/>
          <p:nvPr/>
        </p:nvSpPr>
        <p:spPr>
          <a:xfrm>
            <a:off x="6387193" y="302290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4" name="向右箭號 113"/>
          <p:cNvSpPr/>
          <p:nvPr/>
        </p:nvSpPr>
        <p:spPr>
          <a:xfrm>
            <a:off x="5421511" y="3023457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872484" y="3126075"/>
            <a:ext cx="36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Y</a:t>
            </a:r>
            <a:endParaRPr lang="zh-TW" altLang="en-US" sz="10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6113677" y="3665941"/>
            <a:ext cx="408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</a:t>
            </a:r>
            <a:endParaRPr lang="zh-TW" altLang="en-US" sz="1000" b="1" dirty="0">
              <a:solidFill>
                <a:srgbClr val="C0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5928928" y="5193262"/>
            <a:ext cx="10809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lang="zh-TW" altLang="en-US" sz="1000" b="1" noProof="0" dirty="0" err="1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in/out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系統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查詢機台位置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4714958" y="5193262"/>
            <a:ext cx="96090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等待機台完成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Mini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line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工站測試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3268754" y="5193262"/>
            <a:ext cx="119411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貨架取機台</a:t>
            </a:r>
            <a:b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</a:b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補拍照片</a:t>
            </a:r>
            <a:b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</a:b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（</a:t>
            </a:r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r>
              <a:rPr lang="zh-CN" altLang="en-US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內完成）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4242177" y="278960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8742368" y="278960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9" name="文字方塊 158"/>
          <p:cNvSpPr txBox="1"/>
          <p:nvPr/>
        </p:nvSpPr>
        <p:spPr>
          <a:xfrm>
            <a:off x="6487707" y="3716914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155117" y="2356109"/>
            <a:ext cx="12982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將複核完成的照片，使用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照片複核腳本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傳送到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硬盤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971465" y="5193262"/>
            <a:ext cx="82733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補拍照片上傳</a:t>
            </a:r>
            <a:r>
              <a:rPr lang="zh-CN" altLang="en-US" sz="1000" b="1" noProof="0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共享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5857689" y="4193832"/>
            <a:ext cx="140912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如果照片有遺漏或不清晰需找到機台補拍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3" name="橢圓 172"/>
          <p:cNvSpPr/>
          <p:nvPr/>
        </p:nvSpPr>
        <p:spPr>
          <a:xfrm>
            <a:off x="6407479" y="581333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5" name="向右箭號 174"/>
          <p:cNvSpPr/>
          <p:nvPr/>
        </p:nvSpPr>
        <p:spPr>
          <a:xfrm rot="16200000" flipH="1">
            <a:off x="6286318" y="4999044"/>
            <a:ext cx="396000" cy="1440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7" name="文字方塊 176"/>
          <p:cNvSpPr txBox="1"/>
          <p:nvPr/>
        </p:nvSpPr>
        <p:spPr>
          <a:xfrm>
            <a:off x="2096464" y="6096061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8" name="橢圓 177"/>
          <p:cNvSpPr/>
          <p:nvPr/>
        </p:nvSpPr>
        <p:spPr>
          <a:xfrm>
            <a:off x="2263299" y="581333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0" name="橢圓 179"/>
          <p:cNvSpPr/>
          <p:nvPr/>
        </p:nvSpPr>
        <p:spPr>
          <a:xfrm>
            <a:off x="3793944" y="581333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1" name="文字方塊 180"/>
          <p:cNvSpPr txBox="1"/>
          <p:nvPr/>
        </p:nvSpPr>
        <p:spPr>
          <a:xfrm>
            <a:off x="6263145" y="6078468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2" name="橢圓 181"/>
          <p:cNvSpPr/>
          <p:nvPr/>
        </p:nvSpPr>
        <p:spPr>
          <a:xfrm>
            <a:off x="5092193" y="581333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3" name="橢圓 182"/>
          <p:cNvSpPr/>
          <p:nvPr/>
        </p:nvSpPr>
        <p:spPr>
          <a:xfrm>
            <a:off x="6404069" y="462882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4" name="文字方塊 183"/>
          <p:cNvSpPr txBox="1"/>
          <p:nvPr/>
        </p:nvSpPr>
        <p:spPr>
          <a:xfrm>
            <a:off x="6734060" y="4586525"/>
            <a:ext cx="453970" cy="253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bg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Amy</a:t>
            </a:r>
          </a:p>
        </p:txBody>
      </p:sp>
      <p:sp>
        <p:nvSpPr>
          <p:cNvPr id="185" name="橢圓 184"/>
          <p:cNvSpPr/>
          <p:nvPr/>
        </p:nvSpPr>
        <p:spPr>
          <a:xfrm>
            <a:off x="11402528" y="5813330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6" name="橢圓 185"/>
          <p:cNvSpPr/>
          <p:nvPr/>
        </p:nvSpPr>
        <p:spPr>
          <a:xfrm>
            <a:off x="9638101" y="302290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7" name="向右箭號 186"/>
          <p:cNvSpPr/>
          <p:nvPr/>
        </p:nvSpPr>
        <p:spPr>
          <a:xfrm rot="10800000">
            <a:off x="2757173" y="5835419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9" name="向右箭號 188"/>
          <p:cNvSpPr/>
          <p:nvPr/>
        </p:nvSpPr>
        <p:spPr>
          <a:xfrm rot="10800000">
            <a:off x="4156112" y="5835419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6487707" y="4968213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4330051" y="560508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2780016" y="560508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2395240" y="4231369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52265" y="2316770"/>
            <a:ext cx="1196666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接收</a:t>
            </a:r>
            <a:r>
              <a:rPr lang="en-US" altLang="zh-CN" sz="1000" dirty="0">
                <a:solidFill>
                  <a:schemeClr val="tx1"/>
                </a:solidFill>
                <a:latin typeface="Calibri" panose="020F0502020204030204" pitchFamily="34" charset="0"/>
              </a:rPr>
              <a:t>Travel Sheet</a:t>
            </a:r>
            <a:r>
              <a:rPr lang="zh-CN" altLang="en-US" sz="1000" dirty="0">
                <a:latin typeface="Calibri" panose="020F0502020204030204" pitchFamily="34" charset="0"/>
              </a:rPr>
              <a:t>並</a:t>
            </a:r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</a:rPr>
              <a:t>刷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</a:rPr>
              <a:t>Summary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</a:rPr>
              <a:t> 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</a:rPr>
              <a:t>I</a:t>
            </a:r>
            <a:r>
              <a:rPr lang="en-US" altLang="zh-CN" sz="1000" b="1" dirty="0">
                <a:solidFill>
                  <a:srgbClr val="00B0F0"/>
                </a:solidFill>
                <a:latin typeface="Calibri" panose="020F0502020204030204" pitchFamily="34" charset="0"/>
              </a:rPr>
              <a:t>n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708717" y="3325861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9" name="向右箭號 88"/>
          <p:cNvSpPr/>
          <p:nvPr/>
        </p:nvSpPr>
        <p:spPr>
          <a:xfrm>
            <a:off x="1240027" y="3023457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1343707" y="2789607"/>
            <a:ext cx="540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78964" y="2356109"/>
            <a:ext cx="103748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從共享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文件館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下載需要複核的機台照片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82641" y="2356109"/>
            <a:ext cx="1275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刷</a:t>
            </a:r>
            <a:r>
              <a:rPr lang="en-US" altLang="zh-TW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CN" sz="1000" b="1" dirty="0">
                <a:solidFill>
                  <a:srgbClr val="00B0F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Out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Travel Sheet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送至</a:t>
            </a:r>
            <a:r>
              <a:rPr lang="zh-TW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報告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Recon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組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3" name="向右箭號 152"/>
          <p:cNvSpPr/>
          <p:nvPr/>
        </p:nvSpPr>
        <p:spPr>
          <a:xfrm rot="16200000" flipH="1">
            <a:off x="6286318" y="3811793"/>
            <a:ext cx="396000" cy="1440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0788974" y="2194526"/>
            <a:ext cx="1274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zh-CN" altLang="en-US" sz="1000" b="1" dirty="0">
                <a:solidFill>
                  <a:srgbClr val="00B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雙向對比腳本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對比照片上傳硬盤的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Log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與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Report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的信息是否一致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11146246" y="3325861"/>
            <a:ext cx="418704" cy="246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8" name="橢圓 137"/>
          <p:cNvSpPr/>
          <p:nvPr/>
        </p:nvSpPr>
        <p:spPr>
          <a:xfrm>
            <a:off x="11290923" y="302290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1" name="向右箭號 140"/>
          <p:cNvSpPr/>
          <p:nvPr/>
        </p:nvSpPr>
        <p:spPr>
          <a:xfrm rot="5400000" flipV="1">
            <a:off x="10719318" y="4311849"/>
            <a:ext cx="1368000" cy="144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向右箭號 146"/>
          <p:cNvSpPr/>
          <p:nvPr/>
        </p:nvSpPr>
        <p:spPr>
          <a:xfrm rot="10800000">
            <a:off x="5441798" y="5835419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9" name="文字方塊 148"/>
          <p:cNvSpPr txBox="1"/>
          <p:nvPr/>
        </p:nvSpPr>
        <p:spPr>
          <a:xfrm>
            <a:off x="7850779" y="3325861"/>
            <a:ext cx="4187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10217" y="146548"/>
            <a:ext cx="67358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Rel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Photo Review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B5C917D1-A228-499D-89A1-C5EF18B19042}"/>
              </a:ext>
            </a:extLst>
          </p:cNvPr>
          <p:cNvGrpSpPr/>
          <p:nvPr/>
        </p:nvGrpSpPr>
        <p:grpSpPr>
          <a:xfrm>
            <a:off x="8887677" y="542660"/>
            <a:ext cx="3475319" cy="1597307"/>
            <a:chOff x="8887677" y="702459"/>
            <a:chExt cx="3475319" cy="1597307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6A9DFC2-39BF-4CFE-BCA1-9D92C7F60497}"/>
                </a:ext>
              </a:extLst>
            </p:cNvPr>
            <p:cNvSpPr/>
            <p:nvPr/>
          </p:nvSpPr>
          <p:spPr>
            <a:xfrm>
              <a:off x="10914977" y="1243220"/>
              <a:ext cx="1448019" cy="225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120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DBE07AB4-F97F-4CA6-A2DF-532809E07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7AB44C26-D73E-493E-8B7F-CF81B9F7FE0D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AA98CD2-3FBC-4166-B563-60179D798D8F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F7D6871C-E779-454F-B667-3B877710D933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0BE1DFFC-E2E6-4980-BA96-498CB202053B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025B41A6-AECD-4CAC-8718-13A574CFD19F}"/>
                </a:ext>
              </a:extLst>
            </p:cNvPr>
            <p:cNvSpPr/>
            <p:nvPr/>
          </p:nvSpPr>
          <p:spPr>
            <a:xfrm>
              <a:off x="10900203" y="1523719"/>
              <a:ext cx="1448019" cy="225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30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8E5264EB-211B-42A9-BEC0-DF4281A8E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6FF5E80A-5309-4AAA-83A1-78CC8E65794C}"/>
                </a:ext>
              </a:extLst>
            </p:cNvPr>
            <p:cNvGrpSpPr/>
            <p:nvPr/>
          </p:nvGrpSpPr>
          <p:grpSpPr>
            <a:xfrm>
              <a:off x="8887677" y="767409"/>
              <a:ext cx="1807794" cy="608652"/>
              <a:chOff x="9178223" y="328505"/>
              <a:chExt cx="1807794" cy="608652"/>
            </a:xfrm>
          </p:grpSpPr>
          <p:cxnSp>
            <p:nvCxnSpPr>
              <p:cNvPr id="157" name="直線單箭頭接點 156">
                <a:extLst>
                  <a:ext uri="{FF2B5EF4-FFF2-40B4-BE49-F238E27FC236}">
                    <a16:creationId xmlns:a16="http://schemas.microsoft.com/office/drawing/2014/main" id="{66B3D3E6-FE71-4BA1-BBDB-32A4064179EF}"/>
                  </a:ext>
                </a:extLst>
              </p:cNvPr>
              <p:cNvCxnSpPr/>
              <p:nvPr/>
            </p:nvCxnSpPr>
            <p:spPr>
              <a:xfrm rot="5400000" flipV="1">
                <a:off x="9668107" y="301309"/>
                <a:ext cx="0" cy="39600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B5334AAC-3A8F-481F-BD9E-0E5722FFB62D}"/>
                  </a:ext>
                </a:extLst>
              </p:cNvPr>
              <p:cNvSpPr txBox="1"/>
              <p:nvPr/>
            </p:nvSpPr>
            <p:spPr>
              <a:xfrm>
                <a:off x="9866107" y="392007"/>
                <a:ext cx="111991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accent1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物理防呆</a:t>
                </a:r>
                <a:endParaRPr lang="zh-TW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60" name="直線單箭頭接點 159">
                <a:extLst>
                  <a:ext uri="{FF2B5EF4-FFF2-40B4-BE49-F238E27FC236}">
                    <a16:creationId xmlns:a16="http://schemas.microsoft.com/office/drawing/2014/main" id="{F89CA0D0-5490-470F-B127-6767807909BB}"/>
                  </a:ext>
                </a:extLst>
              </p:cNvPr>
              <p:cNvCxnSpPr/>
              <p:nvPr/>
            </p:nvCxnSpPr>
            <p:spPr>
              <a:xfrm rot="5400000" flipV="1">
                <a:off x="9668107" y="531501"/>
                <a:ext cx="0" cy="3960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74AEB4CA-F122-476E-BC2A-CF6858395930}"/>
                  </a:ext>
                </a:extLst>
              </p:cNvPr>
              <p:cNvSpPr txBox="1"/>
              <p:nvPr/>
            </p:nvSpPr>
            <p:spPr>
              <a:xfrm>
                <a:off x="9866107" y="613406"/>
                <a:ext cx="111991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accent2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軟體防呆</a:t>
                </a:r>
                <a:endParaRPr lang="zh-TW" altLang="en-US" sz="11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5D212958-5483-4C9D-93B6-9B8200BAA351}"/>
                  </a:ext>
                </a:extLst>
              </p:cNvPr>
              <p:cNvSpPr/>
              <p:nvPr/>
            </p:nvSpPr>
            <p:spPr>
              <a:xfrm>
                <a:off x="9178223" y="328505"/>
                <a:ext cx="1595518" cy="60865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F436344B-9FF2-49C2-AD73-422CD532886A}"/>
                </a:ext>
              </a:extLst>
            </p:cNvPr>
            <p:cNvSpPr/>
            <p:nvPr/>
          </p:nvSpPr>
          <p:spPr>
            <a:xfrm>
              <a:off x="10711417" y="1832256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3F17A4DF-0804-437B-9561-592FE0C0EE93}"/>
                </a:ext>
              </a:extLst>
            </p:cNvPr>
            <p:cNvSpPr/>
            <p:nvPr/>
          </p:nvSpPr>
          <p:spPr>
            <a:xfrm>
              <a:off x="10900203" y="1785347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防呆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5AFEAFB8-AACC-4D7E-9CEB-265F25BD2545}"/>
                </a:ext>
              </a:extLst>
            </p:cNvPr>
            <p:cNvSpPr/>
            <p:nvPr/>
          </p:nvSpPr>
          <p:spPr>
            <a:xfrm>
              <a:off x="10919148" y="2053545"/>
              <a:ext cx="11440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T0 or Tx only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56" name="矩形: 圓角 155">
              <a:extLst>
                <a:ext uri="{FF2B5EF4-FFF2-40B4-BE49-F238E27FC236}">
                  <a16:creationId xmlns:a16="http://schemas.microsoft.com/office/drawing/2014/main" id="{0517B70D-E5D2-4207-954B-08F25EEC19FD}"/>
                </a:ext>
              </a:extLst>
            </p:cNvPr>
            <p:cNvSpPr/>
            <p:nvPr/>
          </p:nvSpPr>
          <p:spPr>
            <a:xfrm>
              <a:off x="10711417" y="2089000"/>
              <a:ext cx="220836" cy="152525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6" name="文字方塊 115"/>
          <p:cNvSpPr txBox="1"/>
          <p:nvPr/>
        </p:nvSpPr>
        <p:spPr>
          <a:xfrm>
            <a:off x="5637810" y="560508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11430559" y="4231369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2" name="矩形: 圓角 2">
            <a:extLst>
              <a:ext uri="{FF2B5EF4-FFF2-40B4-BE49-F238E27FC236}">
                <a16:creationId xmlns:a16="http://schemas.microsoft.com/office/drawing/2014/main" id="{453D489F-0B58-4D0F-8833-D500512B4356}"/>
              </a:ext>
            </a:extLst>
          </p:cNvPr>
          <p:cNvSpPr/>
          <p:nvPr/>
        </p:nvSpPr>
        <p:spPr>
          <a:xfrm>
            <a:off x="448355" y="2209499"/>
            <a:ext cx="1007639" cy="14333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8" name="文字方塊 120">
            <a:extLst>
              <a:ext uri="{FF2B5EF4-FFF2-40B4-BE49-F238E27FC236}">
                <a16:creationId xmlns:a16="http://schemas.microsoft.com/office/drawing/2014/main" id="{CAC62432-EC8B-4721-A9DA-DDD824967A3D}"/>
              </a:ext>
            </a:extLst>
          </p:cNvPr>
          <p:cNvSpPr txBox="1"/>
          <p:nvPr/>
        </p:nvSpPr>
        <p:spPr>
          <a:xfrm>
            <a:off x="384915" y="3648529"/>
            <a:ext cx="11380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PEVT new add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2" name="矩形: 圓角 2">
            <a:extLst>
              <a:ext uri="{FF2B5EF4-FFF2-40B4-BE49-F238E27FC236}">
                <a16:creationId xmlns:a16="http://schemas.microsoft.com/office/drawing/2014/main" id="{5900A12F-9490-4DFB-9CFA-F0666DF60450}"/>
              </a:ext>
            </a:extLst>
          </p:cNvPr>
          <p:cNvSpPr/>
          <p:nvPr/>
        </p:nvSpPr>
        <p:spPr>
          <a:xfrm>
            <a:off x="7551255" y="2140152"/>
            <a:ext cx="1152797" cy="150270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1" name="文字方塊 120">
            <a:extLst>
              <a:ext uri="{FF2B5EF4-FFF2-40B4-BE49-F238E27FC236}">
                <a16:creationId xmlns:a16="http://schemas.microsoft.com/office/drawing/2014/main" id="{57DCC148-9B1C-4182-B988-706514850E32}"/>
              </a:ext>
            </a:extLst>
          </p:cNvPr>
          <p:cNvSpPr txBox="1"/>
          <p:nvPr/>
        </p:nvSpPr>
        <p:spPr>
          <a:xfrm>
            <a:off x="7572016" y="3648529"/>
            <a:ext cx="11434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PEVT new add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63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1D92E3B6-8CED-4693-8192-6D7A8F091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7947068" y="2930368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2" descr="C:\Users\28243\AppData\Local\SuperNotes\a.nina.yh.huang@mail.foxconn.com\mid\873A1660-8BE1-4A64-B5AD-E45092EAA33A.jpg">
            <a:extLst>
              <a:ext uri="{FF2B5EF4-FFF2-40B4-BE49-F238E27FC236}">
                <a16:creationId xmlns:a16="http://schemas.microsoft.com/office/drawing/2014/main" id="{3EDC22C6-C2AE-4B6E-B56C-0E22710FC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818797" y="2930368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文字方塊 103">
            <a:extLst>
              <a:ext uri="{FF2B5EF4-FFF2-40B4-BE49-F238E27FC236}">
                <a16:creationId xmlns:a16="http://schemas.microsoft.com/office/drawing/2014/main" id="{953D66A6-172E-423C-9282-7F706EFD884E}"/>
              </a:ext>
            </a:extLst>
          </p:cNvPr>
          <p:cNvSpPr txBox="1"/>
          <p:nvPr/>
        </p:nvSpPr>
        <p:spPr>
          <a:xfrm>
            <a:off x="8758626" y="5040337"/>
            <a:ext cx="1499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第二天使用備份腳本，將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 U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盤照片與拷貝到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NAS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硬盤供目檢對比 </a:t>
            </a:r>
            <a:r>
              <a:rPr lang="en-US" altLang="zh-CN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&amp; FA</a:t>
            </a:r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使用</a:t>
            </a:r>
            <a:endParaRPr lang="en-US" altLang="zh-TW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3" name="文字方塊 112">
            <a:extLst>
              <a:ext uri="{FF2B5EF4-FFF2-40B4-BE49-F238E27FC236}">
                <a16:creationId xmlns:a16="http://schemas.microsoft.com/office/drawing/2014/main" id="{D6A128EC-58B9-450D-91D6-71635A327EFE}"/>
              </a:ext>
            </a:extLst>
          </p:cNvPr>
          <p:cNvSpPr txBox="1"/>
          <p:nvPr/>
        </p:nvSpPr>
        <p:spPr>
          <a:xfrm>
            <a:off x="9198457" y="6088366"/>
            <a:ext cx="4187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8" name="向右箭號 187">
            <a:extLst>
              <a:ext uri="{FF2B5EF4-FFF2-40B4-BE49-F238E27FC236}">
                <a16:creationId xmlns:a16="http://schemas.microsoft.com/office/drawing/2014/main" id="{218B329F-3CD8-4F2B-8EA4-396738501306}"/>
              </a:ext>
            </a:extLst>
          </p:cNvPr>
          <p:cNvSpPr/>
          <p:nvPr/>
        </p:nvSpPr>
        <p:spPr>
          <a:xfrm rot="10800000">
            <a:off x="10140460" y="5835419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1" name="文字方塊 78">
            <a:extLst>
              <a:ext uri="{FF2B5EF4-FFF2-40B4-BE49-F238E27FC236}">
                <a16:creationId xmlns:a16="http://schemas.microsoft.com/office/drawing/2014/main" id="{E27D757D-1BBD-4CF1-A39F-9DEA1CE985A2}"/>
              </a:ext>
            </a:extLst>
          </p:cNvPr>
          <p:cNvSpPr txBox="1"/>
          <p:nvPr/>
        </p:nvSpPr>
        <p:spPr>
          <a:xfrm>
            <a:off x="10294048" y="5570913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5" name="橢圓 137">
            <a:extLst>
              <a:ext uri="{FF2B5EF4-FFF2-40B4-BE49-F238E27FC236}">
                <a16:creationId xmlns:a16="http://schemas.microsoft.com/office/drawing/2014/main" id="{FD3EF226-5DB2-4022-9877-4CAC7D662A82}"/>
              </a:ext>
            </a:extLst>
          </p:cNvPr>
          <p:cNvSpPr/>
          <p:nvPr/>
        </p:nvSpPr>
        <p:spPr>
          <a:xfrm>
            <a:off x="9338649" y="5813330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7" name="文字方塊 120">
            <a:extLst>
              <a:ext uri="{FF2B5EF4-FFF2-40B4-BE49-F238E27FC236}">
                <a16:creationId xmlns:a16="http://schemas.microsoft.com/office/drawing/2014/main" id="{DFED6C93-9E3F-4DF1-9F57-C2446E95ED76}"/>
              </a:ext>
            </a:extLst>
          </p:cNvPr>
          <p:cNvSpPr txBox="1"/>
          <p:nvPr/>
        </p:nvSpPr>
        <p:spPr>
          <a:xfrm>
            <a:off x="8845012" y="6367646"/>
            <a:ext cx="1308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PEVT new add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1" name="向右箭號 254">
            <a:extLst>
              <a:ext uri="{FF2B5EF4-FFF2-40B4-BE49-F238E27FC236}">
                <a16:creationId xmlns:a16="http://schemas.microsoft.com/office/drawing/2014/main" id="{AD9D3089-D97E-4CAC-8121-B59F86E9624D}"/>
              </a:ext>
            </a:extLst>
          </p:cNvPr>
          <p:cNvSpPr/>
          <p:nvPr/>
        </p:nvSpPr>
        <p:spPr>
          <a:xfrm>
            <a:off x="8776887" y="3023457"/>
            <a:ext cx="720000" cy="1368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2" name="文字方塊 114">
            <a:extLst>
              <a:ext uri="{FF2B5EF4-FFF2-40B4-BE49-F238E27FC236}">
                <a16:creationId xmlns:a16="http://schemas.microsoft.com/office/drawing/2014/main" id="{6CF80320-54B8-40E9-A6EA-4496040CE383}"/>
              </a:ext>
            </a:extLst>
          </p:cNvPr>
          <p:cNvSpPr txBox="1"/>
          <p:nvPr/>
        </p:nvSpPr>
        <p:spPr>
          <a:xfrm>
            <a:off x="6751625" y="2789607"/>
            <a:ext cx="76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4" name="向右箭號 140">
            <a:extLst>
              <a:ext uri="{FF2B5EF4-FFF2-40B4-BE49-F238E27FC236}">
                <a16:creationId xmlns:a16="http://schemas.microsoft.com/office/drawing/2014/main" id="{91213E1D-4D7E-4711-A2EC-616DF7223F43}"/>
              </a:ext>
            </a:extLst>
          </p:cNvPr>
          <p:cNvSpPr/>
          <p:nvPr/>
        </p:nvSpPr>
        <p:spPr>
          <a:xfrm rot="16200000" flipV="1">
            <a:off x="1700347" y="4311849"/>
            <a:ext cx="1368000" cy="144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solidFill>
                <a:srgbClr val="E7E6E6">
                  <a:lumMod val="50000"/>
                </a:srgb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1EC58B15-0E50-47E8-B0B3-C216633B89DD}"/>
              </a:ext>
            </a:extLst>
          </p:cNvPr>
          <p:cNvSpPr/>
          <p:nvPr/>
        </p:nvSpPr>
        <p:spPr>
          <a:xfrm>
            <a:off x="8730944" y="4411142"/>
            <a:ext cx="1463526" cy="488935"/>
          </a:xfrm>
          <a:prstGeom prst="rect">
            <a:avLst/>
          </a:prstGeom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照片自動同步腳本</a:t>
            </a:r>
            <a:endParaRPr lang="zh-TW" altLang="en-US" sz="1000" b="1" dirty="0">
              <a:solidFill>
                <a:srgbClr val="C55A11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17" name="直線單箭頭接點 163">
            <a:extLst>
              <a:ext uri="{FF2B5EF4-FFF2-40B4-BE49-F238E27FC236}">
                <a16:creationId xmlns:a16="http://schemas.microsoft.com/office/drawing/2014/main" id="{C0142462-46DC-4006-9FC8-62EF9872DEC9}"/>
              </a:ext>
            </a:extLst>
          </p:cNvPr>
          <p:cNvCxnSpPr>
            <a:cxnSpLocks/>
          </p:cNvCxnSpPr>
          <p:nvPr/>
        </p:nvCxnSpPr>
        <p:spPr>
          <a:xfrm flipV="1">
            <a:off x="8744760" y="4327450"/>
            <a:ext cx="9048" cy="756000"/>
          </a:xfrm>
          <a:prstGeom prst="straightConnector1">
            <a:avLst/>
          </a:prstGeom>
          <a:ln>
            <a:solidFill>
              <a:srgbClr val="C55A11"/>
            </a:solidFill>
            <a:prstDash val="dash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字方塊 211"/>
          <p:cNvSpPr txBox="1"/>
          <p:nvPr/>
        </p:nvSpPr>
        <p:spPr>
          <a:xfrm>
            <a:off x="3651250" y="6092214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6" name="矩形: 圓角 2">
            <a:extLst>
              <a:ext uri="{FF2B5EF4-FFF2-40B4-BE49-F238E27FC236}">
                <a16:creationId xmlns:a16="http://schemas.microsoft.com/office/drawing/2014/main" id="{444A63BD-4243-4A01-A8C7-1FA53804A38F}"/>
              </a:ext>
            </a:extLst>
          </p:cNvPr>
          <p:cNvSpPr/>
          <p:nvPr/>
        </p:nvSpPr>
        <p:spPr>
          <a:xfrm>
            <a:off x="8752694" y="4968212"/>
            <a:ext cx="1427189" cy="1402231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3" name="文字方塊 212"/>
          <p:cNvSpPr txBox="1"/>
          <p:nvPr/>
        </p:nvSpPr>
        <p:spPr>
          <a:xfrm>
            <a:off x="5008321" y="6088366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4" name="文字方塊 213"/>
          <p:cNvSpPr txBox="1"/>
          <p:nvPr/>
        </p:nvSpPr>
        <p:spPr>
          <a:xfrm>
            <a:off x="11134716" y="6088366"/>
            <a:ext cx="4187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5" name="文字方塊 214"/>
          <p:cNvSpPr txBox="1"/>
          <p:nvPr/>
        </p:nvSpPr>
        <p:spPr>
          <a:xfrm>
            <a:off x="6233172" y="6096061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6" name="文字方塊 112">
            <a:extLst>
              <a:ext uri="{FF2B5EF4-FFF2-40B4-BE49-F238E27FC236}">
                <a16:creationId xmlns:a16="http://schemas.microsoft.com/office/drawing/2014/main" id="{D6A128EC-58B9-450D-91D6-71635A327EFE}"/>
              </a:ext>
            </a:extLst>
          </p:cNvPr>
          <p:cNvSpPr txBox="1"/>
          <p:nvPr/>
        </p:nvSpPr>
        <p:spPr>
          <a:xfrm>
            <a:off x="9168484" y="6088366"/>
            <a:ext cx="4187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7" name="文字方塊 216"/>
          <p:cNvSpPr txBox="1"/>
          <p:nvPr/>
        </p:nvSpPr>
        <p:spPr>
          <a:xfrm>
            <a:off x="3621277" y="6096061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8" name="文字方塊 217"/>
          <p:cNvSpPr txBox="1"/>
          <p:nvPr/>
        </p:nvSpPr>
        <p:spPr>
          <a:xfrm>
            <a:off x="4978348" y="6096061"/>
            <a:ext cx="468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Amy</a:t>
            </a:r>
            <a:endParaRPr kumimoji="0" lang="en-US" altLang="zh-TW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>
            <a:hlinkClick r:id="" action="ppaction://ole?verb=0"/>
            <a:extLst>
              <a:ext uri="{FF2B5EF4-FFF2-40B4-BE49-F238E27FC236}">
                <a16:creationId xmlns:a16="http://schemas.microsoft.com/office/drawing/2014/main" id="{1CBE1FEF-20BC-D9CD-2987-4001C0D44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879997"/>
              </p:ext>
            </p:extLst>
          </p:nvPr>
        </p:nvGraphicFramePr>
        <p:xfrm>
          <a:off x="8742368" y="3795110"/>
          <a:ext cx="1143460" cy="643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Presentation" r:id="rId6" imgW="6025995" imgH="3389522" progId="PowerPoint.Show.12">
                  <p:embed/>
                </p:oleObj>
              </mc:Choice>
              <mc:Fallback>
                <p:oleObj name="Presentation" r:id="rId6" imgW="6025995" imgH="3389522" progId="PowerPoint.Show.12">
                  <p:embed/>
                  <p:pic>
                    <p:nvPicPr>
                      <p:cNvPr id="4" name="物件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CBE1FEF-20BC-D9CD-2987-4001C0D448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42368" y="3795110"/>
                        <a:ext cx="1143460" cy="643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766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21020" y="65078"/>
            <a:ext cx="61488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FA Disposition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69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902695" y="1852772"/>
            <a:ext cx="402916" cy="132288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20231" y="2107665"/>
            <a:ext cx="34015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Fei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270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612462" y="183062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1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127816" y="1267119"/>
            <a:ext cx="1277373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登錄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radar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下載最新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System Report &amp; FA tracker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8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1303261" y="1360507"/>
            <a:ext cx="1447978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Disposition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0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3088527" y="1877556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1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2576886" y="1385291"/>
            <a:ext cx="1223541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登錄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Recon,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查詢是否有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需求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4671630" y="1206494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4065750" y="717389"/>
            <a:ext cx="1447978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更新機台信息至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 tracker,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創建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Radar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6141935" y="119853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5502164" y="730240"/>
            <a:ext cx="1447978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將創建後的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Radar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號</a:t>
            </a:r>
            <a:endParaRPr kumimoji="0" lang="en-US" altLang="zh-CN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更新至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Recon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系統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7113562" y="730538"/>
            <a:ext cx="1510136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郵件通知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部門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需求，並通知倉庫送機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8750839" y="651775"/>
            <a:ext cx="1972340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Disposition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Out,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標記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同時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9588007" y="275511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6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9028445" y="2279258"/>
            <a:ext cx="130527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持續追蹤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&amp;push XF team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進度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8785382" y="3799376"/>
            <a:ext cx="2017614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Disposition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同時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2407072" y="1872328"/>
            <a:ext cx="402916" cy="132288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3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1789753" y="1787482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5219475" y="1213036"/>
            <a:ext cx="402916" cy="13228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6822904" y="1243122"/>
            <a:ext cx="402916" cy="131013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7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179" y="1206143"/>
            <a:ext cx="226723" cy="23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996935" y="2173624"/>
            <a:ext cx="34015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Fei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6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569768" y="1494543"/>
            <a:ext cx="34015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Fei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6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036835" y="1488430"/>
            <a:ext cx="34015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Fei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62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709723" y="1503043"/>
            <a:ext cx="370614" cy="253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Fei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pic>
        <p:nvPicPr>
          <p:cNvPr id="63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9602372" y="1190119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8469751" y="1243122"/>
            <a:ext cx="402916" cy="131013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7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9566669" y="4255541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4031840" y="2117265"/>
            <a:ext cx="1424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發送投測郵件通知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test center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繼續測試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2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071" y="2509737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559700" y="2783518"/>
            <a:ext cx="34015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Fei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74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5157109" y="2570673"/>
            <a:ext cx="402916" cy="13228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5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5329828" y="1981519"/>
            <a:ext cx="1482572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Disposition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Out,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標記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6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5878537" y="2481466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9075028" y="5275138"/>
            <a:ext cx="1337613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確認機台是否拆機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 rot="5400000">
            <a:off x="7981788" y="619864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8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7490079" y="5747478"/>
            <a:ext cx="1058654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Recon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上傳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Stop test Tag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7242582" y="4557313"/>
            <a:ext cx="142401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 tracker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內查詢是否有其他的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需求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 rot="5400000">
            <a:off x="7981789" y="502452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807378" y="4639187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04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5549916" y="3908486"/>
            <a:ext cx="1584847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郵件通知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部門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需求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並通知倉庫送機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6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219" y="4339247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878555" y="6005161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08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5633358" y="5263921"/>
            <a:ext cx="1274737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Sys report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內篩選機台最新測試記錄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6203899" y="5729555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639155" y="6444281"/>
            <a:ext cx="753732" cy="253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微軟正黑體" panose="020B0604030504040204" pitchFamily="34" charset="-12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887661" y="7683478"/>
            <a:ext cx="896399" cy="253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Mike/Yang</a:t>
            </a:r>
            <a:endParaRPr kumimoji="0" lang="en-US" altLang="zh-TW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6746414" y="4152144"/>
            <a:ext cx="864935" cy="1922172"/>
            <a:chOff x="6050499" y="3626845"/>
            <a:chExt cx="864935" cy="1922172"/>
          </a:xfrm>
          <a:solidFill>
            <a:schemeClr val="accent6">
              <a:lumMod val="60000"/>
              <a:lumOff val="40000"/>
            </a:schemeClr>
          </a:solidFill>
        </p:grpSpPr>
        <p:grpSp>
          <p:nvGrpSpPr>
            <p:cNvPr id="5" name="群組 4"/>
            <p:cNvGrpSpPr/>
            <p:nvPr/>
          </p:nvGrpSpPr>
          <p:grpSpPr>
            <a:xfrm>
              <a:off x="6050499" y="3842198"/>
              <a:ext cx="596565" cy="1501270"/>
              <a:chOff x="5681388" y="3728239"/>
              <a:chExt cx="596565" cy="1501270"/>
            </a:xfrm>
            <a:grpFill/>
          </p:grpSpPr>
          <p:sp>
            <p:nvSpPr>
              <p:cNvPr id="97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 rot="10800000">
                <a:off x="5727449" y="5089199"/>
                <a:ext cx="525758" cy="140310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99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 rot="10800000">
                <a:off x="5681388" y="3728239"/>
                <a:ext cx="567982" cy="140309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 rot="16200000">
                <a:off x="5502331" y="4415324"/>
                <a:ext cx="1424143" cy="127100"/>
              </a:xfrm>
              <a:custGeom>
                <a:avLst/>
                <a:gdLst>
                  <a:gd name="connsiteX0" fmla="*/ 0 w 1388573"/>
                  <a:gd name="connsiteY0" fmla="*/ 43038 h 172150"/>
                  <a:gd name="connsiteX1" fmla="*/ 1302498 w 1388573"/>
                  <a:gd name="connsiteY1" fmla="*/ 43038 h 172150"/>
                  <a:gd name="connsiteX2" fmla="*/ 1302498 w 1388573"/>
                  <a:gd name="connsiteY2" fmla="*/ 0 h 172150"/>
                  <a:gd name="connsiteX3" fmla="*/ 1388573 w 1388573"/>
                  <a:gd name="connsiteY3" fmla="*/ 86075 h 172150"/>
                  <a:gd name="connsiteX4" fmla="*/ 1302498 w 1388573"/>
                  <a:gd name="connsiteY4" fmla="*/ 172150 h 172150"/>
                  <a:gd name="connsiteX5" fmla="*/ 1302498 w 1388573"/>
                  <a:gd name="connsiteY5" fmla="*/ 129113 h 172150"/>
                  <a:gd name="connsiteX6" fmla="*/ 0 w 1388573"/>
                  <a:gd name="connsiteY6" fmla="*/ 129113 h 172150"/>
                  <a:gd name="connsiteX7" fmla="*/ 0 w 1388573"/>
                  <a:gd name="connsiteY7" fmla="*/ 43038 h 172150"/>
                  <a:gd name="connsiteX0" fmla="*/ 0 w 1302498"/>
                  <a:gd name="connsiteY0" fmla="*/ 43038 h 172150"/>
                  <a:gd name="connsiteX1" fmla="*/ 1302498 w 1302498"/>
                  <a:gd name="connsiteY1" fmla="*/ 43038 h 172150"/>
                  <a:gd name="connsiteX2" fmla="*/ 1302498 w 1302498"/>
                  <a:gd name="connsiteY2" fmla="*/ 0 h 172150"/>
                  <a:gd name="connsiteX3" fmla="*/ 1293682 w 1302498"/>
                  <a:gd name="connsiteY3" fmla="*/ 103331 h 172150"/>
                  <a:gd name="connsiteX4" fmla="*/ 1302498 w 1302498"/>
                  <a:gd name="connsiteY4" fmla="*/ 172150 h 172150"/>
                  <a:gd name="connsiteX5" fmla="*/ 1302498 w 1302498"/>
                  <a:gd name="connsiteY5" fmla="*/ 129113 h 172150"/>
                  <a:gd name="connsiteX6" fmla="*/ 0 w 1302498"/>
                  <a:gd name="connsiteY6" fmla="*/ 129113 h 172150"/>
                  <a:gd name="connsiteX7" fmla="*/ 0 w 1302498"/>
                  <a:gd name="connsiteY7" fmla="*/ 43038 h 17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2498" h="172150">
                    <a:moveTo>
                      <a:pt x="0" y="43038"/>
                    </a:moveTo>
                    <a:lnTo>
                      <a:pt x="1302498" y="43038"/>
                    </a:lnTo>
                    <a:lnTo>
                      <a:pt x="1302498" y="0"/>
                    </a:lnTo>
                    <a:lnTo>
                      <a:pt x="1293682" y="103331"/>
                    </a:lnTo>
                    <a:lnTo>
                      <a:pt x="1302498" y="172150"/>
                    </a:lnTo>
                    <a:lnTo>
                      <a:pt x="1302498" y="129113"/>
                    </a:lnTo>
                    <a:lnTo>
                      <a:pt x="0" y="129113"/>
                    </a:lnTo>
                    <a:lnTo>
                      <a:pt x="0" y="4303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1" name="文字方塊 100"/>
            <p:cNvSpPr txBox="1"/>
            <p:nvPr/>
          </p:nvSpPr>
          <p:spPr>
            <a:xfrm>
              <a:off x="6199630" y="3626845"/>
              <a:ext cx="41885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+mn-cs"/>
                </a:rPr>
                <a:t>有</a:t>
              </a: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6210340" y="5295101"/>
              <a:ext cx="41885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+mn-cs"/>
                </a:rPr>
                <a:t>無</a:t>
              </a: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14" name="向右箭號 166">
              <a:extLst>
                <a:ext uri="{FF2B5EF4-FFF2-40B4-BE49-F238E27FC236}">
                  <a16:creationId xmlns:a16="http://schemas.microsoft.com/office/drawing/2014/main" id="{CA1328A3-E2A3-4F4E-9453-C5BAAB6F199E}"/>
                </a:ext>
              </a:extLst>
            </p:cNvPr>
            <p:cNvSpPr/>
            <p:nvPr/>
          </p:nvSpPr>
          <p:spPr>
            <a:xfrm>
              <a:off x="6566857" y="4509595"/>
              <a:ext cx="348577" cy="166091"/>
            </a:xfrm>
            <a:custGeom>
              <a:avLst/>
              <a:gdLst>
                <a:gd name="connsiteX0" fmla="*/ 0 w 1388573"/>
                <a:gd name="connsiteY0" fmla="*/ 43038 h 172150"/>
                <a:gd name="connsiteX1" fmla="*/ 1302498 w 1388573"/>
                <a:gd name="connsiteY1" fmla="*/ 43038 h 172150"/>
                <a:gd name="connsiteX2" fmla="*/ 1302498 w 1388573"/>
                <a:gd name="connsiteY2" fmla="*/ 0 h 172150"/>
                <a:gd name="connsiteX3" fmla="*/ 1388573 w 1388573"/>
                <a:gd name="connsiteY3" fmla="*/ 86075 h 172150"/>
                <a:gd name="connsiteX4" fmla="*/ 1302498 w 1388573"/>
                <a:gd name="connsiteY4" fmla="*/ 172150 h 172150"/>
                <a:gd name="connsiteX5" fmla="*/ 1302498 w 1388573"/>
                <a:gd name="connsiteY5" fmla="*/ 129113 h 172150"/>
                <a:gd name="connsiteX6" fmla="*/ 0 w 1388573"/>
                <a:gd name="connsiteY6" fmla="*/ 129113 h 172150"/>
                <a:gd name="connsiteX7" fmla="*/ 0 w 1388573"/>
                <a:gd name="connsiteY7" fmla="*/ 43038 h 172150"/>
                <a:gd name="connsiteX0" fmla="*/ 0 w 1302498"/>
                <a:gd name="connsiteY0" fmla="*/ 43038 h 172150"/>
                <a:gd name="connsiteX1" fmla="*/ 1302498 w 1302498"/>
                <a:gd name="connsiteY1" fmla="*/ 43038 h 172150"/>
                <a:gd name="connsiteX2" fmla="*/ 1302498 w 1302498"/>
                <a:gd name="connsiteY2" fmla="*/ 0 h 172150"/>
                <a:gd name="connsiteX3" fmla="*/ 1293682 w 1302498"/>
                <a:gd name="connsiteY3" fmla="*/ 103331 h 172150"/>
                <a:gd name="connsiteX4" fmla="*/ 1302498 w 1302498"/>
                <a:gd name="connsiteY4" fmla="*/ 172150 h 172150"/>
                <a:gd name="connsiteX5" fmla="*/ 1302498 w 1302498"/>
                <a:gd name="connsiteY5" fmla="*/ 129113 h 172150"/>
                <a:gd name="connsiteX6" fmla="*/ 0 w 1302498"/>
                <a:gd name="connsiteY6" fmla="*/ 129113 h 172150"/>
                <a:gd name="connsiteX7" fmla="*/ 0 w 1302498"/>
                <a:gd name="connsiteY7" fmla="*/ 43038 h 17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2498" h="172150">
                  <a:moveTo>
                    <a:pt x="0" y="43038"/>
                  </a:moveTo>
                  <a:lnTo>
                    <a:pt x="1302498" y="43038"/>
                  </a:lnTo>
                  <a:lnTo>
                    <a:pt x="1302498" y="0"/>
                  </a:lnTo>
                  <a:lnTo>
                    <a:pt x="1293682" y="103331"/>
                  </a:lnTo>
                  <a:lnTo>
                    <a:pt x="1302498" y="172150"/>
                  </a:lnTo>
                  <a:lnTo>
                    <a:pt x="1302498" y="129113"/>
                  </a:lnTo>
                  <a:lnTo>
                    <a:pt x="0" y="129113"/>
                  </a:lnTo>
                  <a:lnTo>
                    <a:pt x="0" y="4303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15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5147001" y="4399222"/>
            <a:ext cx="402916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6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3490760" y="3835388"/>
            <a:ext cx="2048946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Disposition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Out,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標記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FA,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同時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9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4475231" y="4350937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2697535" y="4339931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2117765" y="3836174"/>
            <a:ext cx="133635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持續追蹤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&amp;push XF team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進度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3339491" y="4386072"/>
            <a:ext cx="402916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4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561627" y="4590041"/>
            <a:ext cx="38504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Lisa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25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4853509" y="5735118"/>
            <a:ext cx="186152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4281623" y="5246999"/>
            <a:ext cx="134858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Recon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係統內同時查詢測試記錄確認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5428752" y="5768652"/>
            <a:ext cx="402916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493492" y="6005161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2953354" y="5234268"/>
            <a:ext cx="1455893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發送投測郵件通知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test center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繼續測試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4123341" y="5755886"/>
            <a:ext cx="402916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2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3203712" y="5987089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pic>
        <p:nvPicPr>
          <p:cNvPr id="133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485" y="5693043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1551355" y="5119939"/>
            <a:ext cx="1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Disposition </a:t>
            </a:r>
            <a:r>
              <a:rPr kumimoji="0" lang="en-US" altLang="zh-CN" sz="10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SummaryInOut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刷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Out, 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標記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5" name="Picture 2" descr="C:\Users\28243\AppData\Local\SuperNotes\a.nina.yh.huang@mail.foxconn.com\mid\873A1660-8BE1-4A64-B5AD-E45092EAA33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204">
            <a:off x="2204349" y="5654759"/>
            <a:ext cx="282926" cy="3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2801365" y="5729033"/>
            <a:ext cx="402916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6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465319" y="2989389"/>
            <a:ext cx="38504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Lisa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3484456" y="959120"/>
            <a:ext cx="871542" cy="1975515"/>
            <a:chOff x="3882605" y="1186170"/>
            <a:chExt cx="871542" cy="1975515"/>
          </a:xfrm>
        </p:grpSpPr>
        <p:grpSp>
          <p:nvGrpSpPr>
            <p:cNvPr id="138" name="群組 137"/>
            <p:cNvGrpSpPr/>
            <p:nvPr/>
          </p:nvGrpSpPr>
          <p:grpSpPr>
            <a:xfrm rot="10800000">
              <a:off x="3882605" y="1435506"/>
              <a:ext cx="871542" cy="1501270"/>
              <a:chOff x="6050499" y="3842198"/>
              <a:chExt cx="871542" cy="1501270"/>
            </a:xfrm>
          </p:grpSpPr>
          <p:grpSp>
            <p:nvGrpSpPr>
              <p:cNvPr id="139" name="群組 138"/>
              <p:cNvGrpSpPr/>
              <p:nvPr/>
            </p:nvGrpSpPr>
            <p:grpSpPr>
              <a:xfrm>
                <a:off x="6050499" y="3842198"/>
                <a:ext cx="596565" cy="1501270"/>
                <a:chOff x="5681388" y="3728239"/>
                <a:chExt cx="596565" cy="1501270"/>
              </a:xfrm>
            </p:grpSpPr>
            <p:sp>
              <p:nvSpPr>
                <p:cNvPr id="143" name="向右箭號 166">
                  <a:extLst>
                    <a:ext uri="{FF2B5EF4-FFF2-40B4-BE49-F238E27FC236}">
                      <a16:creationId xmlns:a16="http://schemas.microsoft.com/office/drawing/2014/main" id="{CA1328A3-E2A3-4F4E-9453-C5BAAB6F199E}"/>
                    </a:ext>
                  </a:extLst>
                </p:cNvPr>
                <p:cNvSpPr/>
                <p:nvPr/>
              </p:nvSpPr>
              <p:spPr>
                <a:xfrm rot="10800000">
                  <a:off x="5727449" y="5089199"/>
                  <a:ext cx="525758" cy="140310"/>
                </a:xfrm>
                <a:prstGeom prst="rightArrow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00" b="1" i="0" u="none" strike="noStrike" kern="1200" cap="none" spc="0" normalizeH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軟正黑體" panose="020B0604030504040204" pitchFamily="34" charset="-12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向右箭號 166">
                  <a:extLst>
                    <a:ext uri="{FF2B5EF4-FFF2-40B4-BE49-F238E27FC236}">
                      <a16:creationId xmlns:a16="http://schemas.microsoft.com/office/drawing/2014/main" id="{CA1328A3-E2A3-4F4E-9453-C5BAAB6F199E}"/>
                    </a:ext>
                  </a:extLst>
                </p:cNvPr>
                <p:cNvSpPr/>
                <p:nvPr/>
              </p:nvSpPr>
              <p:spPr>
                <a:xfrm rot="10800000">
                  <a:off x="5681388" y="3728239"/>
                  <a:ext cx="567982" cy="140309"/>
                </a:xfrm>
                <a:prstGeom prst="rightArrow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00" b="1" i="0" u="none" strike="noStrike" kern="1200" cap="none" spc="0" normalizeH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軟正黑體" panose="020B0604030504040204" pitchFamily="34" charset="-12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向右箭號 166">
                  <a:extLst>
                    <a:ext uri="{FF2B5EF4-FFF2-40B4-BE49-F238E27FC236}">
                      <a16:creationId xmlns:a16="http://schemas.microsoft.com/office/drawing/2014/main" id="{CA1328A3-E2A3-4F4E-9453-C5BAAB6F199E}"/>
                    </a:ext>
                  </a:extLst>
                </p:cNvPr>
                <p:cNvSpPr/>
                <p:nvPr/>
              </p:nvSpPr>
              <p:spPr>
                <a:xfrm rot="16200000">
                  <a:off x="5502331" y="4415324"/>
                  <a:ext cx="1424143" cy="127100"/>
                </a:xfrm>
                <a:custGeom>
                  <a:avLst/>
                  <a:gdLst>
                    <a:gd name="connsiteX0" fmla="*/ 0 w 1388573"/>
                    <a:gd name="connsiteY0" fmla="*/ 43038 h 172150"/>
                    <a:gd name="connsiteX1" fmla="*/ 1302498 w 1388573"/>
                    <a:gd name="connsiteY1" fmla="*/ 43038 h 172150"/>
                    <a:gd name="connsiteX2" fmla="*/ 1302498 w 1388573"/>
                    <a:gd name="connsiteY2" fmla="*/ 0 h 172150"/>
                    <a:gd name="connsiteX3" fmla="*/ 1388573 w 1388573"/>
                    <a:gd name="connsiteY3" fmla="*/ 86075 h 172150"/>
                    <a:gd name="connsiteX4" fmla="*/ 1302498 w 1388573"/>
                    <a:gd name="connsiteY4" fmla="*/ 172150 h 172150"/>
                    <a:gd name="connsiteX5" fmla="*/ 1302498 w 1388573"/>
                    <a:gd name="connsiteY5" fmla="*/ 129113 h 172150"/>
                    <a:gd name="connsiteX6" fmla="*/ 0 w 1388573"/>
                    <a:gd name="connsiteY6" fmla="*/ 129113 h 172150"/>
                    <a:gd name="connsiteX7" fmla="*/ 0 w 1388573"/>
                    <a:gd name="connsiteY7" fmla="*/ 43038 h 172150"/>
                    <a:gd name="connsiteX0" fmla="*/ 0 w 1302498"/>
                    <a:gd name="connsiteY0" fmla="*/ 43038 h 172150"/>
                    <a:gd name="connsiteX1" fmla="*/ 1302498 w 1302498"/>
                    <a:gd name="connsiteY1" fmla="*/ 43038 h 172150"/>
                    <a:gd name="connsiteX2" fmla="*/ 1302498 w 1302498"/>
                    <a:gd name="connsiteY2" fmla="*/ 0 h 172150"/>
                    <a:gd name="connsiteX3" fmla="*/ 1293682 w 1302498"/>
                    <a:gd name="connsiteY3" fmla="*/ 103331 h 172150"/>
                    <a:gd name="connsiteX4" fmla="*/ 1302498 w 1302498"/>
                    <a:gd name="connsiteY4" fmla="*/ 172150 h 172150"/>
                    <a:gd name="connsiteX5" fmla="*/ 1302498 w 1302498"/>
                    <a:gd name="connsiteY5" fmla="*/ 129113 h 172150"/>
                    <a:gd name="connsiteX6" fmla="*/ 0 w 1302498"/>
                    <a:gd name="connsiteY6" fmla="*/ 129113 h 172150"/>
                    <a:gd name="connsiteX7" fmla="*/ 0 w 1302498"/>
                    <a:gd name="connsiteY7" fmla="*/ 43038 h 172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02498" h="172150">
                      <a:moveTo>
                        <a:pt x="0" y="43038"/>
                      </a:moveTo>
                      <a:lnTo>
                        <a:pt x="1302498" y="43038"/>
                      </a:lnTo>
                      <a:lnTo>
                        <a:pt x="1302498" y="0"/>
                      </a:lnTo>
                      <a:lnTo>
                        <a:pt x="1293682" y="103331"/>
                      </a:lnTo>
                      <a:lnTo>
                        <a:pt x="1302498" y="172150"/>
                      </a:lnTo>
                      <a:lnTo>
                        <a:pt x="1302498" y="129113"/>
                      </a:lnTo>
                      <a:lnTo>
                        <a:pt x="0" y="129113"/>
                      </a:lnTo>
                      <a:lnTo>
                        <a:pt x="0" y="43038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00" b="1" i="0" u="none" strike="noStrike" kern="1200" cap="none" spc="0" normalizeH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軟正黑體" panose="020B0604030504040204" pitchFamily="34" charset="-12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42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>
                <a:off x="6573464" y="4516596"/>
                <a:ext cx="348577" cy="166091"/>
              </a:xfrm>
              <a:custGeom>
                <a:avLst/>
                <a:gdLst>
                  <a:gd name="connsiteX0" fmla="*/ 0 w 1388573"/>
                  <a:gd name="connsiteY0" fmla="*/ 43038 h 172150"/>
                  <a:gd name="connsiteX1" fmla="*/ 1302498 w 1388573"/>
                  <a:gd name="connsiteY1" fmla="*/ 43038 h 172150"/>
                  <a:gd name="connsiteX2" fmla="*/ 1302498 w 1388573"/>
                  <a:gd name="connsiteY2" fmla="*/ 0 h 172150"/>
                  <a:gd name="connsiteX3" fmla="*/ 1388573 w 1388573"/>
                  <a:gd name="connsiteY3" fmla="*/ 86075 h 172150"/>
                  <a:gd name="connsiteX4" fmla="*/ 1302498 w 1388573"/>
                  <a:gd name="connsiteY4" fmla="*/ 172150 h 172150"/>
                  <a:gd name="connsiteX5" fmla="*/ 1302498 w 1388573"/>
                  <a:gd name="connsiteY5" fmla="*/ 129113 h 172150"/>
                  <a:gd name="connsiteX6" fmla="*/ 0 w 1388573"/>
                  <a:gd name="connsiteY6" fmla="*/ 129113 h 172150"/>
                  <a:gd name="connsiteX7" fmla="*/ 0 w 1388573"/>
                  <a:gd name="connsiteY7" fmla="*/ 43038 h 172150"/>
                  <a:gd name="connsiteX0" fmla="*/ 0 w 1302498"/>
                  <a:gd name="connsiteY0" fmla="*/ 43038 h 172150"/>
                  <a:gd name="connsiteX1" fmla="*/ 1302498 w 1302498"/>
                  <a:gd name="connsiteY1" fmla="*/ 43038 h 172150"/>
                  <a:gd name="connsiteX2" fmla="*/ 1302498 w 1302498"/>
                  <a:gd name="connsiteY2" fmla="*/ 0 h 172150"/>
                  <a:gd name="connsiteX3" fmla="*/ 1293682 w 1302498"/>
                  <a:gd name="connsiteY3" fmla="*/ 103331 h 172150"/>
                  <a:gd name="connsiteX4" fmla="*/ 1302498 w 1302498"/>
                  <a:gd name="connsiteY4" fmla="*/ 172150 h 172150"/>
                  <a:gd name="connsiteX5" fmla="*/ 1302498 w 1302498"/>
                  <a:gd name="connsiteY5" fmla="*/ 129113 h 172150"/>
                  <a:gd name="connsiteX6" fmla="*/ 0 w 1302498"/>
                  <a:gd name="connsiteY6" fmla="*/ 129113 h 172150"/>
                  <a:gd name="connsiteX7" fmla="*/ 0 w 1302498"/>
                  <a:gd name="connsiteY7" fmla="*/ 43038 h 17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2498" h="172150">
                    <a:moveTo>
                      <a:pt x="0" y="43038"/>
                    </a:moveTo>
                    <a:lnTo>
                      <a:pt x="1302498" y="43038"/>
                    </a:lnTo>
                    <a:lnTo>
                      <a:pt x="1302498" y="0"/>
                    </a:lnTo>
                    <a:lnTo>
                      <a:pt x="1293682" y="103331"/>
                    </a:lnTo>
                    <a:lnTo>
                      <a:pt x="1302498" y="172150"/>
                    </a:lnTo>
                    <a:lnTo>
                      <a:pt x="1302498" y="129113"/>
                    </a:lnTo>
                    <a:lnTo>
                      <a:pt x="0" y="129113"/>
                    </a:lnTo>
                    <a:lnTo>
                      <a:pt x="0" y="43038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8" name="文字方塊 147"/>
            <p:cNvSpPr txBox="1"/>
            <p:nvPr/>
          </p:nvSpPr>
          <p:spPr>
            <a:xfrm>
              <a:off x="4273283" y="1186170"/>
              <a:ext cx="41885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+mn-cs"/>
                </a:rPr>
                <a:t>有</a:t>
              </a: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49" name="文字方塊 148"/>
            <p:cNvSpPr txBox="1"/>
            <p:nvPr/>
          </p:nvSpPr>
          <p:spPr>
            <a:xfrm>
              <a:off x="4258089" y="2907769"/>
              <a:ext cx="41885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+mn-cs"/>
                </a:rPr>
                <a:t>無</a:t>
              </a: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157" name="文字方塊 121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9424685" y="3361743"/>
            <a:ext cx="1573491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 return Units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315611" y="5119302"/>
            <a:ext cx="1228484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發送前一日總投產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List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郵件與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test center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確認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1458759" y="5716331"/>
            <a:ext cx="402916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21098" y="5987089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pic>
        <p:nvPicPr>
          <p:cNvPr id="168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7" y="5663924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6478849" y="2556271"/>
            <a:ext cx="402916" cy="13228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9C614F9D-D646-EE45-A45D-4AC0F9F4C494}"/>
              </a:ext>
            </a:extLst>
          </p:cNvPr>
          <p:cNvSpPr txBox="1"/>
          <p:nvPr/>
        </p:nvSpPr>
        <p:spPr>
          <a:xfrm>
            <a:off x="6717933" y="1988326"/>
            <a:ext cx="1356931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發送前一日總投產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郵件與</a:t>
            </a: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test center</a:t>
            </a:r>
            <a:r>
              <a:rPr kumimoji="0" lang="zh-CN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確認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929968" y="2803667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pic>
        <p:nvPicPr>
          <p:cNvPr id="172" name="Picture 1" descr="C:\Users\28243\AppData\Local\SuperNotes\a.nina.yh.huang@mail.foxconn.com\mid\B3FCFAA1-3FB0-4647-906A-2B0D9963BB3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677" y="2514132"/>
            <a:ext cx="226723" cy="23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629486" y="2141901"/>
            <a:ext cx="61266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Xiaoyue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2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356791" y="4651531"/>
            <a:ext cx="61266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Xiaoyue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4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348538" y="1494067"/>
            <a:ext cx="61266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Xiaoyue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4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657094" y="2803667"/>
            <a:ext cx="61266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Xiaoyue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4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4144661" y="4650369"/>
            <a:ext cx="61266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Xiaoyue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5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988687" y="5987089"/>
            <a:ext cx="61266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Xiaoyue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5407996" y="1917058"/>
            <a:ext cx="2588542" cy="11885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5" name="圓角矩形 154"/>
          <p:cNvSpPr/>
          <p:nvPr/>
        </p:nvSpPr>
        <p:spPr>
          <a:xfrm>
            <a:off x="1365492" y="1224420"/>
            <a:ext cx="1301345" cy="12441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6" name="圓角矩形 155"/>
          <p:cNvSpPr/>
          <p:nvPr/>
        </p:nvSpPr>
        <p:spPr>
          <a:xfrm>
            <a:off x="269328" y="5046122"/>
            <a:ext cx="2773335" cy="13040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983443" y="1686256"/>
            <a:ext cx="1443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New add in P1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9" name="文字方塊 158"/>
          <p:cNvSpPr txBox="1"/>
          <p:nvPr/>
        </p:nvSpPr>
        <p:spPr>
          <a:xfrm>
            <a:off x="1547115" y="949568"/>
            <a:ext cx="1018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New add in P1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0" name="文字方塊 159"/>
          <p:cNvSpPr txBox="1"/>
          <p:nvPr/>
        </p:nvSpPr>
        <p:spPr>
          <a:xfrm>
            <a:off x="1104908" y="4721464"/>
            <a:ext cx="1443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New add in P1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1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5400000">
            <a:off x="9495571" y="3445888"/>
            <a:ext cx="371022" cy="155203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5400000">
            <a:off x="9543495" y="5073554"/>
            <a:ext cx="335440" cy="1322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3" name="橢圓 152"/>
          <p:cNvSpPr/>
          <p:nvPr/>
        </p:nvSpPr>
        <p:spPr>
          <a:xfrm>
            <a:off x="9643933" y="5562629"/>
            <a:ext cx="186152" cy="16582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9348538" y="5820400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grpSp>
        <p:nvGrpSpPr>
          <p:cNvPr id="8" name="群組 7"/>
          <p:cNvGrpSpPr/>
          <p:nvPr/>
        </p:nvGrpSpPr>
        <p:grpSpPr>
          <a:xfrm rot="5400000">
            <a:off x="7961558" y="5239741"/>
            <a:ext cx="1754023" cy="852989"/>
            <a:chOff x="9286381" y="4549136"/>
            <a:chExt cx="1754023" cy="852989"/>
          </a:xfrm>
        </p:grpSpPr>
        <p:sp>
          <p:nvSpPr>
            <p:cNvPr id="177" name="文字方塊 176"/>
            <p:cNvSpPr txBox="1"/>
            <p:nvPr/>
          </p:nvSpPr>
          <p:spPr>
            <a:xfrm rot="16200000">
              <a:off x="10704020" y="4942263"/>
              <a:ext cx="41885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+mn-cs"/>
                </a:rPr>
                <a:t>有</a:t>
              </a: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endParaRPr>
            </a:p>
          </p:txBody>
        </p:sp>
        <p:grpSp>
          <p:nvGrpSpPr>
            <p:cNvPr id="22" name="群組 21"/>
            <p:cNvGrpSpPr/>
            <p:nvPr/>
          </p:nvGrpSpPr>
          <p:grpSpPr>
            <a:xfrm>
              <a:off x="9286381" y="4549136"/>
              <a:ext cx="1441539" cy="841501"/>
              <a:chOff x="9316830" y="4868407"/>
              <a:chExt cx="1441539" cy="841501"/>
            </a:xfrm>
          </p:grpSpPr>
          <p:sp>
            <p:nvSpPr>
              <p:cNvPr id="180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 rot="5400000">
                <a:off x="10424581" y="5376120"/>
                <a:ext cx="542330" cy="125246"/>
              </a:xfrm>
              <a:prstGeom prst="right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183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 rot="10800000">
                <a:off x="9606310" y="5139536"/>
                <a:ext cx="1109771" cy="110674"/>
              </a:xfrm>
              <a:custGeom>
                <a:avLst/>
                <a:gdLst>
                  <a:gd name="connsiteX0" fmla="*/ 0 w 1388573"/>
                  <a:gd name="connsiteY0" fmla="*/ 43038 h 172150"/>
                  <a:gd name="connsiteX1" fmla="*/ 1302498 w 1388573"/>
                  <a:gd name="connsiteY1" fmla="*/ 43038 h 172150"/>
                  <a:gd name="connsiteX2" fmla="*/ 1302498 w 1388573"/>
                  <a:gd name="connsiteY2" fmla="*/ 0 h 172150"/>
                  <a:gd name="connsiteX3" fmla="*/ 1388573 w 1388573"/>
                  <a:gd name="connsiteY3" fmla="*/ 86075 h 172150"/>
                  <a:gd name="connsiteX4" fmla="*/ 1302498 w 1388573"/>
                  <a:gd name="connsiteY4" fmla="*/ 172150 h 172150"/>
                  <a:gd name="connsiteX5" fmla="*/ 1302498 w 1388573"/>
                  <a:gd name="connsiteY5" fmla="*/ 129113 h 172150"/>
                  <a:gd name="connsiteX6" fmla="*/ 0 w 1388573"/>
                  <a:gd name="connsiteY6" fmla="*/ 129113 h 172150"/>
                  <a:gd name="connsiteX7" fmla="*/ 0 w 1388573"/>
                  <a:gd name="connsiteY7" fmla="*/ 43038 h 172150"/>
                  <a:gd name="connsiteX0" fmla="*/ 0 w 1302498"/>
                  <a:gd name="connsiteY0" fmla="*/ 43038 h 172150"/>
                  <a:gd name="connsiteX1" fmla="*/ 1302498 w 1302498"/>
                  <a:gd name="connsiteY1" fmla="*/ 43038 h 172150"/>
                  <a:gd name="connsiteX2" fmla="*/ 1302498 w 1302498"/>
                  <a:gd name="connsiteY2" fmla="*/ 0 h 172150"/>
                  <a:gd name="connsiteX3" fmla="*/ 1293682 w 1302498"/>
                  <a:gd name="connsiteY3" fmla="*/ 103331 h 172150"/>
                  <a:gd name="connsiteX4" fmla="*/ 1302498 w 1302498"/>
                  <a:gd name="connsiteY4" fmla="*/ 172150 h 172150"/>
                  <a:gd name="connsiteX5" fmla="*/ 1302498 w 1302498"/>
                  <a:gd name="connsiteY5" fmla="*/ 129113 h 172150"/>
                  <a:gd name="connsiteX6" fmla="*/ 0 w 1302498"/>
                  <a:gd name="connsiteY6" fmla="*/ 129113 h 172150"/>
                  <a:gd name="connsiteX7" fmla="*/ 0 w 1302498"/>
                  <a:gd name="connsiteY7" fmla="*/ 43038 h 17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2498" h="172150">
                    <a:moveTo>
                      <a:pt x="0" y="43038"/>
                    </a:moveTo>
                    <a:lnTo>
                      <a:pt x="1302498" y="43038"/>
                    </a:lnTo>
                    <a:lnTo>
                      <a:pt x="1302498" y="0"/>
                    </a:lnTo>
                    <a:lnTo>
                      <a:pt x="1293682" y="103331"/>
                    </a:lnTo>
                    <a:lnTo>
                      <a:pt x="1302498" y="172150"/>
                    </a:lnTo>
                    <a:lnTo>
                      <a:pt x="1302498" y="129113"/>
                    </a:lnTo>
                    <a:lnTo>
                      <a:pt x="0" y="129113"/>
                    </a:lnTo>
                    <a:lnTo>
                      <a:pt x="0" y="43038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文字方塊 177"/>
              <p:cNvSpPr txBox="1"/>
              <p:nvPr/>
            </p:nvSpPr>
            <p:spPr>
              <a:xfrm rot="16200000">
                <a:off x="9234362" y="5253074"/>
                <a:ext cx="41885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軟正黑體" panose="020B0604030504040204" pitchFamily="34" charset="-120"/>
                    <a:cs typeface="+mn-cs"/>
                  </a:rPr>
                  <a:t>無</a:t>
                </a:r>
                <a:endParaRPr kumimoji="0" lang="zh-TW" altLang="en-US" sz="10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161" name="向右箭號 166">
                <a:extLst>
                  <a:ext uri="{FF2B5EF4-FFF2-40B4-BE49-F238E27FC236}">
                    <a16:creationId xmlns:a16="http://schemas.microsoft.com/office/drawing/2014/main" id="{CA1328A3-E2A3-4F4E-9453-C5BAAB6F199E}"/>
                  </a:ext>
                </a:extLst>
              </p:cNvPr>
              <p:cNvSpPr/>
              <p:nvPr/>
            </p:nvSpPr>
            <p:spPr>
              <a:xfrm rot="5400000">
                <a:off x="10013560" y="4959650"/>
                <a:ext cx="348577" cy="166091"/>
              </a:xfrm>
              <a:custGeom>
                <a:avLst/>
                <a:gdLst>
                  <a:gd name="connsiteX0" fmla="*/ 0 w 1388573"/>
                  <a:gd name="connsiteY0" fmla="*/ 43038 h 172150"/>
                  <a:gd name="connsiteX1" fmla="*/ 1302498 w 1388573"/>
                  <a:gd name="connsiteY1" fmla="*/ 43038 h 172150"/>
                  <a:gd name="connsiteX2" fmla="*/ 1302498 w 1388573"/>
                  <a:gd name="connsiteY2" fmla="*/ 0 h 172150"/>
                  <a:gd name="connsiteX3" fmla="*/ 1388573 w 1388573"/>
                  <a:gd name="connsiteY3" fmla="*/ 86075 h 172150"/>
                  <a:gd name="connsiteX4" fmla="*/ 1302498 w 1388573"/>
                  <a:gd name="connsiteY4" fmla="*/ 172150 h 172150"/>
                  <a:gd name="connsiteX5" fmla="*/ 1302498 w 1388573"/>
                  <a:gd name="connsiteY5" fmla="*/ 129113 h 172150"/>
                  <a:gd name="connsiteX6" fmla="*/ 0 w 1388573"/>
                  <a:gd name="connsiteY6" fmla="*/ 129113 h 172150"/>
                  <a:gd name="connsiteX7" fmla="*/ 0 w 1388573"/>
                  <a:gd name="connsiteY7" fmla="*/ 43038 h 172150"/>
                  <a:gd name="connsiteX0" fmla="*/ 0 w 1302498"/>
                  <a:gd name="connsiteY0" fmla="*/ 43038 h 172150"/>
                  <a:gd name="connsiteX1" fmla="*/ 1302498 w 1302498"/>
                  <a:gd name="connsiteY1" fmla="*/ 43038 h 172150"/>
                  <a:gd name="connsiteX2" fmla="*/ 1302498 w 1302498"/>
                  <a:gd name="connsiteY2" fmla="*/ 0 h 172150"/>
                  <a:gd name="connsiteX3" fmla="*/ 1293682 w 1302498"/>
                  <a:gd name="connsiteY3" fmla="*/ 103331 h 172150"/>
                  <a:gd name="connsiteX4" fmla="*/ 1302498 w 1302498"/>
                  <a:gd name="connsiteY4" fmla="*/ 172150 h 172150"/>
                  <a:gd name="connsiteX5" fmla="*/ 1302498 w 1302498"/>
                  <a:gd name="connsiteY5" fmla="*/ 129113 h 172150"/>
                  <a:gd name="connsiteX6" fmla="*/ 0 w 1302498"/>
                  <a:gd name="connsiteY6" fmla="*/ 129113 h 172150"/>
                  <a:gd name="connsiteX7" fmla="*/ 0 w 1302498"/>
                  <a:gd name="connsiteY7" fmla="*/ 43038 h 17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2498" h="172150">
                    <a:moveTo>
                      <a:pt x="0" y="43038"/>
                    </a:moveTo>
                    <a:lnTo>
                      <a:pt x="1302498" y="43038"/>
                    </a:lnTo>
                    <a:lnTo>
                      <a:pt x="1302498" y="0"/>
                    </a:lnTo>
                    <a:lnTo>
                      <a:pt x="1293682" y="103331"/>
                    </a:lnTo>
                    <a:lnTo>
                      <a:pt x="1302498" y="172150"/>
                    </a:lnTo>
                    <a:lnTo>
                      <a:pt x="1302498" y="129113"/>
                    </a:lnTo>
                    <a:lnTo>
                      <a:pt x="0" y="129113"/>
                    </a:lnTo>
                    <a:lnTo>
                      <a:pt x="0" y="43038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00" b="1" i="0" u="none" strike="noStrike" kern="1200" cap="none" spc="0" normalizeH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4" name="向右箭號 166">
              <a:extLst>
                <a:ext uri="{FF2B5EF4-FFF2-40B4-BE49-F238E27FC236}">
                  <a16:creationId xmlns:a16="http://schemas.microsoft.com/office/drawing/2014/main" id="{CA1328A3-E2A3-4F4E-9453-C5BAAB6F199E}"/>
                </a:ext>
              </a:extLst>
            </p:cNvPr>
            <p:cNvSpPr/>
            <p:nvPr/>
          </p:nvSpPr>
          <p:spPr>
            <a:xfrm rot="5400000">
              <a:off x="9348226" y="5068337"/>
              <a:ext cx="542330" cy="125246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62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5400000">
            <a:off x="9497208" y="1964123"/>
            <a:ext cx="371022" cy="155203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631943" y="5275138"/>
            <a:ext cx="768159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</a:rPr>
              <a:t>Mike/Yang</a:t>
            </a:r>
            <a:endParaRPr kumimoji="0" lang="en-US" altLang="zh-TW" sz="10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</a:endParaRPr>
          </a:p>
        </p:txBody>
      </p:sp>
      <p:cxnSp>
        <p:nvCxnSpPr>
          <p:cNvPr id="164" name="肘形接點 163"/>
          <p:cNvCxnSpPr>
            <a:stCxn id="121" idx="2"/>
          </p:cNvCxnSpPr>
          <p:nvPr/>
        </p:nvCxnSpPr>
        <p:spPr>
          <a:xfrm rot="10800000" flipH="1">
            <a:off x="2697535" y="3517243"/>
            <a:ext cx="6767784" cy="905600"/>
          </a:xfrm>
          <a:prstGeom prst="bentConnector3">
            <a:avLst>
              <a:gd name="adj1" fmla="val -12298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圓角矩形 174"/>
          <p:cNvSpPr/>
          <p:nvPr/>
        </p:nvSpPr>
        <p:spPr>
          <a:xfrm>
            <a:off x="3594807" y="3684870"/>
            <a:ext cx="1892694" cy="7005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3944893" y="3476796"/>
            <a:ext cx="12605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New add in P1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9" name="圓角矩形 178"/>
          <p:cNvSpPr/>
          <p:nvPr/>
        </p:nvSpPr>
        <p:spPr>
          <a:xfrm>
            <a:off x="8860732" y="3686244"/>
            <a:ext cx="1787472" cy="60305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1200" cap="none" spc="0" normalizeH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1" name="文字方塊 180"/>
          <p:cNvSpPr txBox="1"/>
          <p:nvPr/>
        </p:nvSpPr>
        <p:spPr>
          <a:xfrm>
            <a:off x="10647496" y="3934375"/>
            <a:ext cx="10987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New add in P1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84534E7D-1431-4EA9-BE71-D293B570EF51}"/>
              </a:ext>
            </a:extLst>
          </p:cNvPr>
          <p:cNvGrpSpPr/>
          <p:nvPr/>
        </p:nvGrpSpPr>
        <p:grpSpPr>
          <a:xfrm>
            <a:off x="10675043" y="671012"/>
            <a:ext cx="1706622" cy="1108041"/>
            <a:chOff x="10656374" y="702459"/>
            <a:chExt cx="1706622" cy="1108041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8BDA6CDD-C2B6-4EBB-948B-8E3F6A2F29CC}"/>
                </a:ext>
              </a:extLst>
            </p:cNvPr>
            <p:cNvSpPr/>
            <p:nvPr/>
          </p:nvSpPr>
          <p:spPr>
            <a:xfrm>
              <a:off x="10914977" y="1243220"/>
              <a:ext cx="1448019" cy="225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187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C850090B-0002-401E-B546-37168CB10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4DB01D88-79D9-47B9-9266-4DA67C16C417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746A3822-9A2E-450E-835C-43EC21E7E3C9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90" name="橢圓 189">
              <a:extLst>
                <a:ext uri="{FF2B5EF4-FFF2-40B4-BE49-F238E27FC236}">
                  <a16:creationId xmlns:a16="http://schemas.microsoft.com/office/drawing/2014/main" id="{FC500219-E88D-4705-8D08-CD8F5865802E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9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783A24D1-529A-4B3C-A568-34F6DF65D380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2F609964-0537-48EF-8967-BB56C014A738}"/>
                </a:ext>
              </a:extLst>
            </p:cNvPr>
            <p:cNvSpPr/>
            <p:nvPr/>
          </p:nvSpPr>
          <p:spPr>
            <a:xfrm>
              <a:off x="10900203" y="1523719"/>
              <a:ext cx="1448019" cy="225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93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AF355C3E-E5C2-4CDE-A703-C02A04EB4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13870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文字方塊 144"/>
          <p:cNvSpPr txBox="1"/>
          <p:nvPr/>
        </p:nvSpPr>
        <p:spPr>
          <a:xfrm>
            <a:off x="1962910" y="1169366"/>
            <a:ext cx="1104424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solidFill>
                  <a:srgbClr val="0000FF"/>
                </a:solidFill>
                <a:latin typeface="Calibri" panose="020F0502020204030204" pitchFamily="34" charset="0"/>
              </a:rPr>
              <a:t>郵件</a:t>
            </a:r>
            <a:r>
              <a:rPr lang="en-US" altLang="zh-CN" sz="1000" dirty="0">
                <a:solidFill>
                  <a:srgbClr val="0000FF"/>
                </a:solidFill>
                <a:latin typeface="Calibri" panose="020F0502020204030204" pitchFamily="34" charset="0"/>
              </a:rPr>
              <a:t>/XXT push</a:t>
            </a:r>
            <a:r>
              <a:rPr lang="zh-CN" altLang="en-US" sz="1000" dirty="0">
                <a:solidFill>
                  <a:srgbClr val="0000FF"/>
                </a:solidFill>
                <a:latin typeface="Calibri" panose="020F0502020204030204" pitchFamily="34" charset="0"/>
              </a:rPr>
              <a:t>進度更新</a:t>
            </a:r>
            <a:endParaRPr lang="en-US" altLang="zh-TW" sz="1000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549984" y="1477964"/>
            <a:ext cx="6735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B5C917D1-A228-499D-89A1-C5EF18B19042}"/>
              </a:ext>
            </a:extLst>
          </p:cNvPr>
          <p:cNvGrpSpPr/>
          <p:nvPr/>
        </p:nvGrpSpPr>
        <p:grpSpPr>
          <a:xfrm>
            <a:off x="10741015" y="541468"/>
            <a:ext cx="1556483" cy="1329109"/>
            <a:chOff x="10656374" y="702459"/>
            <a:chExt cx="1706622" cy="1329109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6A9DFC2-39BF-4CFE-BCA1-9D92C7F60497}"/>
                </a:ext>
              </a:extLst>
            </p:cNvPr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93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DBE07AB4-F97F-4CA6-A2DF-532809E07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7AB44C26-D73E-493E-8B7F-CF81B9F7FE0D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4AA98CD2-3FBC-4166-B563-60179D798D8F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F7D6871C-E779-454F-B667-3B877710D933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0BE1DFFC-E2E6-4980-BA96-498CB202053B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25B41A6-AECD-4CAC-8718-13A574CFD19F}"/>
                </a:ext>
              </a:extLst>
            </p:cNvPr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07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8E5264EB-211B-42A9-BEC0-DF4281A8E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F436344B-9FF2-49C2-AD73-422CD532886A}"/>
                </a:ext>
              </a:extLst>
            </p:cNvPr>
            <p:cNvSpPr/>
            <p:nvPr/>
          </p:nvSpPr>
          <p:spPr>
            <a:xfrm>
              <a:off x="10711417" y="1832256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3F17A4DF-0804-437B-9561-592FE0C0EE93}"/>
                </a:ext>
              </a:extLst>
            </p:cNvPr>
            <p:cNvSpPr/>
            <p:nvPr/>
          </p:nvSpPr>
          <p:spPr>
            <a:xfrm>
              <a:off x="10900203" y="1785347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noProof="0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緊急需求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3341859" y="1169366"/>
            <a:ext cx="143843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根據回覆更新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Remark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與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 status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2907940" y="1477964"/>
            <a:ext cx="7078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9585132" y="5233411"/>
            <a:ext cx="678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8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21020" y="65078"/>
            <a:ext cx="5354736" cy="498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358"/>
              </a:lnSpc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|</a:t>
            </a:r>
            <a:r>
              <a:rPr kumimoji="1" lang="en-US" altLang="zh-CN" sz="2600" b="1" dirty="0">
                <a:solidFill>
                  <a:srgbClr val="4472C4">
                    <a:lumMod val="60000"/>
                    <a:lumOff val="4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 Tracker </a:t>
            </a:r>
            <a:r>
              <a:rPr kumimoji="1" lang="en-US" altLang="zh-CN" sz="26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 Flow</a:t>
            </a:r>
            <a:endParaRPr kumimoji="1" lang="en-US" altLang="zh-TW" sz="26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TT Hoves Bold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966424" y="1196117"/>
            <a:ext cx="129501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運行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Radar auto update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腳本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7D6871C-E779-454F-B667-3B877710D933}"/>
              </a:ext>
            </a:extLst>
          </p:cNvPr>
          <p:cNvSpPr/>
          <p:nvPr/>
        </p:nvSpPr>
        <p:spPr>
          <a:xfrm>
            <a:off x="5577273" y="1704781"/>
            <a:ext cx="186152" cy="1658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0" name="文字方塊 149"/>
          <p:cNvSpPr txBox="1"/>
          <p:nvPr/>
        </p:nvSpPr>
        <p:spPr>
          <a:xfrm>
            <a:off x="6202394" y="1478272"/>
            <a:ext cx="6735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6491519" y="1183465"/>
            <a:ext cx="15777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 notes/Days since last update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1" name="文字方塊 180"/>
          <p:cNvSpPr txBox="1"/>
          <p:nvPr/>
        </p:nvSpPr>
        <p:spPr>
          <a:xfrm>
            <a:off x="768877" y="1181031"/>
            <a:ext cx="89375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下載最新</a:t>
            </a:r>
            <a:r>
              <a:rPr lang="en-US" altLang="zh-CN" sz="1000" dirty="0">
                <a:latin typeface="Calibri" panose="020F0502020204030204" pitchFamily="34" charset="0"/>
              </a:rPr>
              <a:t>FA tracker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91" name="文字方塊 190"/>
          <p:cNvSpPr txBox="1"/>
          <p:nvPr/>
        </p:nvSpPr>
        <p:spPr>
          <a:xfrm>
            <a:off x="1627073" y="1489629"/>
            <a:ext cx="619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5" name="文字方塊 194"/>
          <p:cNvSpPr txBox="1"/>
          <p:nvPr/>
        </p:nvSpPr>
        <p:spPr>
          <a:xfrm>
            <a:off x="7868841" y="1513978"/>
            <a:ext cx="6735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8264789" y="1060435"/>
            <a:ext cx="202160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根據郵件更新</a:t>
            </a:r>
            <a:r>
              <a:rPr lang="en-US" altLang="zh-CN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Tear down (Y/N)/Tear down details/Shipping &amp; RTV info</a:t>
            </a:r>
            <a:endParaRPr lang="zh-TW" altLang="en-US" sz="1000" b="1" dirty="0">
              <a:solidFill>
                <a:srgbClr val="0000FF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10053339" y="3105437"/>
            <a:ext cx="16328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下載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 </a:t>
            </a:r>
            <a:r>
              <a:rPr lang="en-US" altLang="zh-CN" sz="1000" b="1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InOut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，根據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”FA </a:t>
            </a:r>
            <a:r>
              <a:rPr lang="en-US" altLang="zh-CN" sz="1000" b="1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Out”&amp;FA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 notes 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 status/Closed reason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8" name="文字方塊 217"/>
          <p:cNvSpPr txBox="1"/>
          <p:nvPr/>
        </p:nvSpPr>
        <p:spPr>
          <a:xfrm>
            <a:off x="10017154" y="1661710"/>
            <a:ext cx="655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1" name="文字方塊 220"/>
          <p:cNvSpPr txBox="1"/>
          <p:nvPr/>
        </p:nvSpPr>
        <p:spPr>
          <a:xfrm>
            <a:off x="10894633" y="4600758"/>
            <a:ext cx="655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8306480" y="5065664"/>
            <a:ext cx="14382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下載機台管理系統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Unit location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5" name="文字方塊 224"/>
          <p:cNvSpPr txBox="1"/>
          <p:nvPr/>
        </p:nvSpPr>
        <p:spPr>
          <a:xfrm>
            <a:off x="7874024" y="5261680"/>
            <a:ext cx="705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6561998" y="4921714"/>
            <a:ext cx="154305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下載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New radar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文件，將新增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 ticket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匯總至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 tracker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1" name="文字方塊 230"/>
          <p:cNvSpPr txBox="1"/>
          <p:nvPr/>
        </p:nvSpPr>
        <p:spPr>
          <a:xfrm>
            <a:off x="6165279" y="5259307"/>
            <a:ext cx="60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644649" y="4898028"/>
            <a:ext cx="174265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檢查并</a:t>
            </a:r>
            <a:r>
              <a:rPr lang="en-US" altLang="zh-CN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CN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公式下拉</a:t>
            </a:r>
            <a:r>
              <a:rPr lang="en-US" altLang="zh-CN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)</a:t>
            </a:r>
            <a:r>
              <a:rPr lang="zh-CN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更新</a:t>
            </a:r>
            <a:r>
              <a:rPr lang="en-US" altLang="zh-CN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Days since transfer/ Days since last update </a:t>
            </a:r>
            <a:endParaRPr lang="en-US" altLang="zh-TW" sz="1000" b="1" dirty="0">
              <a:solidFill>
                <a:srgbClr val="0000FF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0" name="文字方塊 239"/>
          <p:cNvSpPr txBox="1"/>
          <p:nvPr/>
        </p:nvSpPr>
        <p:spPr>
          <a:xfrm>
            <a:off x="4298683" y="5245784"/>
            <a:ext cx="609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2" name="矩形 241"/>
          <p:cNvSpPr/>
          <p:nvPr/>
        </p:nvSpPr>
        <p:spPr>
          <a:xfrm>
            <a:off x="3143977" y="4938421"/>
            <a:ext cx="14049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運行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 tracker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腳本更新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summary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頁并檢查數據準確性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1581292" y="5029343"/>
            <a:ext cx="14049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將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 tracker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上傳至雷達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157525665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9" name="文字方塊 248"/>
          <p:cNvSpPr txBox="1"/>
          <p:nvPr/>
        </p:nvSpPr>
        <p:spPr>
          <a:xfrm>
            <a:off x="2738708" y="5245619"/>
            <a:ext cx="705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1" name="文字方塊 250"/>
          <p:cNvSpPr txBox="1"/>
          <p:nvPr/>
        </p:nvSpPr>
        <p:spPr>
          <a:xfrm>
            <a:off x="1221319" y="5226961"/>
            <a:ext cx="5717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277980" y="4996491"/>
            <a:ext cx="12506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郵件告知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F1-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生成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FA Dashboard 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4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787129" y="2027641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9868025" y="5044858"/>
            <a:ext cx="19756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根據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”FA In”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更新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FA status/Transfer to FA Date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7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2120700" y="2016255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8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3607854" y="2020937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9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245883" y="2020806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95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956082" y="2035644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98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8738333" y="2027641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0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0415643" y="4185348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4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0481785" y="5716161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9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8643538" y="5699720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11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6955290" y="5757609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13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5141096" y="5739242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14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3532016" y="5757609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15" name="文字方塊 165">
            <a:extLst>
              <a:ext uri="{FF2B5EF4-FFF2-40B4-BE49-F238E27FC236}">
                <a16:creationId xmlns:a16="http://schemas.microsoft.com/office/drawing/2014/main" id="{F0282CE9-898A-EF46-837D-53C3F37DAB18}"/>
              </a:ext>
            </a:extLst>
          </p:cNvPr>
          <p:cNvSpPr txBox="1"/>
          <p:nvPr/>
        </p:nvSpPr>
        <p:spPr>
          <a:xfrm>
            <a:off x="1855584" y="5757609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19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1133478" y="1692798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0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2469226" y="1681412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4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3961296" y="1686094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5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7313153" y="1696672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9056205" y="1670531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8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10776673" y="3910578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9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10805127" y="5471925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0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8941674" y="5455829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1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7283635" y="5501804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2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5446104" y="5480380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3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3855502" y="5504066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4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2190677" y="5494324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5" name="橢圓 149">
            <a:extLst>
              <a:ext uri="{FF2B5EF4-FFF2-40B4-BE49-F238E27FC236}">
                <a16:creationId xmlns:a16="http://schemas.microsoft.com/office/drawing/2014/main" id="{7E29A063-AD1B-6341-BDA7-392758EA6771}"/>
              </a:ext>
            </a:extLst>
          </p:cNvPr>
          <p:cNvSpPr/>
          <p:nvPr/>
        </p:nvSpPr>
        <p:spPr>
          <a:xfrm>
            <a:off x="768877" y="5484191"/>
            <a:ext cx="186152" cy="165823"/>
          </a:xfrm>
          <a:prstGeom prst="ellipse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1673679" y="1721244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7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3050182" y="1721244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8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4689962" y="1721244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9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6357828" y="1721552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0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>
            <a:off x="7993318" y="1757258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2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5400000">
            <a:off x="10654368" y="4692618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3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9704835" y="5491661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4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8048127" y="5510960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6243564" y="5498795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4365453" y="5488296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8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2804979" y="5496551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" name="肘形接點 2"/>
          <p:cNvCxnSpPr/>
          <p:nvPr/>
        </p:nvCxnSpPr>
        <p:spPr>
          <a:xfrm rot="16200000" flipH="1">
            <a:off x="9872056" y="2064219"/>
            <a:ext cx="1097381" cy="884930"/>
          </a:xfrm>
          <a:prstGeom prst="bentConnector3">
            <a:avLst>
              <a:gd name="adj1" fmla="val 2604"/>
            </a:avLst>
          </a:prstGeom>
          <a:ln w="571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向右箭號 166">
            <a:extLst>
              <a:ext uri="{FF2B5EF4-FFF2-40B4-BE49-F238E27FC236}">
                <a16:creationId xmlns:a16="http://schemas.microsoft.com/office/drawing/2014/main" id="{CA1328A3-E2A3-4F4E-9453-C5BAAB6F199E}"/>
              </a:ext>
            </a:extLst>
          </p:cNvPr>
          <p:cNvSpPr/>
          <p:nvPr/>
        </p:nvSpPr>
        <p:spPr>
          <a:xfrm rot="10800000">
            <a:off x="1287515" y="5510961"/>
            <a:ext cx="402916" cy="132288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2" name="圖片 1">
            <a:hlinkClick r:id="rId5" action="ppaction://hlinkpres?slideindex=1&amp;slidetitle=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40" y="4034860"/>
            <a:ext cx="539187" cy="766213"/>
          </a:xfrm>
          <a:prstGeom prst="rect">
            <a:avLst/>
          </a:prstGeom>
        </p:spPr>
      </p:pic>
      <p:sp>
        <p:nvSpPr>
          <p:cNvPr id="152" name="文字方塊 165">
            <a:extLst>
              <a:ext uri="{FF2B5EF4-FFF2-40B4-BE49-F238E27FC236}">
                <a16:creationId xmlns:a16="http://schemas.microsoft.com/office/drawing/2014/main" id="{1498664F-7548-4734-BC30-8847755886CA}"/>
              </a:ext>
            </a:extLst>
          </p:cNvPr>
          <p:cNvSpPr txBox="1"/>
          <p:nvPr/>
        </p:nvSpPr>
        <p:spPr>
          <a:xfrm>
            <a:off x="509316" y="5744865"/>
            <a:ext cx="736099" cy="246221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kern="0" dirty="0">
                <a:solidFill>
                  <a:prstClr val="white"/>
                </a:solidFill>
                <a:latin typeface="Calibri" panose="020F0502020204030204" pitchFamily="34" charset="0"/>
              </a:rPr>
              <a:t>Kevin/Lisa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659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61592" y="93078"/>
            <a:ext cx="40791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A+ DQE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| </a:t>
            </a:r>
            <a:r>
              <a:rPr kumimoji="1" lang="en-US" altLang="zh-CN" sz="2600" b="1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CT</a:t>
            </a:r>
            <a:r>
              <a:rPr kumimoji="1" lang="en-US" altLang="zh-CN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Lab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Work Flow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8" name="向右箭號 117"/>
          <p:cNvSpPr/>
          <p:nvPr/>
        </p:nvSpPr>
        <p:spPr>
          <a:xfrm>
            <a:off x="2078162" y="1941859"/>
            <a:ext cx="720000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1237328" y="1029160"/>
            <a:ext cx="893756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zh-CN" altLang="en-US" sz="1000" dirty="0">
                <a:latin typeface="Calibri" panose="020F0502020204030204" pitchFamily="34" charset="0"/>
              </a:rPr>
              <a:t>需求方在</a:t>
            </a:r>
            <a:r>
              <a:rPr lang="en-US" altLang="zh-CN" sz="1000" dirty="0">
                <a:latin typeface="Calibri" panose="020F0502020204030204" pitchFamily="34" charset="0"/>
              </a:rPr>
              <a:t>CTMS</a:t>
            </a:r>
            <a:r>
              <a:rPr lang="zh-CN" altLang="en-US" sz="1000" dirty="0">
                <a:latin typeface="Calibri" panose="020F0502020204030204" pitchFamily="34" charset="0"/>
              </a:rPr>
              <a:t>填寫</a:t>
            </a:r>
            <a:r>
              <a:rPr lang="en-US" altLang="zh-CN" sz="1000" dirty="0">
                <a:latin typeface="Calibri" panose="020F0502020204030204" pitchFamily="34" charset="0"/>
              </a:rPr>
              <a:t>CT Scan</a:t>
            </a:r>
            <a:r>
              <a:rPr lang="zh-CN" altLang="en-US" sz="1000" dirty="0">
                <a:latin typeface="Calibri" panose="020F0502020204030204" pitchFamily="34" charset="0"/>
              </a:rPr>
              <a:t>申請單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3680365" y="1690801"/>
            <a:ext cx="622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1308059" y="2243399"/>
            <a:ext cx="720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xFN</a:t>
            </a:r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 Team</a:t>
            </a:r>
          </a:p>
        </p:txBody>
      </p:sp>
      <p:sp>
        <p:nvSpPr>
          <p:cNvPr id="159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1574024" y="1938089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4825738" y="2520509"/>
            <a:ext cx="2165640" cy="6176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00" b="1" dirty="0">
              <a:solidFill>
                <a:schemeClr val="tx1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B5C917D1-A228-499D-89A1-C5EF18B19042}"/>
              </a:ext>
            </a:extLst>
          </p:cNvPr>
          <p:cNvGrpSpPr/>
          <p:nvPr/>
        </p:nvGrpSpPr>
        <p:grpSpPr>
          <a:xfrm>
            <a:off x="10656374" y="542660"/>
            <a:ext cx="1706622" cy="1329109"/>
            <a:chOff x="10656374" y="702459"/>
            <a:chExt cx="1706622" cy="1329109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6A9DFC2-39BF-4CFE-BCA1-9D92C7F60497}"/>
                </a:ext>
              </a:extLst>
            </p:cNvPr>
            <p:cNvSpPr/>
            <p:nvPr/>
          </p:nvSpPr>
          <p:spPr>
            <a:xfrm>
              <a:off x="10914977" y="1243220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郵件通知 </a:t>
              </a:r>
            </a:p>
          </p:txBody>
        </p:sp>
        <p:pic>
          <p:nvPicPr>
            <p:cNvPr id="93" name="Picture 1" descr="C:\Users\28243\AppData\Local\SuperNotes\a.nina.yh.huang@mail.foxconn.com\mid\B3FCFAA1-3FB0-4647-906A-2B0D9963BB36.jpg">
              <a:extLst>
                <a:ext uri="{FF2B5EF4-FFF2-40B4-BE49-F238E27FC236}">
                  <a16:creationId xmlns:a16="http://schemas.microsoft.com/office/drawing/2014/main" id="{DBE07AB4-F97F-4CA6-A2DF-532809E07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250" y="1243222"/>
              <a:ext cx="226723" cy="23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7AB44C26-D73E-493E-8B7F-CF81B9F7FE0D}"/>
                </a:ext>
              </a:extLst>
            </p:cNvPr>
            <p:cNvSpPr/>
            <p:nvPr/>
          </p:nvSpPr>
          <p:spPr>
            <a:xfrm>
              <a:off x="10704761" y="757557"/>
              <a:ext cx="186152" cy="1658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4AA98CD2-3FBC-4166-B563-60179D798D8F}"/>
                </a:ext>
              </a:extLst>
            </p:cNvPr>
            <p:cNvSpPr/>
            <p:nvPr/>
          </p:nvSpPr>
          <p:spPr>
            <a:xfrm>
              <a:off x="10900203" y="70245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基本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流程 </a:t>
              </a:r>
            </a:p>
          </p:txBody>
        </p:sp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F7D6871C-E779-454F-B667-3B877710D933}"/>
                </a:ext>
              </a:extLst>
            </p:cNvPr>
            <p:cNvSpPr/>
            <p:nvPr/>
          </p:nvSpPr>
          <p:spPr>
            <a:xfrm>
              <a:off x="10704761" y="1026643"/>
              <a:ext cx="186152" cy="16582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0BE1DFFC-E2E6-4980-BA96-498CB202053B}"/>
                </a:ext>
              </a:extLst>
            </p:cNvPr>
            <p:cNvSpPr/>
            <p:nvPr/>
          </p:nvSpPr>
          <p:spPr>
            <a:xfrm>
              <a:off x="10900203" y="971545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使用腳本</a:t>
              </a: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25B41A6-AECD-4CAC-8718-13A574CFD19F}"/>
                </a:ext>
              </a:extLst>
            </p:cNvPr>
            <p:cNvSpPr/>
            <p:nvPr/>
          </p:nvSpPr>
          <p:spPr>
            <a:xfrm>
              <a:off x="10900203" y="1523719"/>
              <a:ext cx="144801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刷</a:t>
              </a:r>
              <a:r>
                <a:rPr lang="en-US" altLang="zh-TW" sz="1000" b="1" dirty="0" err="1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IMES&amp;Summary</a:t>
              </a:r>
              <a:r>
                <a:rPr kumimoji="0" lang="zh-TW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107" name="Picture 2" descr="C:\Users\28243\AppData\Local\SuperNotes\a.nina.yh.huang@mail.foxconn.com\mid\873A1660-8BE1-4A64-B5AD-E45092EAA33A.jpg">
              <a:extLst>
                <a:ext uri="{FF2B5EF4-FFF2-40B4-BE49-F238E27FC236}">
                  <a16:creationId xmlns:a16="http://schemas.microsoft.com/office/drawing/2014/main" id="{8E5264EB-211B-42A9-BEC0-DF4281A8E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5204">
              <a:off x="10656374" y="1459612"/>
              <a:ext cx="282926" cy="35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F436344B-9FF2-49C2-AD73-422CD532886A}"/>
                </a:ext>
              </a:extLst>
            </p:cNvPr>
            <p:cNvSpPr/>
            <p:nvPr/>
          </p:nvSpPr>
          <p:spPr>
            <a:xfrm>
              <a:off x="10711417" y="1832256"/>
              <a:ext cx="172219" cy="135795"/>
            </a:xfrm>
            <a:prstGeom prst="rect">
              <a:avLst/>
            </a:prstGeom>
            <a:noFill/>
            <a:ln w="22225">
              <a:solidFill>
                <a:srgbClr val="FF993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3F17A4DF-0804-437B-9561-592FE0C0EE93}"/>
                </a:ext>
              </a:extLst>
            </p:cNvPr>
            <p:cNvSpPr/>
            <p:nvPr/>
          </p:nvSpPr>
          <p:spPr>
            <a:xfrm>
              <a:off x="10900203" y="1785347"/>
              <a:ext cx="139585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b="1" noProof="0" dirty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緊急需求</a:t>
              </a:r>
              <a:endPara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pic>
        <p:nvPicPr>
          <p:cNvPr id="5" name="圖片 4">
            <a:hlinkClick r:id="rId5" action="ppaction://hlinkpres?slideindex=1&amp;slidetitle=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63" y="1081229"/>
            <a:ext cx="639052" cy="627433"/>
          </a:xfrm>
          <a:prstGeom prst="rect">
            <a:avLst/>
          </a:prstGeom>
        </p:spPr>
      </p:pic>
      <p:sp>
        <p:nvSpPr>
          <p:cNvPr id="88" name="矩形 87"/>
          <p:cNvSpPr/>
          <p:nvPr/>
        </p:nvSpPr>
        <p:spPr>
          <a:xfrm>
            <a:off x="2757631" y="1052299"/>
            <a:ext cx="8804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管理員在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CTMS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指派任務並審核提單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96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3007098" y="1949658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2600814" y="2234467"/>
            <a:ext cx="972691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&amp;OP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3522600" y="933987"/>
            <a:ext cx="1336778" cy="1988617"/>
            <a:chOff x="3522600" y="933987"/>
            <a:chExt cx="1336778" cy="1988617"/>
          </a:xfrm>
        </p:grpSpPr>
        <p:sp>
          <p:nvSpPr>
            <p:cNvPr id="109" name="向右箭號 108"/>
            <p:cNvSpPr/>
            <p:nvPr/>
          </p:nvSpPr>
          <p:spPr>
            <a:xfrm rot="5400000">
              <a:off x="3248961" y="1888396"/>
              <a:ext cx="1960417" cy="10800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13" name="向右箭號 112"/>
            <p:cNvSpPr/>
            <p:nvPr/>
          </p:nvSpPr>
          <p:spPr>
            <a:xfrm>
              <a:off x="3522600" y="1923977"/>
              <a:ext cx="720000" cy="10800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16" name="向右箭號 115"/>
            <p:cNvSpPr/>
            <p:nvPr/>
          </p:nvSpPr>
          <p:spPr>
            <a:xfrm>
              <a:off x="4211378" y="933987"/>
              <a:ext cx="648000" cy="1080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15" name="向右箭號 114"/>
          <p:cNvSpPr/>
          <p:nvPr/>
        </p:nvSpPr>
        <p:spPr>
          <a:xfrm>
            <a:off x="4212740" y="2842890"/>
            <a:ext cx="648000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4244788" y="1080895"/>
            <a:ext cx="66284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提單按照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SOP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要求填寫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4210333" y="2048490"/>
            <a:ext cx="6628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提單未按照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SOP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要求填寫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2123258" y="1690801"/>
            <a:ext cx="622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4859378" y="667739"/>
            <a:ext cx="13860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管理員在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CTMS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分配測試設備，同時發送送樣郵件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8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348210" y="1277119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4973325" y="1452157"/>
            <a:ext cx="1044000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&amp;OP</a:t>
            </a:r>
          </a:p>
        </p:txBody>
      </p:sp>
      <p:sp>
        <p:nvSpPr>
          <p:cNvPr id="130" name="矩形 129"/>
          <p:cNvSpPr/>
          <p:nvPr/>
        </p:nvSpPr>
        <p:spPr>
          <a:xfrm>
            <a:off x="4840392" y="1910388"/>
            <a:ext cx="13472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管理員拒簽提單並電話通知需求方重新填寫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1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348210" y="2511734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4973325" y="2735302"/>
            <a:ext cx="1044000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&amp;OP</a:t>
            </a:r>
          </a:p>
        </p:txBody>
      </p:sp>
      <p:sp>
        <p:nvSpPr>
          <p:cNvPr id="133" name="矩形 132"/>
          <p:cNvSpPr/>
          <p:nvPr/>
        </p:nvSpPr>
        <p:spPr>
          <a:xfrm>
            <a:off x="6572195" y="696042"/>
            <a:ext cx="13472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需求方送樣（樣品須過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TT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系統，否則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Lab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無法簽收）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6801843" y="1454739"/>
            <a:ext cx="720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xFN</a:t>
            </a:r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 Team</a:t>
            </a:r>
          </a:p>
        </p:txBody>
      </p:sp>
      <p:sp>
        <p:nvSpPr>
          <p:cNvPr id="135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7014728" y="1260020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8246244" y="724346"/>
            <a:ext cx="1068101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sz="1000" dirty="0">
                <a:latin typeface="Calibri" panose="020F0502020204030204" pitchFamily="34" charset="0"/>
              </a:rPr>
              <a:t>CT Lab</a:t>
            </a:r>
            <a:r>
              <a:rPr lang="zh-CN" altLang="en-US" sz="1000" dirty="0">
                <a:latin typeface="Calibri" panose="020F0502020204030204" pitchFamily="34" charset="0"/>
              </a:rPr>
              <a:t>簽收樣品，同時確認掃描部位</a:t>
            </a:r>
            <a:endParaRPr lang="en-US" altLang="zh-TW" sz="1000" dirty="0">
              <a:latin typeface="Calibri" panose="020F0502020204030204" pitchFamily="34" charset="0"/>
            </a:endParaRPr>
          </a:p>
        </p:txBody>
      </p:sp>
      <p:sp>
        <p:nvSpPr>
          <p:cNvPr id="137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8681246" y="1260020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8306361" y="1453448"/>
            <a:ext cx="1044000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&amp;OP</a:t>
            </a:r>
          </a:p>
        </p:txBody>
      </p:sp>
      <p:sp>
        <p:nvSpPr>
          <p:cNvPr id="139" name="向右箭號 138"/>
          <p:cNvSpPr/>
          <p:nvPr/>
        </p:nvSpPr>
        <p:spPr>
          <a:xfrm>
            <a:off x="5992232" y="1277631"/>
            <a:ext cx="720000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018166" y="1004709"/>
            <a:ext cx="622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1" name="向右箭號 140"/>
          <p:cNvSpPr/>
          <p:nvPr/>
        </p:nvSpPr>
        <p:spPr>
          <a:xfrm>
            <a:off x="7666516" y="1268203"/>
            <a:ext cx="720000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7684090" y="1017145"/>
            <a:ext cx="697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6" name="向右箭號 145"/>
          <p:cNvSpPr/>
          <p:nvPr/>
        </p:nvSpPr>
        <p:spPr>
          <a:xfrm rot="3110741">
            <a:off x="9259650" y="2125625"/>
            <a:ext cx="649260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9609968" y="1887073"/>
            <a:ext cx="664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9353253" y="2434798"/>
            <a:ext cx="117215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000" b="1" noProof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掃描準備工作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0645488" y="2366521"/>
            <a:ext cx="130363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包括樣品</a:t>
            </a:r>
            <a:r>
              <a:rPr lang="en-US" altLang="zh-TW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SOC</a:t>
            </a:r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保護及固定、將樣品放入設備、樣品位置調整、掃描參數設定及探測器校準</a:t>
            </a:r>
            <a:endParaRPr kumimoji="0" lang="zh-TW" altLang="en-US" sz="1000" b="1" i="0" u="none" strike="noStrike" kern="1200" cap="none" spc="0" normalizeH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9430894" y="2982985"/>
            <a:ext cx="972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</a:t>
            </a:r>
          </a:p>
        </p:txBody>
      </p:sp>
      <p:sp>
        <p:nvSpPr>
          <p:cNvPr id="154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9827294" y="2756785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9386315" y="3885365"/>
            <a:ext cx="104164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開始掃描</a:t>
            </a:r>
            <a:endParaRPr lang="zh-TW" altLang="en-US" sz="1000" b="1" dirty="0">
              <a:solidFill>
                <a:prstClr val="black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6" name="向右箭號 155"/>
          <p:cNvSpPr/>
          <p:nvPr/>
        </p:nvSpPr>
        <p:spPr>
          <a:xfrm rot="5400000">
            <a:off x="9659655" y="3503285"/>
            <a:ext cx="418137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7" name="文字方塊 156"/>
          <p:cNvSpPr txBox="1"/>
          <p:nvPr/>
        </p:nvSpPr>
        <p:spPr>
          <a:xfrm>
            <a:off x="9913296" y="3401915"/>
            <a:ext cx="76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8" name="文字方塊 157"/>
          <p:cNvSpPr txBox="1"/>
          <p:nvPr/>
        </p:nvSpPr>
        <p:spPr>
          <a:xfrm>
            <a:off x="9452409" y="4448777"/>
            <a:ext cx="972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</a:t>
            </a:r>
          </a:p>
        </p:txBody>
      </p:sp>
      <p:sp>
        <p:nvSpPr>
          <p:cNvPr id="163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9827294" y="4214965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4" name="文字方塊 163"/>
          <p:cNvSpPr txBox="1"/>
          <p:nvPr/>
        </p:nvSpPr>
        <p:spPr>
          <a:xfrm>
            <a:off x="10695379" y="3961729"/>
            <a:ext cx="128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開始掃描後需及時在</a:t>
            </a:r>
            <a:r>
              <a:rPr lang="en-US" altLang="zh-CN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CTMS</a:t>
            </a:r>
            <a:r>
              <a:rPr lang="zh-CN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點擊“開始檢測”</a:t>
            </a:r>
            <a:endParaRPr lang="zh-TW" altLang="en-US" sz="1000" b="1" dirty="0">
              <a:solidFill>
                <a:srgbClr val="0000FF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9351086" y="5357961"/>
            <a:ext cx="10768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掃描結束，從設備中取出樣品並放入物料放置區</a:t>
            </a:r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algn="ctr"/>
            <a:endParaRPr lang="en-US" altLang="zh-TW" sz="10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6" name="向右箭號 165"/>
          <p:cNvSpPr/>
          <p:nvPr/>
        </p:nvSpPr>
        <p:spPr>
          <a:xfrm rot="5400000">
            <a:off x="9659655" y="4967231"/>
            <a:ext cx="418137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7" name="文字方塊 166"/>
          <p:cNvSpPr txBox="1"/>
          <p:nvPr/>
        </p:nvSpPr>
        <p:spPr>
          <a:xfrm>
            <a:off x="9913295" y="4865861"/>
            <a:ext cx="1086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60~120min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文字方塊 167"/>
          <p:cNvSpPr txBox="1"/>
          <p:nvPr/>
        </p:nvSpPr>
        <p:spPr>
          <a:xfrm>
            <a:off x="9287390" y="6329807"/>
            <a:ext cx="1302038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&amp;OP</a:t>
            </a:r>
          </a:p>
        </p:txBody>
      </p:sp>
      <p:sp>
        <p:nvSpPr>
          <p:cNvPr id="169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9827294" y="6089053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0" name="文字方塊 169"/>
          <p:cNvSpPr txBox="1"/>
          <p:nvPr/>
        </p:nvSpPr>
        <p:spPr>
          <a:xfrm>
            <a:off x="10602941" y="5347369"/>
            <a:ext cx="1482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掃描結束後，從設備中取出樣品並放入物料放置區；同時需及時在</a:t>
            </a:r>
            <a:r>
              <a:rPr lang="en-US" altLang="zh-TW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CTMS</a:t>
            </a:r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點擊“結束測試”</a:t>
            </a:r>
          </a:p>
        </p:txBody>
      </p:sp>
      <p:sp>
        <p:nvSpPr>
          <p:cNvPr id="172" name="向右箭號 171"/>
          <p:cNvSpPr/>
          <p:nvPr/>
        </p:nvSpPr>
        <p:spPr>
          <a:xfrm rot="10800000">
            <a:off x="8898664" y="6101167"/>
            <a:ext cx="895721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8140001" y="6329941"/>
            <a:ext cx="972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</a:t>
            </a:r>
          </a:p>
        </p:txBody>
      </p:sp>
      <p:sp>
        <p:nvSpPr>
          <p:cNvPr id="177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8552429" y="6071498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9035191" y="5863732"/>
            <a:ext cx="622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8100236" y="5574997"/>
            <a:ext cx="11641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模型重構及數據確認</a:t>
            </a:r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6988824" y="5219766"/>
            <a:ext cx="11267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通過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CTMS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發送取樣郵件，並電話通知需求方取回樣品</a:t>
            </a:r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4" name="文字方塊 183"/>
          <p:cNvSpPr txBox="1"/>
          <p:nvPr/>
        </p:nvSpPr>
        <p:spPr>
          <a:xfrm>
            <a:off x="7066207" y="6324005"/>
            <a:ext cx="972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 </a:t>
            </a:r>
          </a:p>
        </p:txBody>
      </p:sp>
      <p:sp>
        <p:nvSpPr>
          <p:cNvPr id="185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7469930" y="6110293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3182807" y="5455136"/>
            <a:ext cx="112676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需求方取回樣品（樣品須過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TT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系統）</a:t>
            </a:r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7" name="文字方塊 186"/>
          <p:cNvSpPr txBox="1"/>
          <p:nvPr/>
        </p:nvSpPr>
        <p:spPr>
          <a:xfrm>
            <a:off x="831772" y="5422978"/>
            <a:ext cx="1448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樣品被取回後，需及時在</a:t>
            </a:r>
            <a:r>
              <a:rPr lang="en-US" altLang="zh-TW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CTMS</a:t>
            </a:r>
            <a:r>
              <a:rPr lang="zh-TW" altLang="en-US" sz="1000" b="1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點擊“關閉測試”，完成整體流程結案</a:t>
            </a:r>
          </a:p>
        </p:txBody>
      </p:sp>
      <p:sp>
        <p:nvSpPr>
          <p:cNvPr id="194" name="向右箭號 193"/>
          <p:cNvSpPr/>
          <p:nvPr/>
        </p:nvSpPr>
        <p:spPr>
          <a:xfrm rot="16200000" flipV="1">
            <a:off x="1234706" y="3270918"/>
            <a:ext cx="864017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6" name="向右箭號 195"/>
          <p:cNvSpPr/>
          <p:nvPr/>
        </p:nvSpPr>
        <p:spPr>
          <a:xfrm rot="10800000">
            <a:off x="7742741" y="6124419"/>
            <a:ext cx="656629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7797831" y="5882403"/>
            <a:ext cx="736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0" name="文字方塊 199"/>
          <p:cNvSpPr txBox="1"/>
          <p:nvPr/>
        </p:nvSpPr>
        <p:spPr>
          <a:xfrm>
            <a:off x="5882528" y="5873068"/>
            <a:ext cx="736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1" name="文字方塊 200"/>
          <p:cNvSpPr txBox="1"/>
          <p:nvPr/>
        </p:nvSpPr>
        <p:spPr>
          <a:xfrm>
            <a:off x="3200573" y="6360372"/>
            <a:ext cx="1044000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xFN</a:t>
            </a:r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 Team</a:t>
            </a:r>
          </a:p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&amp; CT OP </a:t>
            </a:r>
          </a:p>
        </p:txBody>
      </p:sp>
      <p:sp>
        <p:nvSpPr>
          <p:cNvPr id="202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3624583" y="6135189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5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1501869" y="6187107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06" name="文字方塊 205"/>
          <p:cNvSpPr txBox="1"/>
          <p:nvPr/>
        </p:nvSpPr>
        <p:spPr>
          <a:xfrm>
            <a:off x="869039" y="6437316"/>
            <a:ext cx="1374072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</a:t>
            </a:r>
            <a:r>
              <a:rPr lang="en-US" altLang="zh-TW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Engineer&amp;OP</a:t>
            </a:r>
            <a:endParaRPr lang="en-US" altLang="zh-TW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向右箭號 206"/>
          <p:cNvSpPr/>
          <p:nvPr/>
        </p:nvSpPr>
        <p:spPr>
          <a:xfrm rot="10800000">
            <a:off x="2103393" y="6168339"/>
            <a:ext cx="1251279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4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10578270" y="3833940"/>
            <a:ext cx="1553877" cy="860730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矩形 110"/>
          <p:cNvSpPr/>
          <p:nvPr/>
        </p:nvSpPr>
        <p:spPr>
          <a:xfrm>
            <a:off x="3617250" y="3113525"/>
            <a:ext cx="11299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拿到客戶插隊的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Approval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14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4001851" y="3636485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3626966" y="3860053"/>
            <a:ext cx="1044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xFN</a:t>
            </a:r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 Team</a:t>
            </a:r>
          </a:p>
        </p:txBody>
      </p:sp>
      <p:sp>
        <p:nvSpPr>
          <p:cNvPr id="143" name="矩形 142"/>
          <p:cNvSpPr/>
          <p:nvPr/>
        </p:nvSpPr>
        <p:spPr>
          <a:xfrm>
            <a:off x="2178308" y="3003848"/>
            <a:ext cx="120842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將清楚的需求與客戶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approval 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提供給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CT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</a:rPr>
              <a:t>PM</a:t>
            </a:r>
            <a:endParaRPr lang="zh-TW" altLang="en-US" sz="1000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4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2689446" y="3643389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2314561" y="3866957"/>
            <a:ext cx="1044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Kevin</a:t>
            </a:r>
          </a:p>
        </p:txBody>
      </p:sp>
      <p:sp>
        <p:nvSpPr>
          <p:cNvPr id="160" name="矩形 159"/>
          <p:cNvSpPr/>
          <p:nvPr/>
        </p:nvSpPr>
        <p:spPr>
          <a:xfrm>
            <a:off x="1976134" y="3003645"/>
            <a:ext cx="2864258" cy="1230015"/>
          </a:xfrm>
          <a:prstGeom prst="rect">
            <a:avLst/>
          </a:prstGeom>
          <a:noFill/>
          <a:ln w="22225">
            <a:solidFill>
              <a:srgbClr val="FF99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2" name="向右箭號 161"/>
          <p:cNvSpPr/>
          <p:nvPr/>
        </p:nvSpPr>
        <p:spPr>
          <a:xfrm rot="10800000">
            <a:off x="3060724" y="3675948"/>
            <a:ext cx="808194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1" name="向右箭號 170"/>
          <p:cNvSpPr/>
          <p:nvPr/>
        </p:nvSpPr>
        <p:spPr>
          <a:xfrm rot="10800000">
            <a:off x="4480973" y="3685377"/>
            <a:ext cx="952844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3" name="向右箭號 172"/>
          <p:cNvSpPr/>
          <p:nvPr/>
        </p:nvSpPr>
        <p:spPr>
          <a:xfrm rot="5400000">
            <a:off x="5144062" y="3415919"/>
            <a:ext cx="573360" cy="108000"/>
          </a:xfrm>
          <a:prstGeom prst="rightArrow">
            <a:avLst>
              <a:gd name="adj1" fmla="val 50000"/>
              <a:gd name="adj2" fmla="val 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4" name="向右箭號 173"/>
          <p:cNvSpPr/>
          <p:nvPr/>
        </p:nvSpPr>
        <p:spPr>
          <a:xfrm>
            <a:off x="1641914" y="3682648"/>
            <a:ext cx="936503" cy="108000"/>
          </a:xfrm>
          <a:prstGeom prst="rightArrow">
            <a:avLst>
              <a:gd name="adj1" fmla="val 50000"/>
              <a:gd name="adj2" fmla="val 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6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10564025" y="5334785"/>
            <a:ext cx="1553877" cy="932728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8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10515321" y="2352042"/>
            <a:ext cx="1553877" cy="970320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14486" y="4896910"/>
            <a:ext cx="112676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傳輸結果</a:t>
            </a:r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17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5207360" y="5248740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4648654" y="5492438"/>
            <a:ext cx="126313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</a:t>
            </a:r>
            <a:r>
              <a:rPr lang="en-US" altLang="zh-TW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Engineer&amp;OP</a:t>
            </a:r>
            <a:endParaRPr lang="en-US" altLang="zh-TW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853847" y="3410106"/>
            <a:ext cx="12726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每日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16:00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更新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CT Tracker</a:t>
            </a:r>
            <a:r>
              <a:rPr lang="zh-CN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至</a:t>
            </a:r>
            <a:r>
              <a:rPr lang="en-US" altLang="zh-CN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radar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，同步</a:t>
            </a:r>
            <a:r>
              <a:rPr lang="en-US" altLang="zh-TW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CTMS</a:t>
            </a:r>
            <a:r>
              <a:rPr lang="zh-TW" altLang="en-US" sz="1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內樣品最新掃描狀態與進度</a:t>
            </a:r>
            <a:endParaRPr lang="zh-TW" altLang="en-US" sz="10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1" name="橢圓 53">
            <a:extLst>
              <a:ext uri="{FF2B5EF4-FFF2-40B4-BE49-F238E27FC236}">
                <a16:creationId xmlns:a16="http://schemas.microsoft.com/office/drawing/2014/main" id="{EC253275-93EA-5249-9AB2-7D0B3E8628D1}"/>
              </a:ext>
            </a:extLst>
          </p:cNvPr>
          <p:cNvSpPr/>
          <p:nvPr/>
        </p:nvSpPr>
        <p:spPr>
          <a:xfrm>
            <a:off x="6309719" y="4424146"/>
            <a:ext cx="165600" cy="16582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1" name="文字方塊 160"/>
          <p:cNvSpPr txBox="1"/>
          <p:nvPr/>
        </p:nvSpPr>
        <p:spPr>
          <a:xfrm>
            <a:off x="5927707" y="4671541"/>
            <a:ext cx="972000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lvl="0">
              <a:defRPr sz="105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ctr"/>
            <a:r>
              <a:rPr lang="en-US" altLang="zh-TW" sz="1000" dirty="0">
                <a:latin typeface="Calibri" panose="020F0502020204030204" pitchFamily="34" charset="0"/>
                <a:cs typeface="Calibri" panose="020F0502020204030204" pitchFamily="34" charset="0"/>
              </a:rPr>
              <a:t>CT Engineer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4345019" y="4393438"/>
            <a:ext cx="3074625" cy="1856448"/>
            <a:chOff x="4345019" y="4393438"/>
            <a:chExt cx="3074625" cy="1856448"/>
          </a:xfrm>
        </p:grpSpPr>
        <p:sp>
          <p:nvSpPr>
            <p:cNvPr id="183" name="向右箭號 182"/>
            <p:cNvSpPr/>
            <p:nvPr/>
          </p:nvSpPr>
          <p:spPr>
            <a:xfrm rot="16200000">
              <a:off x="6213539" y="5248916"/>
              <a:ext cx="1771887" cy="10800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0" name="向右箭號 189"/>
            <p:cNvSpPr/>
            <p:nvPr/>
          </p:nvSpPr>
          <p:spPr>
            <a:xfrm rot="10800000">
              <a:off x="4345019" y="6141886"/>
              <a:ext cx="3074625" cy="1080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1" name="向右箭號 190"/>
            <p:cNvSpPr/>
            <p:nvPr/>
          </p:nvSpPr>
          <p:spPr>
            <a:xfrm rot="10800000">
              <a:off x="6571514" y="4393438"/>
              <a:ext cx="506614" cy="108000"/>
            </a:xfrm>
            <a:prstGeom prst="rightArrow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1" i="0" u="none" strike="noStrike" kern="1200" cap="none" spc="0" normalizeH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92" name="向右箭號 191"/>
          <p:cNvSpPr/>
          <p:nvPr/>
        </p:nvSpPr>
        <p:spPr>
          <a:xfrm rot="10800000">
            <a:off x="5578718" y="5304533"/>
            <a:ext cx="1526128" cy="1080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1" i="0" u="none" strike="noStrike" kern="1200" cap="none" spc="0" normalizeH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3" name="文字方塊 192"/>
          <p:cNvSpPr txBox="1"/>
          <p:nvPr/>
        </p:nvSpPr>
        <p:spPr>
          <a:xfrm>
            <a:off x="5987100" y="5013531"/>
            <a:ext cx="736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5" name="文字方塊 194"/>
          <p:cNvSpPr txBox="1"/>
          <p:nvPr/>
        </p:nvSpPr>
        <p:spPr>
          <a:xfrm>
            <a:off x="6436466" y="4123864"/>
            <a:ext cx="9778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C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30~60min</a:t>
            </a:r>
            <a:endParaRPr lang="zh-TW" altLang="en-US" sz="1000" b="1" dirty="0">
              <a:solidFill>
                <a:srgbClr val="FFC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1" name="矩形: 圓角 2">
            <a:extLst>
              <a:ext uri="{FF2B5EF4-FFF2-40B4-BE49-F238E27FC236}">
                <a16:creationId xmlns:a16="http://schemas.microsoft.com/office/drawing/2014/main" id="{901B5954-2B20-4BEF-8EF2-16A45C215EB0}"/>
              </a:ext>
            </a:extLst>
          </p:cNvPr>
          <p:cNvSpPr/>
          <p:nvPr/>
        </p:nvSpPr>
        <p:spPr>
          <a:xfrm>
            <a:off x="5794697" y="3206101"/>
            <a:ext cx="1553632" cy="139372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E438224C-F0A0-4BD2-902E-2D7F7F92C0FB}"/>
              </a:ext>
            </a:extLst>
          </p:cNvPr>
          <p:cNvSpPr txBox="1"/>
          <p:nvPr/>
        </p:nvSpPr>
        <p:spPr>
          <a:xfrm>
            <a:off x="6084746" y="2932501"/>
            <a:ext cx="983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New in P1</a:t>
            </a:r>
            <a:endParaRPr lang="zh-TW" altLang="en-US" sz="1000" b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9224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00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94F622D4220B9F46A6D4C5B98E87742F" ma:contentTypeVersion="0" ma:contentTypeDescription="建立新的文件。" ma:contentTypeScope="" ma:versionID="b44ed8336ceff06a77d0885c3c9675d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e1d14c0b51e49ef09bd5cbad565b9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72D08C-FBEA-41AA-8611-C311A4C1DE0A}"/>
</file>

<file path=customXml/itemProps2.xml><?xml version="1.0" encoding="utf-8"?>
<ds:datastoreItem xmlns:ds="http://schemas.openxmlformats.org/officeDocument/2006/customXml" ds:itemID="{8B26587E-F24E-4EED-896B-DB685587A9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D1D7B7-6B0C-4786-96FC-2BC5E1C70CE3}">
  <ds:schemaRefs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24601</TotalTime>
  <Words>4697</Words>
  <Application>Microsoft Office PowerPoint</Application>
  <PresentationFormat>寬螢幕</PresentationFormat>
  <Paragraphs>1325</Paragraphs>
  <Slides>19</Slides>
  <Notes>16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19</vt:i4>
      </vt:variant>
    </vt:vector>
  </HeadingPairs>
  <TitlesOfParts>
    <vt:vector size="32" baseType="lpstr">
      <vt:lpstr>Microsoft YaHai</vt:lpstr>
      <vt:lpstr>Microsoft YaHei</vt:lpstr>
      <vt:lpstr>微軟正黑體</vt:lpstr>
      <vt:lpstr>Arial</vt:lpstr>
      <vt:lpstr>Arial Black</vt:lpstr>
      <vt:lpstr>Calibri</vt:lpstr>
      <vt:lpstr>Calibri Light</vt:lpstr>
      <vt:lpstr>Office 主题​​</vt:lpstr>
      <vt:lpstr>1_自訂設計</vt:lpstr>
      <vt:lpstr>自訂設計</vt:lpstr>
      <vt:lpstr>2_自訂設計</vt:lpstr>
      <vt:lpstr>Worksheet</vt:lpstr>
      <vt:lpstr>Presentation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登錄Recon賬號,進入界面.</dc:title>
  <dc:creator>A</dc:creator>
  <cp:lastModifiedBy>陳俠羽</cp:lastModifiedBy>
  <cp:revision>798</cp:revision>
  <dcterms:created xsi:type="dcterms:W3CDTF">2024-09-18T01:47:52Z</dcterms:created>
  <dcterms:modified xsi:type="dcterms:W3CDTF">2026-06-05T09:46:01Z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0x01010094F622D4220B9F46A6D4C5B98E87742F</vt:lpwstr>
  </property>
</Properties>
</file>